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7" r:id="rId31"/>
    <p:sldId id="288" r:id="rId32"/>
    <p:sldId id="289" r:id="rId33"/>
    <p:sldId id="290" r:id="rId34"/>
    <p:sldId id="284"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86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977944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73494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1943510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8167646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5083365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2106.12440v2"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DDDDD"/>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marL="0" indent="0">
              <a:buNone/>
            </a:pPr>
            <a:endParaRPr lang="en-US" dirty="0"/>
          </a:p>
        </p:txBody>
      </p:sp>
      <p:pic>
        <p:nvPicPr>
          <p:cNvPr id="3" name="Image 0" descr="/home/z/my-project/download/slides/figs/cover_bg.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85703"/>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Presentation Outline</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20002" y="885825"/>
            <a:ext cx="8636000" cy="190109"/>
          </a:xfrm>
          <a:prstGeom prst="rect">
            <a:avLst/>
          </a:prstGeom>
          <a:noFill/>
          <a:ln/>
        </p:spPr>
        <p:txBody>
          <a:bodyPr wrap="square" lIns="0" tIns="0" rIns="0" bIns="0" rtlCol="0" anchor="t"/>
          <a:lstStyle/>
          <a:p>
            <a:pPr marL="0" indent="0" algn="ctr">
              <a:lnSpc>
                <a:spcPts val="1387"/>
              </a:lnSpc>
              <a:buNone/>
            </a:pPr>
            <a:endParaRPr lang="en-US" sz="956" dirty="0">
              <a:latin typeface="Times New Roman" panose="02020603050405020304" pitchFamily="18" charset="0"/>
              <a:cs typeface="Times New Roman" panose="02020603050405020304" pitchFamily="18" charset="0"/>
            </a:endParaRPr>
          </a:p>
        </p:txBody>
      </p:sp>
      <p:sp>
        <p:nvSpPr>
          <p:cNvPr id="6" name="Text 4"/>
          <p:cNvSpPr/>
          <p:nvPr/>
        </p:nvSpPr>
        <p:spPr>
          <a:xfrm>
            <a:off x="360759" y="1165436"/>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485775" y="1286433"/>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478631" y="1279289"/>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1</a:t>
            </a:r>
            <a:endParaRPr lang="en-US" sz="1125" dirty="0">
              <a:latin typeface="Times New Roman" panose="02020603050405020304" pitchFamily="18" charset="0"/>
              <a:cs typeface="Times New Roman" panose="02020603050405020304" pitchFamily="18" charset="0"/>
            </a:endParaRPr>
          </a:p>
        </p:txBody>
      </p:sp>
      <p:sp>
        <p:nvSpPr>
          <p:cNvPr id="9" name="Text 7"/>
          <p:cNvSpPr/>
          <p:nvPr/>
        </p:nvSpPr>
        <p:spPr>
          <a:xfrm>
            <a:off x="864394" y="1322152"/>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Introduction &amp; Motivation</a:t>
            </a:r>
            <a:endParaRPr lang="en-US" sz="1125" dirty="0">
              <a:latin typeface="Times New Roman" panose="02020603050405020304" pitchFamily="18" charset="0"/>
              <a:cs typeface="Times New Roman" panose="02020603050405020304" pitchFamily="18" charset="0"/>
            </a:endParaRPr>
          </a:p>
        </p:txBody>
      </p:sp>
      <p:sp>
        <p:nvSpPr>
          <p:cNvPr id="10" name="Text 8"/>
          <p:cNvSpPr/>
          <p:nvPr/>
        </p:nvSpPr>
        <p:spPr>
          <a:xfrm>
            <a:off x="360759" y="1771873"/>
            <a:ext cx="4064794" cy="499393"/>
          </a:xfrm>
          <a:prstGeom prst="roundRect">
            <a:avLst>
              <a:gd name="adj" fmla="val 7629"/>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485775" y="1892982"/>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478631" y="1885838"/>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2</a:t>
            </a:r>
            <a:endParaRPr lang="en-US" sz="1125" dirty="0">
              <a:latin typeface="Times New Roman" panose="02020603050405020304" pitchFamily="18" charset="0"/>
              <a:cs typeface="Times New Roman" panose="02020603050405020304" pitchFamily="18" charset="0"/>
            </a:endParaRPr>
          </a:p>
        </p:txBody>
      </p:sp>
      <p:sp>
        <p:nvSpPr>
          <p:cNvPr id="13" name="Text 11"/>
          <p:cNvSpPr/>
          <p:nvPr/>
        </p:nvSpPr>
        <p:spPr>
          <a:xfrm>
            <a:off x="864394" y="1928701"/>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Background of Solar Photovoltaics</a:t>
            </a:r>
            <a:endParaRPr lang="en-US" sz="1125" dirty="0">
              <a:latin typeface="Times New Roman" panose="02020603050405020304" pitchFamily="18" charset="0"/>
              <a:cs typeface="Times New Roman" panose="02020603050405020304" pitchFamily="18" charset="0"/>
            </a:endParaRPr>
          </a:p>
        </p:txBody>
      </p:sp>
      <p:sp>
        <p:nvSpPr>
          <p:cNvPr id="14" name="Text 12"/>
          <p:cNvSpPr/>
          <p:nvPr/>
        </p:nvSpPr>
        <p:spPr>
          <a:xfrm>
            <a:off x="360759" y="2378422"/>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485775" y="2499420"/>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478631" y="2492276"/>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3</a:t>
            </a:r>
            <a:endParaRPr lang="en-US" sz="1125" dirty="0">
              <a:latin typeface="Times New Roman" panose="02020603050405020304" pitchFamily="18" charset="0"/>
              <a:cs typeface="Times New Roman" panose="02020603050405020304" pitchFamily="18" charset="0"/>
            </a:endParaRPr>
          </a:p>
        </p:txBody>
      </p:sp>
      <p:sp>
        <p:nvSpPr>
          <p:cNvPr id="17" name="Text 15"/>
          <p:cNvSpPr/>
          <p:nvPr/>
        </p:nvSpPr>
        <p:spPr>
          <a:xfrm>
            <a:off x="864394" y="2535138"/>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Literature Review</a:t>
            </a:r>
            <a:endParaRPr lang="en-US" sz="1125" dirty="0">
              <a:latin typeface="Times New Roman" panose="02020603050405020304" pitchFamily="18" charset="0"/>
              <a:cs typeface="Times New Roman" panose="02020603050405020304" pitchFamily="18" charset="0"/>
            </a:endParaRPr>
          </a:p>
        </p:txBody>
      </p:sp>
      <p:sp>
        <p:nvSpPr>
          <p:cNvPr id="18" name="Text 16"/>
          <p:cNvSpPr/>
          <p:nvPr/>
        </p:nvSpPr>
        <p:spPr>
          <a:xfrm>
            <a:off x="360759" y="2984860"/>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485775" y="3105857"/>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478631" y="3098713"/>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4</a:t>
            </a:r>
            <a:endParaRPr lang="en-US" sz="1125" dirty="0">
              <a:latin typeface="Times New Roman" panose="02020603050405020304" pitchFamily="18" charset="0"/>
              <a:cs typeface="Times New Roman" panose="02020603050405020304" pitchFamily="18" charset="0"/>
            </a:endParaRPr>
          </a:p>
        </p:txBody>
      </p:sp>
      <p:sp>
        <p:nvSpPr>
          <p:cNvPr id="21" name="Text 19"/>
          <p:cNvSpPr/>
          <p:nvPr/>
        </p:nvSpPr>
        <p:spPr>
          <a:xfrm>
            <a:off x="864394" y="3141576"/>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Research Gap</a:t>
            </a:r>
            <a:endParaRPr lang="en-US" sz="1125" dirty="0">
              <a:latin typeface="Times New Roman" panose="02020603050405020304" pitchFamily="18" charset="0"/>
              <a:cs typeface="Times New Roman" panose="02020603050405020304" pitchFamily="18" charset="0"/>
            </a:endParaRPr>
          </a:p>
        </p:txBody>
      </p:sp>
      <p:sp>
        <p:nvSpPr>
          <p:cNvPr id="22" name="Text 20"/>
          <p:cNvSpPr/>
          <p:nvPr/>
        </p:nvSpPr>
        <p:spPr>
          <a:xfrm>
            <a:off x="360759" y="3591297"/>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485775" y="3712294"/>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478631" y="3705151"/>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5</a:t>
            </a:r>
            <a:endParaRPr lang="en-US" sz="1125" dirty="0">
              <a:latin typeface="Times New Roman" panose="02020603050405020304" pitchFamily="18" charset="0"/>
              <a:cs typeface="Times New Roman" panose="02020603050405020304" pitchFamily="18" charset="0"/>
            </a:endParaRPr>
          </a:p>
        </p:txBody>
      </p:sp>
      <p:sp>
        <p:nvSpPr>
          <p:cNvPr id="25" name="Text 23"/>
          <p:cNvSpPr/>
          <p:nvPr/>
        </p:nvSpPr>
        <p:spPr>
          <a:xfrm>
            <a:off x="864394" y="3748013"/>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Research Objectives</a:t>
            </a:r>
            <a:endParaRPr lang="en-US" sz="1125" dirty="0">
              <a:latin typeface="Times New Roman" panose="02020603050405020304" pitchFamily="18" charset="0"/>
              <a:cs typeface="Times New Roman" panose="02020603050405020304" pitchFamily="18" charset="0"/>
            </a:endParaRPr>
          </a:p>
        </p:txBody>
      </p:sp>
      <p:sp>
        <p:nvSpPr>
          <p:cNvPr id="26" name="Text 24"/>
          <p:cNvSpPr/>
          <p:nvPr/>
        </p:nvSpPr>
        <p:spPr>
          <a:xfrm>
            <a:off x="360759" y="4197734"/>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7" name="Text 25"/>
          <p:cNvSpPr/>
          <p:nvPr/>
        </p:nvSpPr>
        <p:spPr>
          <a:xfrm>
            <a:off x="485775" y="4318732"/>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8" name="Text 26"/>
          <p:cNvSpPr/>
          <p:nvPr/>
        </p:nvSpPr>
        <p:spPr>
          <a:xfrm>
            <a:off x="478631" y="4311588"/>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6</a:t>
            </a:r>
            <a:endParaRPr lang="en-US" sz="1125" dirty="0">
              <a:latin typeface="Times New Roman" panose="02020603050405020304" pitchFamily="18" charset="0"/>
              <a:cs typeface="Times New Roman" panose="02020603050405020304" pitchFamily="18" charset="0"/>
            </a:endParaRPr>
          </a:p>
        </p:txBody>
      </p:sp>
      <p:sp>
        <p:nvSpPr>
          <p:cNvPr id="29" name="Text 27"/>
          <p:cNvSpPr/>
          <p:nvPr/>
        </p:nvSpPr>
        <p:spPr>
          <a:xfrm>
            <a:off x="864394" y="4354450"/>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Liberation Sans Narrow" pitchFamily="34" charset="-122"/>
                <a:cs typeface="Times New Roman" panose="02020603050405020304" pitchFamily="18" charset="0"/>
              </a:rPr>
              <a:t>Methodology (SCAPS-1D)</a:t>
            </a:r>
            <a:endParaRPr lang="en-US" sz="1125" dirty="0">
              <a:latin typeface="Times New Roman" panose="02020603050405020304" pitchFamily="18" charset="0"/>
              <a:cs typeface="Times New Roman" panose="02020603050405020304" pitchFamily="18" charset="0"/>
            </a:endParaRPr>
          </a:p>
        </p:txBody>
      </p:sp>
      <p:sp>
        <p:nvSpPr>
          <p:cNvPr id="30" name="Text 28"/>
          <p:cNvSpPr/>
          <p:nvPr/>
        </p:nvSpPr>
        <p:spPr>
          <a:xfrm>
            <a:off x="4718447" y="1165436"/>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1" name="Text 29"/>
          <p:cNvSpPr/>
          <p:nvPr/>
        </p:nvSpPr>
        <p:spPr>
          <a:xfrm>
            <a:off x="4843463" y="1286433"/>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2" name="Text 30"/>
          <p:cNvSpPr/>
          <p:nvPr/>
        </p:nvSpPr>
        <p:spPr>
          <a:xfrm>
            <a:off x="4836319" y="1279289"/>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7</a:t>
            </a:r>
            <a:endParaRPr lang="en-US" sz="1125" dirty="0">
              <a:latin typeface="Times New Roman" panose="02020603050405020304" pitchFamily="18" charset="0"/>
              <a:cs typeface="Times New Roman" panose="02020603050405020304" pitchFamily="18" charset="0"/>
            </a:endParaRPr>
          </a:p>
        </p:txBody>
      </p:sp>
      <p:sp>
        <p:nvSpPr>
          <p:cNvPr id="33" name="Text 31"/>
          <p:cNvSpPr/>
          <p:nvPr/>
        </p:nvSpPr>
        <p:spPr>
          <a:xfrm>
            <a:off x="5222081" y="1322152"/>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Device Structure &amp; Configurations</a:t>
            </a:r>
            <a:endParaRPr lang="en-US" sz="1125" dirty="0">
              <a:latin typeface="Times New Roman" panose="02020603050405020304" pitchFamily="18" charset="0"/>
              <a:cs typeface="Times New Roman" panose="02020603050405020304" pitchFamily="18" charset="0"/>
            </a:endParaRPr>
          </a:p>
        </p:txBody>
      </p:sp>
      <p:sp>
        <p:nvSpPr>
          <p:cNvPr id="34" name="Text 32"/>
          <p:cNvSpPr/>
          <p:nvPr/>
        </p:nvSpPr>
        <p:spPr>
          <a:xfrm>
            <a:off x="4718447" y="1771873"/>
            <a:ext cx="4064794" cy="499393"/>
          </a:xfrm>
          <a:prstGeom prst="roundRect">
            <a:avLst>
              <a:gd name="adj" fmla="val 7629"/>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5" name="Text 33"/>
          <p:cNvSpPr/>
          <p:nvPr/>
        </p:nvSpPr>
        <p:spPr>
          <a:xfrm>
            <a:off x="4843463" y="1892982"/>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6" name="Text 34"/>
          <p:cNvSpPr/>
          <p:nvPr/>
        </p:nvSpPr>
        <p:spPr>
          <a:xfrm>
            <a:off x="4836319" y="1885838"/>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8</a:t>
            </a:r>
            <a:endParaRPr lang="en-US" sz="1125" dirty="0">
              <a:latin typeface="Times New Roman" panose="02020603050405020304" pitchFamily="18" charset="0"/>
              <a:cs typeface="Times New Roman" panose="02020603050405020304" pitchFamily="18" charset="0"/>
            </a:endParaRPr>
          </a:p>
        </p:txBody>
      </p:sp>
      <p:sp>
        <p:nvSpPr>
          <p:cNvPr id="37" name="Text 35"/>
          <p:cNvSpPr/>
          <p:nvPr/>
        </p:nvSpPr>
        <p:spPr>
          <a:xfrm>
            <a:off x="5222081" y="1928701"/>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Results — Parametric Optimization</a:t>
            </a:r>
            <a:endParaRPr lang="en-US" sz="1125" dirty="0">
              <a:latin typeface="Times New Roman" panose="02020603050405020304" pitchFamily="18" charset="0"/>
              <a:cs typeface="Times New Roman" panose="02020603050405020304" pitchFamily="18" charset="0"/>
            </a:endParaRPr>
          </a:p>
        </p:txBody>
      </p:sp>
      <p:sp>
        <p:nvSpPr>
          <p:cNvPr id="38" name="Text 36"/>
          <p:cNvSpPr/>
          <p:nvPr/>
        </p:nvSpPr>
        <p:spPr>
          <a:xfrm>
            <a:off x="4718447" y="2378422"/>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9" name="Text 37"/>
          <p:cNvSpPr/>
          <p:nvPr/>
        </p:nvSpPr>
        <p:spPr>
          <a:xfrm>
            <a:off x="4843463" y="2499420"/>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0" name="Text 38"/>
          <p:cNvSpPr/>
          <p:nvPr/>
        </p:nvSpPr>
        <p:spPr>
          <a:xfrm>
            <a:off x="4836319" y="2492276"/>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9</a:t>
            </a:r>
            <a:endParaRPr lang="en-US" sz="1125" dirty="0">
              <a:latin typeface="Times New Roman" panose="02020603050405020304" pitchFamily="18" charset="0"/>
              <a:cs typeface="Times New Roman" panose="02020603050405020304" pitchFamily="18" charset="0"/>
            </a:endParaRPr>
          </a:p>
        </p:txBody>
      </p:sp>
      <p:sp>
        <p:nvSpPr>
          <p:cNvPr id="41" name="Text 39"/>
          <p:cNvSpPr/>
          <p:nvPr/>
        </p:nvSpPr>
        <p:spPr>
          <a:xfrm>
            <a:off x="5222081" y="2535138"/>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Final Optimized Performance</a:t>
            </a:r>
            <a:endParaRPr lang="en-US" sz="1125" dirty="0">
              <a:latin typeface="Times New Roman" panose="02020603050405020304" pitchFamily="18" charset="0"/>
              <a:cs typeface="Times New Roman" panose="02020603050405020304" pitchFamily="18" charset="0"/>
            </a:endParaRPr>
          </a:p>
        </p:txBody>
      </p:sp>
      <p:sp>
        <p:nvSpPr>
          <p:cNvPr id="42" name="Text 40"/>
          <p:cNvSpPr/>
          <p:nvPr/>
        </p:nvSpPr>
        <p:spPr>
          <a:xfrm>
            <a:off x="4718447" y="2984860"/>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3" name="Text 41"/>
          <p:cNvSpPr/>
          <p:nvPr/>
        </p:nvSpPr>
        <p:spPr>
          <a:xfrm>
            <a:off x="4843463" y="3105857"/>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4" name="Text 42"/>
          <p:cNvSpPr/>
          <p:nvPr/>
        </p:nvSpPr>
        <p:spPr>
          <a:xfrm>
            <a:off x="4836319" y="3098713"/>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10</a:t>
            </a:r>
            <a:endParaRPr lang="en-US" sz="1125" dirty="0">
              <a:latin typeface="Times New Roman" panose="02020603050405020304" pitchFamily="18" charset="0"/>
              <a:cs typeface="Times New Roman" panose="02020603050405020304" pitchFamily="18" charset="0"/>
            </a:endParaRPr>
          </a:p>
        </p:txBody>
      </p:sp>
      <p:sp>
        <p:nvSpPr>
          <p:cNvPr id="45" name="Text 43"/>
          <p:cNvSpPr/>
          <p:nvPr/>
        </p:nvSpPr>
        <p:spPr>
          <a:xfrm>
            <a:off x="5222081" y="3141576"/>
            <a:ext cx="3450431"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Comparison with Literature</a:t>
            </a:r>
            <a:endParaRPr lang="en-US" sz="1125" dirty="0">
              <a:latin typeface="Times New Roman" panose="02020603050405020304" pitchFamily="18" charset="0"/>
              <a:cs typeface="Times New Roman" panose="02020603050405020304" pitchFamily="18" charset="0"/>
            </a:endParaRPr>
          </a:p>
        </p:txBody>
      </p:sp>
      <p:sp>
        <p:nvSpPr>
          <p:cNvPr id="46" name="Text 44"/>
          <p:cNvSpPr/>
          <p:nvPr/>
        </p:nvSpPr>
        <p:spPr>
          <a:xfrm>
            <a:off x="4718447" y="3591297"/>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7" name="Text 45"/>
          <p:cNvSpPr/>
          <p:nvPr/>
        </p:nvSpPr>
        <p:spPr>
          <a:xfrm>
            <a:off x="4843463" y="3712294"/>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8" name="Text 46"/>
          <p:cNvSpPr/>
          <p:nvPr/>
        </p:nvSpPr>
        <p:spPr>
          <a:xfrm>
            <a:off x="4836319" y="3705151"/>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11</a:t>
            </a:r>
            <a:endParaRPr lang="en-US" sz="1125" dirty="0">
              <a:latin typeface="Times New Roman" panose="02020603050405020304" pitchFamily="18" charset="0"/>
              <a:cs typeface="Times New Roman" panose="02020603050405020304" pitchFamily="18" charset="0"/>
            </a:endParaRPr>
          </a:p>
        </p:txBody>
      </p:sp>
      <p:sp>
        <p:nvSpPr>
          <p:cNvPr id="49" name="Text 47"/>
          <p:cNvSpPr/>
          <p:nvPr/>
        </p:nvSpPr>
        <p:spPr>
          <a:xfrm>
            <a:off x="5222081" y="3748013"/>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Conclusion &amp; Future Scope</a:t>
            </a:r>
            <a:endParaRPr lang="en-US" sz="1125" dirty="0">
              <a:latin typeface="Times New Roman" panose="02020603050405020304" pitchFamily="18" charset="0"/>
              <a:cs typeface="Times New Roman" panose="02020603050405020304" pitchFamily="18" charset="0"/>
            </a:endParaRPr>
          </a:p>
        </p:txBody>
      </p:sp>
      <p:sp>
        <p:nvSpPr>
          <p:cNvPr id="50" name="Text 48"/>
          <p:cNvSpPr/>
          <p:nvPr/>
        </p:nvSpPr>
        <p:spPr>
          <a:xfrm>
            <a:off x="4718447" y="4197734"/>
            <a:ext cx="4064794" cy="499281"/>
          </a:xfrm>
          <a:prstGeom prst="roundRect">
            <a:avLst>
              <a:gd name="adj" fmla="val 763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51" name="Text 49"/>
          <p:cNvSpPr/>
          <p:nvPr/>
        </p:nvSpPr>
        <p:spPr>
          <a:xfrm>
            <a:off x="4843463" y="4318732"/>
            <a:ext cx="257175" cy="257175"/>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52" name="Text 50"/>
          <p:cNvSpPr/>
          <p:nvPr/>
        </p:nvSpPr>
        <p:spPr>
          <a:xfrm>
            <a:off x="4836319" y="4311588"/>
            <a:ext cx="328613" cy="271463"/>
          </a:xfrm>
          <a:prstGeom prst="rect">
            <a:avLst/>
          </a:prstGeom>
          <a:noFill/>
          <a:ln/>
        </p:spPr>
        <p:txBody>
          <a:bodyPr wrap="none" lIns="0" tIns="0" rIns="0" bIns="0" rtlCol="0" anchor="ctr"/>
          <a:lstStyle/>
          <a:p>
            <a:pPr marL="0" indent="0" algn="ctr">
              <a:lnSpc>
                <a:spcPts val="1631"/>
              </a:lnSpc>
              <a:buNone/>
            </a:pPr>
            <a:r>
              <a:rPr lang="en-US" sz="11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12</a:t>
            </a:r>
            <a:endParaRPr lang="en-US" sz="1125" dirty="0">
              <a:latin typeface="Times New Roman" panose="02020603050405020304" pitchFamily="18" charset="0"/>
              <a:cs typeface="Times New Roman" panose="02020603050405020304" pitchFamily="18" charset="0"/>
            </a:endParaRPr>
          </a:p>
        </p:txBody>
      </p:sp>
      <p:sp>
        <p:nvSpPr>
          <p:cNvPr id="53" name="Text 51"/>
          <p:cNvSpPr/>
          <p:nvPr/>
        </p:nvSpPr>
        <p:spPr>
          <a:xfrm>
            <a:off x="5222081" y="4354450"/>
            <a:ext cx="3443288" cy="200597"/>
          </a:xfrm>
          <a:prstGeom prst="rect">
            <a:avLst/>
          </a:prstGeom>
          <a:noFill/>
          <a:ln/>
        </p:spPr>
        <p:txBody>
          <a:bodyPr wrap="none" lIns="0" tIns="0" rIns="0" bIns="0" rtlCol="0" anchor="t"/>
          <a:lstStyle/>
          <a:p>
            <a:pPr marL="0" indent="0" algn="l">
              <a:lnSpc>
                <a:spcPts val="1463"/>
              </a:lnSpc>
              <a:buNone/>
            </a:pPr>
            <a:r>
              <a:rPr lang="en-US" sz="1125" dirty="0">
                <a:solidFill>
                  <a:srgbClr val="000000"/>
                </a:solidFill>
                <a:latin typeface="Times New Roman" panose="02020603050405020304" pitchFamily="18" charset="0"/>
                <a:ea typeface="Tinos" pitchFamily="34" charset="-122"/>
                <a:cs typeface="Times New Roman" panose="02020603050405020304" pitchFamily="18" charset="0"/>
              </a:rPr>
              <a:t>Q&amp;A</a:t>
            </a:r>
            <a:endParaRPr lang="en-US" sz="1125" dirty="0">
              <a:latin typeface="Times New Roman" panose="02020603050405020304" pitchFamily="18" charset="0"/>
              <a:cs typeface="Times New Roman" panose="02020603050405020304" pitchFamily="18" charset="0"/>
            </a:endParaRPr>
          </a:p>
        </p:txBody>
      </p:sp>
      <p:sp>
        <p:nvSpPr>
          <p:cNvPr id="54" name="Text 52"/>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55" name="Shape 53"/>
          <p:cNvSpPr/>
          <p:nvPr/>
        </p:nvSpPr>
        <p:spPr>
          <a:xfrm>
            <a:off x="0" y="4822031"/>
            <a:ext cx="9144000" cy="0"/>
          </a:xfrm>
          <a:prstGeom prst="line">
            <a:avLst/>
          </a:prstGeom>
          <a:noFill/>
          <a:ln w="14288">
            <a:solidFill>
              <a:srgbClr val="C4D2B1"/>
            </a:solidFill>
            <a:prstDash val="solid"/>
          </a:ln>
        </p:spPr>
      </p:sp>
      <p:sp>
        <p:nvSpPr>
          <p:cNvPr id="56" name="Text 54"/>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57" name="Text 55"/>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58" name="Text 56"/>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Introduction &amp; Motivation</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4343043"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Global Energy Context</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27944"/>
            <a:ext cx="4136231" cy="262016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Global electricity demand is rising rapidly due to population growth, industrialization, and urbanization.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Conventional power generation still relies heavily on fossil fuels — coal, natural gas, and petroleum.</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Fossil-fuel burning accelerates greenhouse-gas emissions, global warming, and environmental pollution.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Depleting reserves raise serious concerns about long-term energy security.</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Renewable sources (solar, wind) are clean, abundant, and increasingly cost-competitive.</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3745892"/>
            <a:ext cx="4136231" cy="172749"/>
          </a:xfrm>
          <a:prstGeom prst="rect">
            <a:avLst/>
          </a:prstGeom>
          <a:noFill/>
          <a:ln/>
        </p:spPr>
        <p:txBody>
          <a:bodyPr wrap="square" lIns="0" tIns="0" rIns="0" bIns="0" rtlCol="0" anchor="t"/>
          <a:lstStyle/>
          <a:p>
            <a:pPr marL="0" indent="0" algn="l">
              <a:lnSpc>
                <a:spcPts val="1260"/>
              </a:lnSpc>
              <a:buNone/>
            </a:pPr>
            <a:r>
              <a:rPr lang="en-US" sz="900" dirty="0">
                <a:solidFill>
                  <a:srgbClr val="333333"/>
                </a:solidFill>
                <a:latin typeface="Times New Roman" panose="02020603050405020304" pitchFamily="18" charset="0"/>
                <a:ea typeface="Tinos" pitchFamily="34" charset="-122"/>
                <a:cs typeface="Times New Roman" panose="02020603050405020304" pitchFamily="18" charset="0"/>
              </a:rPr>
              <a:t>Solar energy has emerged as one of the fastest-growing renewable alternatives</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4650581" y="885825"/>
            <a:ext cx="4467130" cy="246044"/>
          </a:xfrm>
          <a:prstGeom prst="rect">
            <a:avLst/>
          </a:prstGeom>
          <a:noFill/>
          <a:ln/>
        </p:spPr>
        <p:txBody>
          <a:bodyPr wrap="squar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Bangladesh Energy Challenge</a:t>
            </a:r>
            <a:endParaRPr lang="en-US" sz="1238" dirty="0">
              <a:latin typeface="Times New Roman" panose="02020603050405020304" pitchFamily="18" charset="0"/>
              <a:cs typeface="Times New Roman" panose="02020603050405020304" pitchFamily="18" charset="0"/>
            </a:endParaRPr>
          </a:p>
        </p:txBody>
      </p:sp>
      <p:sp>
        <p:nvSpPr>
          <p:cNvPr id="9" name="Text 7"/>
          <p:cNvSpPr/>
          <p:nvPr/>
        </p:nvSpPr>
        <p:spPr>
          <a:xfrm>
            <a:off x="4650581" y="1227944"/>
            <a:ext cx="4136231" cy="220297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High dependence on imported fossil fuels for electricity generation.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Frequent load shedding, particularly during the peak summer months.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Power shortages cause significant inconvenience to industry and households.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Bangladesh imports a portion of its electricity from neighbouring countries.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Solar energy offers a decentralized, scalable, and environmentally friendly solution for the national grid.</a:t>
            </a:r>
            <a:endParaRPr lang="en-US" sz="1069" dirty="0">
              <a:latin typeface="Times New Roman" panose="02020603050405020304" pitchFamily="18" charset="0"/>
              <a:cs typeface="Times New Roman" panose="02020603050405020304" pitchFamily="18" charset="0"/>
            </a:endParaRPr>
          </a:p>
        </p:txBody>
      </p:sp>
      <p:sp>
        <p:nvSpPr>
          <p:cNvPr id="10" name="Text 8"/>
          <p:cNvSpPr/>
          <p:nvPr/>
        </p:nvSpPr>
        <p:spPr>
          <a:xfrm>
            <a:off x="4650581" y="4519203"/>
            <a:ext cx="4136231" cy="232172"/>
          </a:xfrm>
          <a:prstGeom prst="rect">
            <a:avLst/>
          </a:prstGeom>
          <a:noFill/>
          <a:ln/>
        </p:spPr>
        <p:txBody>
          <a:bodyPr wrap="square" lIns="0" tIns="57150" rIns="0" bIns="0" rtlCol="0" anchor="t"/>
          <a:lstStyle/>
          <a:p>
            <a:pPr marL="0" indent="0" algn="l">
              <a:lnSpc>
                <a:spcPts val="979"/>
              </a:lnSpc>
              <a:buNone/>
            </a:pPr>
            <a:r>
              <a:rPr lang="en-US" sz="800" i="1" dirty="0">
                <a:solidFill>
                  <a:srgbClr val="555555"/>
                </a:solidFill>
                <a:latin typeface="Times New Roman" panose="02020603050405020304" pitchFamily="18" charset="0"/>
                <a:ea typeface="Tinos" pitchFamily="34" charset="-122"/>
                <a:cs typeface="Times New Roman" panose="02020603050405020304" pitchFamily="18" charset="0"/>
              </a:rPr>
              <a:t>Data source: Ember, Global Electricity Review 2025.</a:t>
            </a:r>
            <a:endParaRPr lang="en-US" sz="800" dirty="0">
              <a:latin typeface="Times New Roman" panose="02020603050405020304" pitchFamily="18" charset="0"/>
              <a:cs typeface="Times New Roman" panose="02020603050405020304" pitchFamily="18" charset="0"/>
            </a:endParaRPr>
          </a:p>
        </p:txBody>
      </p:sp>
      <p:sp>
        <p:nvSpPr>
          <p:cNvPr id="11" name="Text 9"/>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2" name="Shape 10"/>
          <p:cNvSpPr/>
          <p:nvPr/>
        </p:nvSpPr>
        <p:spPr>
          <a:xfrm>
            <a:off x="0" y="4822031"/>
            <a:ext cx="9144000" cy="0"/>
          </a:xfrm>
          <a:prstGeom prst="line">
            <a:avLst/>
          </a:prstGeom>
          <a:noFill/>
          <a:ln w="14288">
            <a:solidFill>
              <a:srgbClr val="C4D2B1"/>
            </a:solidFill>
            <a:prstDash val="solid"/>
          </a:ln>
        </p:spPr>
      </p:sp>
      <p:sp>
        <p:nvSpPr>
          <p:cNvPr id="13" name="Text 11"/>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4" name="Text 12"/>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5" name="Text 13"/>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3</a:t>
            </a:r>
            <a:endParaRPr lang="en-US" sz="800" dirty="0">
              <a:latin typeface="Times New Roman" panose="02020603050405020304" pitchFamily="18" charset="0"/>
              <a:cs typeface="Times New Roman" panose="02020603050405020304" pitchFamily="18" charset="0"/>
            </a:endParaRPr>
          </a:p>
        </p:txBody>
      </p:sp>
      <p:pic>
        <p:nvPicPr>
          <p:cNvPr id="16" name="Picture 15" descr="A pie chart with different colored numbers">
            <a:extLst>
              <a:ext uri="{FF2B5EF4-FFF2-40B4-BE49-F238E27FC236}">
                <a16:creationId xmlns:a16="http://schemas.microsoft.com/office/drawing/2014/main" id="{35D2822B-52DE-7BCB-48B8-EE69131B3D6D}"/>
              </a:ext>
            </a:extLst>
          </p:cNvPr>
          <p:cNvPicPr>
            <a:picLocks noChangeAspect="1"/>
          </p:cNvPicPr>
          <p:nvPr/>
        </p:nvPicPr>
        <p:blipFill>
          <a:blip r:embed="rId3"/>
          <a:stretch>
            <a:fillRect/>
          </a:stretch>
        </p:blipFill>
        <p:spPr>
          <a:xfrm>
            <a:off x="4700231" y="3124863"/>
            <a:ext cx="2323428" cy="145419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Background of Solar Photovoltaics</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8429625" cy="216027"/>
          </a:xfrm>
          <a:prstGeom prst="rect">
            <a:avLst/>
          </a:prstGeom>
          <a:noFill/>
          <a:ln/>
        </p:spPr>
        <p:txBody>
          <a:bodyPr wrap="square" lIns="0" tIns="0" rIns="0" bIns="0" rtlCol="0" anchor="t"/>
          <a:lstStyle/>
          <a:p>
            <a:pPr marL="0" indent="0" algn="ctr">
              <a:lnSpc>
                <a:spcPts val="1575"/>
              </a:lnSpc>
              <a:buNone/>
            </a:pPr>
            <a:r>
              <a:rPr lang="en-US" sz="1125" i="1" dirty="0">
                <a:solidFill>
                  <a:srgbClr val="000000"/>
                </a:solidFill>
                <a:latin typeface="Times New Roman" panose="02020603050405020304" pitchFamily="18" charset="0"/>
                <a:ea typeface="Tinos" pitchFamily="34" charset="-122"/>
                <a:cs typeface="Times New Roman" panose="02020603050405020304" pitchFamily="18" charset="0"/>
              </a:rPr>
              <a:t>Solar cell technologies are classified into three generations based on absorber materials and fabrication technology.</a:t>
            </a:r>
            <a:endParaRPr lang="en-US" sz="1125" dirty="0">
              <a:latin typeface="Times New Roman" panose="02020603050405020304" pitchFamily="18" charset="0"/>
              <a:cs typeface="Times New Roman" panose="02020603050405020304" pitchFamily="18" charset="0"/>
            </a:endParaRPr>
          </a:p>
        </p:txBody>
      </p:sp>
      <p:sp>
        <p:nvSpPr>
          <p:cNvPr id="6" name="Text 4"/>
          <p:cNvSpPr/>
          <p:nvPr/>
        </p:nvSpPr>
        <p:spPr>
          <a:xfrm>
            <a:off x="357188" y="1214438"/>
            <a:ext cx="2695538" cy="3486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357188" y="1228725"/>
            <a:ext cx="2695538" cy="0"/>
          </a:xfrm>
          <a:prstGeom prst="line">
            <a:avLst/>
          </a:prstGeom>
          <a:noFill/>
          <a:ln w="28575">
            <a:solidFill>
              <a:srgbClr val="000000"/>
            </a:solidFill>
            <a:prstDash val="solid"/>
          </a:ln>
        </p:spPr>
      </p:sp>
      <p:sp>
        <p:nvSpPr>
          <p:cNvPr id="8" name="Shape 6"/>
          <p:cNvSpPr/>
          <p:nvPr/>
        </p:nvSpPr>
        <p:spPr>
          <a:xfrm>
            <a:off x="3049153" y="1214438"/>
            <a:ext cx="0" cy="3486150"/>
          </a:xfrm>
          <a:prstGeom prst="line">
            <a:avLst/>
          </a:prstGeom>
          <a:noFill/>
          <a:ln w="7144">
            <a:solidFill>
              <a:srgbClr val="000000"/>
            </a:solidFill>
            <a:prstDash val="solid"/>
          </a:ln>
        </p:spPr>
      </p:sp>
      <p:sp>
        <p:nvSpPr>
          <p:cNvPr id="9" name="Shape 7"/>
          <p:cNvSpPr/>
          <p:nvPr/>
        </p:nvSpPr>
        <p:spPr>
          <a:xfrm>
            <a:off x="357188" y="4697016"/>
            <a:ext cx="2695538" cy="0"/>
          </a:xfrm>
          <a:prstGeom prst="line">
            <a:avLst/>
          </a:prstGeom>
          <a:noFill/>
          <a:ln w="7144">
            <a:solidFill>
              <a:srgbClr val="000000"/>
            </a:solidFill>
            <a:prstDash val="solid"/>
          </a:ln>
        </p:spPr>
      </p:sp>
      <p:sp>
        <p:nvSpPr>
          <p:cNvPr id="10" name="Shape 8"/>
          <p:cNvSpPr/>
          <p:nvPr/>
        </p:nvSpPr>
        <p:spPr>
          <a:xfrm>
            <a:off x="360759" y="1214438"/>
            <a:ext cx="0" cy="3486150"/>
          </a:xfrm>
          <a:prstGeom prst="line">
            <a:avLst/>
          </a:prstGeom>
          <a:noFill/>
          <a:ln w="7144">
            <a:solidFill>
              <a:srgbClr val="000000"/>
            </a:solidFill>
            <a:prstDash val="solid"/>
          </a:ln>
        </p:spPr>
      </p:sp>
      <p:sp>
        <p:nvSpPr>
          <p:cNvPr id="11" name="Text 9"/>
          <p:cNvSpPr/>
          <p:nvPr/>
        </p:nvSpPr>
        <p:spPr>
          <a:xfrm>
            <a:off x="507206" y="1385888"/>
            <a:ext cx="2395500" cy="222175"/>
          </a:xfrm>
          <a:prstGeom prst="rect">
            <a:avLst/>
          </a:prstGeom>
          <a:noFill/>
          <a:ln/>
        </p:spPr>
        <p:txBody>
          <a:bodyPr wrap="none" lIns="0" tIns="0" rIns="0" bIns="0" rtlCol="0" anchor="t"/>
          <a:lstStyle/>
          <a:p>
            <a:pPr marL="0" indent="0" algn="l">
              <a:lnSpc>
                <a:spcPts val="1620"/>
              </a:lnSpc>
              <a:buNone/>
            </a:pPr>
            <a:r>
              <a:rPr lang="en-US" sz="14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1st Generation</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507206" y="1658684"/>
            <a:ext cx="2395500" cy="2774964"/>
          </a:xfrm>
          <a:prstGeom prst="rect">
            <a:avLst/>
          </a:prstGeom>
          <a:noFill/>
          <a:ln/>
        </p:spPr>
        <p:txBody>
          <a:bodyPr wrap="square" lIns="78581" tIns="0" rIns="0" bIns="0" rtlCol="0" anchor="t"/>
          <a:lstStyle/>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Crystalline silicon (c-Si)</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Highest commercial market share</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 efficiency, long-term stability</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 material cost,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rigid</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substrates</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Mature fabrication technology</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507206" y="4299533"/>
            <a:ext cx="2395500" cy="0"/>
          </a:xfrm>
          <a:prstGeom prst="line">
            <a:avLst/>
          </a:prstGeom>
          <a:noFill/>
          <a:ln w="7144">
            <a:solidFill>
              <a:srgbClr val="000000"/>
            </a:solidFill>
            <a:prstDash val="solid"/>
          </a:ln>
        </p:spPr>
      </p:sp>
      <p:sp>
        <p:nvSpPr>
          <p:cNvPr id="14" name="Text 12"/>
          <p:cNvSpPr/>
          <p:nvPr/>
        </p:nvSpPr>
        <p:spPr>
          <a:xfrm>
            <a:off x="507206" y="4295961"/>
            <a:ext cx="2395500" cy="254608"/>
          </a:xfrm>
          <a:prstGeom prst="rect">
            <a:avLst/>
          </a:prstGeom>
          <a:noFill/>
          <a:ln/>
        </p:spPr>
        <p:txBody>
          <a:bodyPr wrap="none" lIns="0" tIns="71438" rIns="0" bIns="0" rtlCol="0" anchor="t"/>
          <a:lstStyle/>
          <a:p>
            <a:pPr marL="0" indent="0" algn="ctr">
              <a:lnSpc>
                <a:spcPts val="1387"/>
              </a:lnSpc>
              <a:buNone/>
            </a:pP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Typical PCE: </a:t>
            </a:r>
            <a:r>
              <a:rPr lang="en-US" sz="1200" b="1" i="1" dirty="0">
                <a:solidFill>
                  <a:srgbClr val="000000"/>
                </a:solidFill>
                <a:latin typeface="Times New Roman" panose="02020603050405020304" pitchFamily="18" charset="0"/>
                <a:ea typeface="Liberation Sans Narrow" pitchFamily="34" charset="-122"/>
                <a:cs typeface="Times New Roman" panose="02020603050405020304" pitchFamily="18" charset="0"/>
              </a:rPr>
              <a:t>15–24%</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3227747" y="1214438"/>
            <a:ext cx="2695538" cy="3486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Shape 14"/>
          <p:cNvSpPr/>
          <p:nvPr/>
        </p:nvSpPr>
        <p:spPr>
          <a:xfrm>
            <a:off x="3224175" y="1228725"/>
            <a:ext cx="2695538" cy="0"/>
          </a:xfrm>
          <a:prstGeom prst="line">
            <a:avLst/>
          </a:prstGeom>
          <a:noFill/>
          <a:ln w="28575">
            <a:solidFill>
              <a:srgbClr val="000000"/>
            </a:solidFill>
            <a:prstDash val="solid"/>
          </a:ln>
        </p:spPr>
      </p:sp>
      <p:sp>
        <p:nvSpPr>
          <p:cNvPr id="17" name="Shape 15"/>
          <p:cNvSpPr/>
          <p:nvPr/>
        </p:nvSpPr>
        <p:spPr>
          <a:xfrm>
            <a:off x="5916141" y="1214438"/>
            <a:ext cx="0" cy="3486150"/>
          </a:xfrm>
          <a:prstGeom prst="line">
            <a:avLst/>
          </a:prstGeom>
          <a:noFill/>
          <a:ln w="7144">
            <a:solidFill>
              <a:srgbClr val="000000"/>
            </a:solidFill>
            <a:prstDash val="solid"/>
          </a:ln>
        </p:spPr>
      </p:sp>
      <p:sp>
        <p:nvSpPr>
          <p:cNvPr id="18" name="Shape 16"/>
          <p:cNvSpPr/>
          <p:nvPr/>
        </p:nvSpPr>
        <p:spPr>
          <a:xfrm>
            <a:off x="3224175" y="4697016"/>
            <a:ext cx="2695538" cy="0"/>
          </a:xfrm>
          <a:prstGeom prst="line">
            <a:avLst/>
          </a:prstGeom>
          <a:noFill/>
          <a:ln w="7144">
            <a:solidFill>
              <a:srgbClr val="000000"/>
            </a:solidFill>
            <a:prstDash val="solid"/>
          </a:ln>
        </p:spPr>
      </p:sp>
      <p:sp>
        <p:nvSpPr>
          <p:cNvPr id="19" name="Shape 17"/>
          <p:cNvSpPr/>
          <p:nvPr/>
        </p:nvSpPr>
        <p:spPr>
          <a:xfrm>
            <a:off x="3227747" y="1214438"/>
            <a:ext cx="0" cy="3486150"/>
          </a:xfrm>
          <a:prstGeom prst="line">
            <a:avLst/>
          </a:prstGeom>
          <a:noFill/>
          <a:ln w="7144">
            <a:solidFill>
              <a:srgbClr val="000000"/>
            </a:solidFill>
            <a:prstDash val="solid"/>
          </a:ln>
        </p:spPr>
      </p:sp>
      <p:sp>
        <p:nvSpPr>
          <p:cNvPr id="20" name="Text 18"/>
          <p:cNvSpPr/>
          <p:nvPr/>
        </p:nvSpPr>
        <p:spPr>
          <a:xfrm>
            <a:off x="3374194" y="1385888"/>
            <a:ext cx="2395500" cy="222175"/>
          </a:xfrm>
          <a:prstGeom prst="rect">
            <a:avLst/>
          </a:prstGeom>
          <a:noFill/>
          <a:ln/>
        </p:spPr>
        <p:txBody>
          <a:bodyPr wrap="none" lIns="0" tIns="0" rIns="0" bIns="0" rtlCol="0" anchor="t"/>
          <a:lstStyle/>
          <a:p>
            <a:pPr marL="0" indent="0" algn="l">
              <a:lnSpc>
                <a:spcPts val="1620"/>
              </a:lnSpc>
              <a:buNone/>
            </a:pPr>
            <a:r>
              <a:rPr lang="en-US" sz="14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2nd Generation</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3374194" y="1658684"/>
            <a:ext cx="2395500" cy="2774964"/>
          </a:xfrm>
          <a:prstGeom prst="rect">
            <a:avLst/>
          </a:prstGeom>
          <a:noFill/>
          <a:ln/>
        </p:spPr>
        <p:txBody>
          <a:bodyPr wrap="square" lIns="78581" tIns="0" rIns="0" bIns="0" rtlCol="0" anchor="t"/>
          <a:lstStyle/>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Thin-film technologies</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CdTe, CIGS, amorphous Si (a-Si)</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Lower material usage</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Lower manufacturing cost</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Flexible</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substrate compatibility</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3374194" y="4299533"/>
            <a:ext cx="2395500" cy="0"/>
          </a:xfrm>
          <a:prstGeom prst="line">
            <a:avLst/>
          </a:prstGeom>
          <a:noFill/>
          <a:ln w="7144">
            <a:solidFill>
              <a:srgbClr val="000000"/>
            </a:solidFill>
            <a:prstDash val="solid"/>
          </a:ln>
        </p:spPr>
      </p:sp>
      <p:sp>
        <p:nvSpPr>
          <p:cNvPr id="23" name="Text 21"/>
          <p:cNvSpPr/>
          <p:nvPr/>
        </p:nvSpPr>
        <p:spPr>
          <a:xfrm>
            <a:off x="3374194" y="4295961"/>
            <a:ext cx="2395500" cy="254608"/>
          </a:xfrm>
          <a:prstGeom prst="rect">
            <a:avLst/>
          </a:prstGeom>
          <a:noFill/>
          <a:ln/>
        </p:spPr>
        <p:txBody>
          <a:bodyPr wrap="none" lIns="0" tIns="71438" rIns="0" bIns="0" rtlCol="0" anchor="t"/>
          <a:lstStyle/>
          <a:p>
            <a:pPr marL="0" indent="0" algn="ctr">
              <a:lnSpc>
                <a:spcPts val="1387"/>
              </a:lnSpc>
              <a:buNone/>
            </a:pP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Typical PCE: </a:t>
            </a:r>
            <a:r>
              <a:rPr lang="en-US" sz="1200" b="1" i="1" dirty="0">
                <a:solidFill>
                  <a:srgbClr val="000000"/>
                </a:solidFill>
                <a:latin typeface="Times New Roman" panose="02020603050405020304" pitchFamily="18" charset="0"/>
                <a:ea typeface="Liberation Sans Narrow" pitchFamily="34" charset="-122"/>
                <a:cs typeface="Times New Roman" panose="02020603050405020304" pitchFamily="18" charset="0"/>
              </a:rPr>
              <a:t>10–22%</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6091163" y="1214438"/>
            <a:ext cx="2695649" cy="3486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5" name="Shape 23"/>
          <p:cNvSpPr/>
          <p:nvPr/>
        </p:nvSpPr>
        <p:spPr>
          <a:xfrm>
            <a:off x="6091163" y="1228725"/>
            <a:ext cx="2695649" cy="0"/>
          </a:xfrm>
          <a:prstGeom prst="line">
            <a:avLst/>
          </a:prstGeom>
          <a:noFill/>
          <a:ln w="28575">
            <a:solidFill>
              <a:srgbClr val="000000"/>
            </a:solidFill>
            <a:prstDash val="solid"/>
          </a:ln>
        </p:spPr>
      </p:sp>
      <p:sp>
        <p:nvSpPr>
          <p:cNvPr id="26" name="Shape 24"/>
          <p:cNvSpPr/>
          <p:nvPr/>
        </p:nvSpPr>
        <p:spPr>
          <a:xfrm>
            <a:off x="8776097" y="1214438"/>
            <a:ext cx="0" cy="3486150"/>
          </a:xfrm>
          <a:prstGeom prst="line">
            <a:avLst/>
          </a:prstGeom>
          <a:noFill/>
          <a:ln w="21431">
            <a:solidFill>
              <a:srgbClr val="000000"/>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27" name="Shape 25"/>
          <p:cNvSpPr/>
          <p:nvPr/>
        </p:nvSpPr>
        <p:spPr>
          <a:xfrm>
            <a:off x="6091163" y="4689872"/>
            <a:ext cx="2695649" cy="0"/>
          </a:xfrm>
          <a:prstGeom prst="line">
            <a:avLst/>
          </a:prstGeom>
          <a:noFill/>
          <a:ln w="21431">
            <a:solidFill>
              <a:srgbClr val="000000"/>
            </a:solidFill>
            <a:prstDash val="solid"/>
          </a:ln>
        </p:spPr>
      </p:sp>
      <p:sp>
        <p:nvSpPr>
          <p:cNvPr id="28" name="Shape 26"/>
          <p:cNvSpPr/>
          <p:nvPr/>
        </p:nvSpPr>
        <p:spPr>
          <a:xfrm>
            <a:off x="6101879" y="1214438"/>
            <a:ext cx="0" cy="3486150"/>
          </a:xfrm>
          <a:prstGeom prst="line">
            <a:avLst/>
          </a:prstGeom>
          <a:noFill/>
          <a:ln w="21431">
            <a:solidFill>
              <a:srgbClr val="000000"/>
            </a:solidFill>
            <a:prstDash val="solid"/>
          </a:ln>
        </p:spPr>
      </p:sp>
      <p:sp>
        <p:nvSpPr>
          <p:cNvPr id="29" name="Text 27"/>
          <p:cNvSpPr/>
          <p:nvPr/>
        </p:nvSpPr>
        <p:spPr>
          <a:xfrm>
            <a:off x="8102013" y="1132117"/>
            <a:ext cx="599861" cy="203150"/>
          </a:xfrm>
          <a:prstGeom prst="roundRect">
            <a:avLst>
              <a:gd name="adj" fmla="val 9377"/>
            </a:avLst>
          </a:prstGeom>
          <a:solidFill>
            <a:srgbClr val="000000"/>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0" name="Text 28"/>
          <p:cNvSpPr/>
          <p:nvPr/>
        </p:nvSpPr>
        <p:spPr>
          <a:xfrm>
            <a:off x="8067080" y="1143000"/>
            <a:ext cx="555427" cy="181384"/>
          </a:xfrm>
          <a:prstGeom prst="rect">
            <a:avLst/>
          </a:prstGeom>
          <a:noFill/>
          <a:ln/>
        </p:spPr>
        <p:txBody>
          <a:bodyPr wrap="none" lIns="0" tIns="0" rIns="0" bIns="0" rtlCol="0" anchor="ctr"/>
          <a:lstStyle/>
          <a:p>
            <a:pPr marL="0" indent="0" algn="ctr">
              <a:lnSpc>
                <a:spcPts val="979"/>
              </a:lnSpc>
              <a:buNone/>
            </a:pPr>
            <a:r>
              <a:rPr lang="en-US" sz="800" b="1" kern="0" spc="34" dirty="0">
                <a:solidFill>
                  <a:srgbClr val="FFFFFF"/>
                </a:solidFill>
                <a:latin typeface="Times New Roman" panose="02020603050405020304" pitchFamily="18" charset="0"/>
                <a:ea typeface="Tinos" pitchFamily="34" charset="-122"/>
                <a:cs typeface="Times New Roman" panose="02020603050405020304" pitchFamily="18" charset="0"/>
              </a:rPr>
              <a:t>This work</a:t>
            </a:r>
            <a:endParaRPr lang="en-US" sz="800" dirty="0">
              <a:latin typeface="Times New Roman" panose="02020603050405020304" pitchFamily="18" charset="0"/>
              <a:cs typeface="Times New Roman" panose="02020603050405020304" pitchFamily="18" charset="0"/>
            </a:endParaRPr>
          </a:p>
        </p:txBody>
      </p:sp>
      <p:sp>
        <p:nvSpPr>
          <p:cNvPr id="31" name="Text 29"/>
          <p:cNvSpPr/>
          <p:nvPr/>
        </p:nvSpPr>
        <p:spPr>
          <a:xfrm>
            <a:off x="6255469" y="1385888"/>
            <a:ext cx="2367037" cy="222175"/>
          </a:xfrm>
          <a:prstGeom prst="rect">
            <a:avLst/>
          </a:prstGeom>
          <a:noFill/>
          <a:ln/>
        </p:spPr>
        <p:txBody>
          <a:bodyPr wrap="none" lIns="0" tIns="0" rIns="0" bIns="0" rtlCol="0" anchor="t"/>
          <a:lstStyle/>
          <a:p>
            <a:pPr marL="0" indent="0" algn="l">
              <a:lnSpc>
                <a:spcPts val="1620"/>
              </a:lnSpc>
              <a:buNone/>
            </a:pPr>
            <a:r>
              <a:rPr lang="en-US" sz="14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3rd Generation</a:t>
            </a:r>
            <a:endParaRPr lang="en-US" sz="1400" dirty="0">
              <a:latin typeface="Times New Roman" panose="02020603050405020304" pitchFamily="18" charset="0"/>
              <a:cs typeface="Times New Roman" panose="02020603050405020304" pitchFamily="18" charset="0"/>
            </a:endParaRPr>
          </a:p>
        </p:txBody>
      </p:sp>
      <p:sp>
        <p:nvSpPr>
          <p:cNvPr id="32" name="Text 30"/>
          <p:cNvSpPr/>
          <p:nvPr/>
        </p:nvSpPr>
        <p:spPr>
          <a:xfrm>
            <a:off x="6255469" y="1658684"/>
            <a:ext cx="2367037" cy="2759820"/>
          </a:xfrm>
          <a:prstGeom prst="rect">
            <a:avLst/>
          </a:prstGeom>
          <a:noFill/>
          <a:ln/>
        </p:spPr>
        <p:txBody>
          <a:bodyPr wrap="square" lIns="78581" tIns="0" rIns="0" bIns="0" rtlCol="0" anchor="t"/>
          <a:lstStyle/>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Perovskite, DSSC, organic, quantum-dot</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 efficiency with low-cost fabrication</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Tunable</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bandgap, solution-processable</a:t>
            </a:r>
          </a:p>
          <a:p>
            <a:pPr marL="78581" indent="-78581" algn="l">
              <a:lnSpc>
                <a:spcPts val="1550"/>
              </a:lnSpc>
              <a:spcAft>
                <a:spcPts val="450"/>
              </a:spcAft>
              <a:buSzPct val="100000"/>
              <a:buChar char="•"/>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Flexible</a:t>
            </a:r>
            <a:endParaRPr lang="en-US" sz="1200" b="1"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absorber → this study</a:t>
            </a:r>
            <a:endParaRPr lang="en-US" sz="1200" dirty="0">
              <a:latin typeface="Times New Roman" panose="02020603050405020304" pitchFamily="18" charset="0"/>
              <a:cs typeface="Times New Roman" panose="02020603050405020304" pitchFamily="18" charset="0"/>
            </a:endParaRPr>
          </a:p>
          <a:p>
            <a:pPr marL="78581" indent="-78581"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Environmentally friendly, lead-free</a:t>
            </a:r>
            <a:endParaRPr lang="en-US" sz="1200" dirty="0">
              <a:latin typeface="Times New Roman" panose="02020603050405020304" pitchFamily="18" charset="0"/>
              <a:cs typeface="Times New Roman" panose="02020603050405020304" pitchFamily="18" charset="0"/>
            </a:endParaRPr>
          </a:p>
        </p:txBody>
      </p:sp>
      <p:sp>
        <p:nvSpPr>
          <p:cNvPr id="33" name="Shape 31"/>
          <p:cNvSpPr/>
          <p:nvPr/>
        </p:nvSpPr>
        <p:spPr>
          <a:xfrm>
            <a:off x="6255469" y="4285245"/>
            <a:ext cx="2367037" cy="0"/>
          </a:xfrm>
          <a:prstGeom prst="line">
            <a:avLst/>
          </a:prstGeom>
          <a:noFill/>
          <a:ln w="7144">
            <a:solidFill>
              <a:srgbClr val="000000"/>
            </a:solidFill>
            <a:prstDash val="solid"/>
          </a:ln>
        </p:spPr>
      </p:sp>
      <p:sp>
        <p:nvSpPr>
          <p:cNvPr id="34" name="Text 32"/>
          <p:cNvSpPr/>
          <p:nvPr/>
        </p:nvSpPr>
        <p:spPr>
          <a:xfrm>
            <a:off x="6255469" y="4281674"/>
            <a:ext cx="2367037" cy="254608"/>
          </a:xfrm>
          <a:prstGeom prst="rect">
            <a:avLst/>
          </a:prstGeom>
          <a:noFill/>
          <a:ln/>
        </p:spPr>
        <p:txBody>
          <a:bodyPr wrap="none" lIns="0" tIns="71438" rIns="0" bIns="0" rtlCol="0" anchor="t"/>
          <a:lstStyle/>
          <a:p>
            <a:pPr marL="0" indent="0" algn="ctr">
              <a:lnSpc>
                <a:spcPts val="1387"/>
              </a:lnSpc>
              <a:buNone/>
            </a:pP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Typical PCE: </a:t>
            </a:r>
            <a:r>
              <a:rPr lang="en-US" sz="1200" b="1" i="1" dirty="0">
                <a:solidFill>
                  <a:srgbClr val="000000"/>
                </a:solidFill>
                <a:latin typeface="Times New Roman" panose="02020603050405020304" pitchFamily="18" charset="0"/>
                <a:ea typeface="Liberation Sans Narrow" pitchFamily="34" charset="-122"/>
                <a:cs typeface="Times New Roman" panose="02020603050405020304" pitchFamily="18" charset="0"/>
              </a:rPr>
              <a:t>15–26%+</a:t>
            </a:r>
            <a:endParaRPr lang="en-US" sz="1200" dirty="0">
              <a:latin typeface="Times New Roman" panose="02020603050405020304" pitchFamily="18" charset="0"/>
              <a:cs typeface="Times New Roman" panose="02020603050405020304" pitchFamily="18" charset="0"/>
            </a:endParaRPr>
          </a:p>
        </p:txBody>
      </p:sp>
      <p:sp>
        <p:nvSpPr>
          <p:cNvPr id="35" name="Text 33"/>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6" name="Shape 34"/>
          <p:cNvSpPr/>
          <p:nvPr/>
        </p:nvSpPr>
        <p:spPr>
          <a:xfrm>
            <a:off x="0" y="4822031"/>
            <a:ext cx="9144000" cy="0"/>
          </a:xfrm>
          <a:prstGeom prst="line">
            <a:avLst/>
          </a:prstGeom>
          <a:noFill/>
          <a:ln w="14288">
            <a:solidFill>
              <a:srgbClr val="C4D2B1"/>
            </a:solidFill>
            <a:prstDash val="solid"/>
          </a:ln>
        </p:spPr>
      </p:sp>
      <p:sp>
        <p:nvSpPr>
          <p:cNvPr id="37" name="Text 35"/>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38" name="Text 36"/>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39" name="Text 37"/>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4</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Literature Review</a:t>
            </a:r>
            <a:endParaRPr lang="en-US" sz="18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2486896729"/>
              </p:ext>
            </p:extLst>
          </p:nvPr>
        </p:nvGraphicFramePr>
        <p:xfrm>
          <a:off x="357188" y="885825"/>
          <a:ext cx="8422481" cy="3619024"/>
        </p:xfrm>
        <a:graphic>
          <a:graphicData uri="http://schemas.openxmlformats.org/drawingml/2006/table">
            <a:tbl>
              <a:tblPr/>
              <a:tblGrid>
                <a:gridCol w="1431764">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779365">
                  <a:extLst>
                    <a:ext uri="{9D8B030D-6E8A-4147-A177-3AD203B41FA5}">
                      <a16:colId xmlns:a16="http://schemas.microsoft.com/office/drawing/2014/main" val="20002"/>
                    </a:ext>
                  </a:extLst>
                </a:gridCol>
                <a:gridCol w="2611152">
                  <a:extLst>
                    <a:ext uri="{9D8B030D-6E8A-4147-A177-3AD203B41FA5}">
                      <a16:colId xmlns:a16="http://schemas.microsoft.com/office/drawing/2014/main" val="20003"/>
                    </a:ext>
                  </a:extLst>
                </a:gridCol>
              </a:tblGrid>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Work</a:t>
                      </a:r>
                      <a:endParaRPr lang="en-US" sz="800" dirty="0">
                        <a:latin typeface="Times New Roman" panose="02020603050405020304" pitchFamily="18" charset="0"/>
                        <a:ea typeface="Tinos" charset="0"/>
                        <a:cs typeface="Times New Roman" panose="02020603050405020304" pitchFamily="18" charset="0"/>
                      </a:endParaRPr>
                    </a:p>
                  </a:txBody>
                  <a:tcPr marL="28575" marR="35719" marT="35719"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Materials</a:t>
                      </a:r>
                      <a:endParaRPr lang="en-US" sz="800" dirty="0">
                        <a:latin typeface="Times New Roman" panose="02020603050405020304" pitchFamily="18" charset="0"/>
                        <a:ea typeface="Tinos" charset="0"/>
                        <a:cs typeface="Times New Roman" panose="02020603050405020304" pitchFamily="18" charset="0"/>
                      </a:endParaRPr>
                    </a:p>
                  </a:txBody>
                  <a:tcPr marL="28575" marR="35719" marT="35719"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Key Findings</a:t>
                      </a:r>
                      <a:endParaRPr lang="en-US" sz="800" dirty="0">
                        <a:latin typeface="Times New Roman" panose="02020603050405020304" pitchFamily="18" charset="0"/>
                        <a:ea typeface="Tinos" charset="0"/>
                        <a:cs typeface="Times New Roman" panose="02020603050405020304" pitchFamily="18" charset="0"/>
                      </a:endParaRPr>
                    </a:p>
                  </a:txBody>
                  <a:tcPr marL="28575" marR="35719" marT="35719"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Limitations</a:t>
                      </a:r>
                      <a:endParaRPr lang="en-US" sz="800" dirty="0">
                        <a:latin typeface="Times New Roman" panose="02020603050405020304" pitchFamily="18" charset="0"/>
                        <a:ea typeface="Tinos" charset="0"/>
                        <a:cs typeface="Times New Roman" panose="02020603050405020304" pitchFamily="18" charset="0"/>
                      </a:endParaRPr>
                    </a:p>
                  </a:txBody>
                  <a:tcPr marL="28575" marR="35719" marT="35719"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Shamas Mushtaq et al. (2023)</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SnO₂Absorber: MASnBr₃HTL: NiO</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PCE = 34.52%, FF = 88.30%, Voc = 1.1214 V</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Very high theoretical efficiency. Absorber different from Ge-based system.</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B.K. Ravidas et al. (2023)</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TiO₂Absorber: CsSnI₃HTL: P3HT, PEDOT:PSS, Spiro-OMeTAD</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Established link between DFT-calculated bandgap and device efficiency</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Not focused on multi-HTL comparative analysis</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Dibyajyoti Saikia et al. (2022)</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TiO₂Absorber: CsGeI₃HTL: CuI</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Voc = 0.667 V, Optimized PCE = 10.8%, FF = 73.49%</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Did not build large HTL×ETL comparative matrix</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M. Khalid Hossain et al. (2023)</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TiO₂Absorber: CsPbI₃HTL: CBTS</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Maximum PCE = 19.06%. Proper ETL/HTL selection reduced recombination.</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Lead-based CsPbI₃. Limited ETL/HTL comparison.</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Sarra Bouazizi et al. (2022)</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PCBMAbsorber: CsSnI₃HTL: CuI</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Optimized ETL/HTL doping ≈ 10¹⁹ cm⁻³. Best thickness ≈ 480 nm. Max PCE = 18.13%.</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Very low defect density hard to realize. Efficiency drops at high temperature.</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Hossain et al. (2023)</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PCBMAbsorber: CsSnI₃HTL: CuI</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Direct bandgap CsSnI₃ (~0.95 eV) confirmed by DFT. ITO/PCBM/CsSnI₃/CuI/Au achieved ≈ 10.1% PCE.</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Defect density fixed (10¹⁵ cm⁻³) — not realistic.</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Grishma Pindolia et al. (2022)</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TiO₂Absorber: RbGeI₃HTL: NiO</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Optimized thickness: RbGeI₃ = 500 nm, NiO = 100 nm, TiO₂ = 50 nm. PCE = 10.11%, FF = 63.68%.</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Efficiency still lower than lead-based PSCs. Sensitive to defect density.</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Advik Pathak et al. (2026)</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ETL: TiO₂Absorber: MAGeI₃, FAGeI₃, CsGeI₃, RbGeI₃HTL: Spiro-OMeTAD</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RbGeI₃ best performance with PCE ≈ 26.47%. Optimal thickness ≈ 400 nm.</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Ge²⁺ oxidation to Ge⁴⁺ creates high defect density.</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Nishad et al. (2025)</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Various Cu-based HTLs using RbGeI₃ PSC</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Investigated several Cu-based HTLs; proper HTL selection improves carrier extraction and efficiency.</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Focused mainly on HTL selection; comprehensive optimization not performed.</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Chen et al. (2025)</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Gradient-doped RbGeI₃ perovskite solar cell</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Proposed gradient doping in RbGeI₃ absorber to enhance charge transport and improve PV performance.</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Doping profile optimization only; no multi-ETL–HTL evaluation.</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0">
                <a:tc>
                  <a:txBody>
                    <a:bodyPr/>
                    <a:lstStyle/>
                    <a:p>
                      <a:pPr marL="0" indent="0" algn="ctr">
                        <a:buNone/>
                      </a:pPr>
                      <a:r>
                        <a:rPr lang="en-US" sz="800" b="1" dirty="0">
                          <a:solidFill>
                            <a:srgbClr val="000000"/>
                          </a:solidFill>
                          <a:latin typeface="Times New Roman" panose="02020603050405020304" pitchFamily="18" charset="0"/>
                          <a:ea typeface="Tinos" pitchFamily="34" charset="-122"/>
                          <a:cs typeface="Times New Roman" panose="02020603050405020304" pitchFamily="18" charset="0"/>
                        </a:rPr>
                        <a:t>Dash et al. (2025)</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DFT + SCAPS study of RbGeCl₃, RbGeBr₃, RbGeI₃</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Combined DFT with SCAPS-1D; reported RbGeI₃ as most promising among RbGeX₃ family.</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000000"/>
                          </a:solidFill>
                          <a:latin typeface="Times New Roman" panose="02020603050405020304" pitchFamily="18" charset="0"/>
                          <a:ea typeface="Tinos" pitchFamily="34" charset="-122"/>
                          <a:cs typeface="Times New Roman" panose="02020603050405020304" pitchFamily="18" charset="0"/>
                        </a:rPr>
                        <a:t>Material comparison only; not comprehensive device optimization.</a:t>
                      </a:r>
                      <a:endParaRPr lang="en-US" sz="800" dirty="0">
                        <a:latin typeface="Times New Roman" panose="02020603050405020304" pitchFamily="18" charset="0"/>
                        <a:ea typeface="Tinos" charset="0"/>
                        <a:cs typeface="Times New Roman" panose="02020603050405020304" pitchFamily="18" charset="0"/>
                      </a:endParaRPr>
                    </a:p>
                  </a:txBody>
                  <a:tcPr marL="21431" marR="35719" marT="35719" marB="21431">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3"/>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Shape 4"/>
          <p:cNvSpPr/>
          <p:nvPr/>
        </p:nvSpPr>
        <p:spPr>
          <a:xfrm>
            <a:off x="0" y="4822031"/>
            <a:ext cx="9144000" cy="0"/>
          </a:xfrm>
          <a:prstGeom prst="line">
            <a:avLst/>
          </a:prstGeom>
          <a:noFill/>
          <a:ln w="14288">
            <a:solidFill>
              <a:srgbClr val="C4D2B1"/>
            </a:solidFill>
            <a:prstDash val="solid"/>
          </a:ln>
        </p:spPr>
      </p:sp>
      <p:sp>
        <p:nvSpPr>
          <p:cNvPr id="8" name="Text 5"/>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9" name="Text 6"/>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0" name="Text 7"/>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5</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Research Gap</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4335542" cy="246044"/>
          </a:xfrm>
          <a:prstGeom prst="rect">
            <a:avLst/>
          </a:prstGeom>
          <a:noFill/>
          <a:ln/>
        </p:spPr>
        <p:txBody>
          <a:bodyPr wrap="none" lIns="0" tIns="0" rIns="0" bIns="0" rtlCol="0" anchor="t"/>
          <a:lstStyle/>
          <a:p>
            <a:pPr marL="0" indent="0" algn="l">
              <a:lnSpc>
                <a:spcPts val="1794"/>
              </a:lnSpc>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Existing Limitations</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357188" y="1333673"/>
            <a:ext cx="4129088" cy="2119676"/>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Lead-based perovskites (MAPbI₃, FAPbI₃) achieve high PCE but suffer from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toxicity</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and environmental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hazards</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t>
            </a:r>
          </a:p>
          <a:p>
            <a:pPr algn="l">
              <a:lnSpc>
                <a:spcPts val="1550"/>
              </a:lnSpc>
              <a:spcAft>
                <a:spcPts val="450"/>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Tin-based alternatives (MASnI₃, CsSnI₃) degrade rapidly due to Sn²⁺ → Sn⁴⁺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oxidation</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t>
            </a:r>
          </a:p>
          <a:p>
            <a:pPr marL="100013" indent="-100013" algn="l">
              <a:lnSpc>
                <a:spcPts val="1550"/>
              </a:lnSpc>
              <a:spcAft>
                <a:spcPts val="450"/>
              </a:spcAft>
              <a:buSzPct val="100000"/>
              <a:buChar char="•"/>
            </a:pP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RbGeI₃ is environmentally benign and thermally stable but remains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under-explored</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t>
            </a:r>
          </a:p>
          <a:p>
            <a:pPr algn="l">
              <a:lnSpc>
                <a:spcPts val="1550"/>
              </a:lnSpc>
              <a:spcAft>
                <a:spcPts val="450"/>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Limited studies on systematic ETL/HTL screening and full parametric optimization for RbGeI₃ devices.</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4664869" y="892969"/>
            <a:ext cx="4114800" cy="3800475"/>
          </a:xfrm>
          <a:prstGeom prst="rect">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4843463" y="1071563"/>
            <a:ext cx="3757613" cy="246044"/>
          </a:xfrm>
          <a:prstGeom prst="rect">
            <a:avLst/>
          </a:prstGeom>
          <a:noFill/>
          <a:ln/>
        </p:spPr>
        <p:txBody>
          <a:bodyPr wrap="none" lIns="0" tIns="0" rIns="0" bIns="0" rtlCol="0" anchor="t"/>
          <a:lstStyle/>
          <a:p>
            <a:pPr marL="0" indent="0" algn="l">
              <a:lnSpc>
                <a:spcPts val="1794"/>
              </a:lnSpc>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This Study Addresses</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4843463" y="1456544"/>
            <a:ext cx="3757613" cy="1410594"/>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Comprehensive screening of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8 ETL×HTL configurations</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t>
            </a:r>
          </a:p>
          <a:p>
            <a:pPr algn="l">
              <a:lnSpc>
                <a:spcPts val="1550"/>
              </a:lnSpc>
              <a:spcAft>
                <a:spcPts val="450"/>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Systematic optimization of </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11+ device parameters </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via SCAPS-1D.</a:t>
            </a:r>
          </a:p>
          <a:p>
            <a:pPr algn="l">
              <a:lnSpc>
                <a:spcPts val="1550"/>
              </a:lnSpc>
              <a:spcAft>
                <a:spcPts val="450"/>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Lead-free RbGeI₃ absorber with CuI HTL  and 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 </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ETL an under-reported combination.</a:t>
            </a:r>
            <a:endParaRPr lang="en-US" sz="1200" dirty="0">
              <a:latin typeface="Times New Roman" panose="02020603050405020304" pitchFamily="18" charset="0"/>
              <a:cs typeface="Times New Roman" panose="02020603050405020304" pitchFamily="18" charset="0"/>
            </a:endParaRPr>
          </a:p>
        </p:txBody>
      </p:sp>
      <p:sp>
        <p:nvSpPr>
          <p:cNvPr id="10" name="Text 8"/>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0" y="4822031"/>
            <a:ext cx="9144000" cy="0"/>
          </a:xfrm>
          <a:prstGeom prst="line">
            <a:avLst/>
          </a:prstGeom>
          <a:noFill/>
          <a:ln w="14288">
            <a:solidFill>
              <a:srgbClr val="C4D2B1"/>
            </a:solidFill>
            <a:prstDash val="solid"/>
          </a:ln>
        </p:spPr>
      </p:sp>
      <p:sp>
        <p:nvSpPr>
          <p:cNvPr id="12" name="Text 10"/>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3" name="Text 11"/>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4" name="Text 12"/>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6</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85703"/>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Research Objectives</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146447" y="885825"/>
            <a:ext cx="8636000" cy="246044"/>
          </a:xfrm>
          <a:prstGeom prst="rect">
            <a:avLst/>
          </a:prstGeom>
          <a:noFill/>
          <a:ln/>
        </p:spPr>
        <p:txBody>
          <a:bodyPr wrap="none" lIns="0" tIns="0" rIns="0" bIns="0" rtlCol="0" anchor="t"/>
          <a:lstStyle/>
          <a:p>
            <a:pPr marL="0" indent="0" algn="ctr">
              <a:lnSpc>
                <a:spcPts val="1794"/>
              </a:lnSpc>
              <a:buNone/>
            </a:pPr>
            <a:r>
              <a:rPr lang="en-US" sz="1500" b="1" dirty="0">
                <a:solidFill>
                  <a:srgbClr val="000000"/>
                </a:solidFill>
                <a:latin typeface="Times New Roman" panose="02020603050405020304" pitchFamily="18" charset="0"/>
                <a:ea typeface="Tinos" pitchFamily="34" charset="-122"/>
                <a:cs typeface="Times New Roman" panose="02020603050405020304" pitchFamily="18" charset="0"/>
              </a:rPr>
              <a:t>Broad Objective</a:t>
            </a:r>
            <a:endParaRPr lang="en-US" sz="1500" dirty="0">
              <a:latin typeface="Times New Roman" panose="02020603050405020304" pitchFamily="18" charset="0"/>
              <a:cs typeface="Times New Roman" panose="02020603050405020304" pitchFamily="18" charset="0"/>
            </a:endParaRPr>
          </a:p>
        </p:txBody>
      </p:sp>
      <p:sp>
        <p:nvSpPr>
          <p:cNvPr id="6" name="Text 4"/>
          <p:cNvSpPr/>
          <p:nvPr/>
        </p:nvSpPr>
        <p:spPr>
          <a:xfrm>
            <a:off x="710418" y="1170794"/>
            <a:ext cx="7638757" cy="714374"/>
          </a:xfrm>
          <a:prstGeom prst="rect">
            <a:avLst/>
          </a:prstGeom>
          <a:noFill/>
          <a:ln/>
        </p:spPr>
        <p:txBody>
          <a:bodyPr wrap="square" lIns="0" tIns="0" rIns="0" bIns="0" rtlCol="0" anchor="t"/>
          <a:lstStyle/>
          <a:p>
            <a:pPr marL="0" indent="0" algn="ctr">
              <a:lnSpc>
                <a:spcPts val="1631"/>
              </a:lnSpc>
              <a:buNone/>
            </a:pPr>
            <a:r>
              <a:rPr lang="en-US" sz="1400" dirty="0">
                <a:solidFill>
                  <a:srgbClr val="000000"/>
                </a:solidFill>
                <a:latin typeface="Times New Roman" panose="02020603050405020304" pitchFamily="18" charset="0"/>
                <a:ea typeface="Tinos" pitchFamily="34" charset="-122"/>
                <a:cs typeface="Times New Roman" panose="02020603050405020304" pitchFamily="18" charset="0"/>
              </a:rPr>
              <a:t>To </a:t>
            </a: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explore</a:t>
            </a:r>
            <a:r>
              <a:rPr lang="en-US" sz="1400" dirty="0">
                <a:solidFill>
                  <a:srgbClr val="000000"/>
                </a:solidFill>
                <a:latin typeface="Times New Roman" panose="02020603050405020304" pitchFamily="18" charset="0"/>
                <a:ea typeface="Tinos" pitchFamily="34" charset="-122"/>
                <a:cs typeface="Times New Roman" panose="02020603050405020304" pitchFamily="18" charset="0"/>
              </a:rPr>
              <a:t> an environmentally friendly RbGeI₃ absorber based lead-free perovskite solar cell using SCAPS-1D simulation.</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4286250" y="1899456"/>
            <a:ext cx="571500" cy="14288"/>
          </a:xfrm>
          <a:prstGeom prst="rect">
            <a:avLst/>
          </a:prstGeom>
          <a:solidFill>
            <a:srgbClr val="000000"/>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146447" y="2088319"/>
            <a:ext cx="8636000" cy="246044"/>
          </a:xfrm>
          <a:prstGeom prst="rect">
            <a:avLst/>
          </a:prstGeom>
          <a:noFill/>
          <a:ln/>
        </p:spPr>
        <p:txBody>
          <a:bodyPr wrap="none" lIns="0" tIns="0" rIns="0" bIns="0" rtlCol="0" anchor="t"/>
          <a:lstStyle/>
          <a:p>
            <a:pPr marL="0" indent="0" algn="ctr">
              <a:lnSpc>
                <a:spcPts val="1794"/>
              </a:lnSpc>
              <a:buNone/>
            </a:pPr>
            <a:r>
              <a:rPr lang="en-US" sz="1500" b="1" dirty="0">
                <a:solidFill>
                  <a:srgbClr val="000000"/>
                </a:solidFill>
                <a:latin typeface="Times New Roman" panose="02020603050405020304" pitchFamily="18" charset="0"/>
                <a:ea typeface="Tinos" pitchFamily="34" charset="-122"/>
                <a:cs typeface="Times New Roman" panose="02020603050405020304" pitchFamily="18" charset="0"/>
              </a:rPr>
              <a:t>Specific Objectives</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357188" y="2430438"/>
            <a:ext cx="2714625" cy="2270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357188" y="2444725"/>
            <a:ext cx="2714625" cy="0"/>
          </a:xfrm>
          <a:prstGeom prst="line">
            <a:avLst/>
          </a:prstGeom>
          <a:noFill/>
          <a:ln w="28575">
            <a:solidFill>
              <a:srgbClr val="000000"/>
            </a:solidFill>
            <a:prstDash val="solid"/>
          </a:ln>
        </p:spPr>
      </p:sp>
      <p:sp>
        <p:nvSpPr>
          <p:cNvPr id="11" name="Shape 9"/>
          <p:cNvSpPr/>
          <p:nvPr/>
        </p:nvSpPr>
        <p:spPr>
          <a:xfrm>
            <a:off x="3068241" y="2430438"/>
            <a:ext cx="0" cy="2270150"/>
          </a:xfrm>
          <a:prstGeom prst="line">
            <a:avLst/>
          </a:prstGeom>
          <a:noFill/>
          <a:ln w="7144">
            <a:solidFill>
              <a:srgbClr val="000000"/>
            </a:solidFill>
            <a:prstDash val="solid"/>
          </a:ln>
        </p:spPr>
      </p:sp>
      <p:sp>
        <p:nvSpPr>
          <p:cNvPr id="12" name="Shape 10"/>
          <p:cNvSpPr/>
          <p:nvPr/>
        </p:nvSpPr>
        <p:spPr>
          <a:xfrm>
            <a:off x="357188" y="4697016"/>
            <a:ext cx="2714625" cy="0"/>
          </a:xfrm>
          <a:prstGeom prst="line">
            <a:avLst/>
          </a:prstGeom>
          <a:noFill/>
          <a:ln w="7144">
            <a:solidFill>
              <a:srgbClr val="000000"/>
            </a:solidFill>
            <a:prstDash val="solid"/>
          </a:ln>
        </p:spPr>
      </p:sp>
      <p:sp>
        <p:nvSpPr>
          <p:cNvPr id="13" name="Shape 11"/>
          <p:cNvSpPr/>
          <p:nvPr/>
        </p:nvSpPr>
        <p:spPr>
          <a:xfrm>
            <a:off x="360759" y="2430438"/>
            <a:ext cx="0" cy="2270150"/>
          </a:xfrm>
          <a:prstGeom prst="line">
            <a:avLst/>
          </a:prstGeom>
          <a:noFill/>
          <a:ln w="7144">
            <a:solidFill>
              <a:srgbClr val="000000"/>
            </a:solidFill>
            <a:prstDash val="solid"/>
          </a:ln>
        </p:spPr>
      </p:sp>
      <p:sp>
        <p:nvSpPr>
          <p:cNvPr id="14" name="Text 12"/>
          <p:cNvSpPr/>
          <p:nvPr/>
        </p:nvSpPr>
        <p:spPr>
          <a:xfrm>
            <a:off x="1543050" y="2609031"/>
            <a:ext cx="342900" cy="342900"/>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1535906" y="2601888"/>
            <a:ext cx="357188" cy="357188"/>
          </a:xfrm>
          <a:prstGeom prst="rect">
            <a:avLst/>
          </a:prstGeom>
          <a:noFill/>
          <a:ln/>
        </p:spPr>
        <p:txBody>
          <a:bodyPr wrap="none" lIns="0" tIns="0" rIns="0" bIns="0" rtlCol="0" anchor="ctr"/>
          <a:lstStyle/>
          <a:p>
            <a:pPr marL="0" indent="0" algn="ctr">
              <a:lnSpc>
                <a:spcPts val="1958"/>
              </a:lnSpc>
              <a:buNone/>
            </a:pPr>
            <a:r>
              <a:rPr lang="en-US" sz="135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a:t>
            </a:r>
            <a:endParaRPr lang="en-US" sz="1350" dirty="0">
              <a:latin typeface="Times New Roman" panose="02020603050405020304" pitchFamily="18" charset="0"/>
              <a:cs typeface="Times New Roman" panose="02020603050405020304" pitchFamily="18" charset="0"/>
            </a:endParaRPr>
          </a:p>
        </p:txBody>
      </p:sp>
      <p:sp>
        <p:nvSpPr>
          <p:cNvPr id="16" name="Text 14"/>
          <p:cNvSpPr/>
          <p:nvPr/>
        </p:nvSpPr>
        <p:spPr>
          <a:xfrm>
            <a:off x="589404" y="3044800"/>
            <a:ext cx="2250080" cy="223742"/>
          </a:xfrm>
          <a:prstGeom prst="rect">
            <a:avLst/>
          </a:prstGeom>
          <a:noFill/>
          <a:ln/>
        </p:spPr>
        <p:txBody>
          <a:bodyPr wrap="square" lIns="0" tIns="0" rIns="0" bIns="0" rtlCol="0" anchor="t"/>
          <a:lstStyle/>
          <a:p>
            <a:pPr marL="0" indent="0" algn="ctr">
              <a:lnSpc>
                <a:spcPts val="1631"/>
              </a:lnSpc>
              <a:buNone/>
            </a:pPr>
            <a:r>
              <a:rPr lang="en-US" sz="1300" b="1" dirty="0">
                <a:solidFill>
                  <a:srgbClr val="000000"/>
                </a:solidFill>
                <a:latin typeface="Times New Roman" panose="02020603050405020304" pitchFamily="18" charset="0"/>
                <a:ea typeface="Tinos" pitchFamily="34" charset="-122"/>
                <a:cs typeface="Times New Roman" panose="02020603050405020304" pitchFamily="18" charset="0"/>
              </a:rPr>
              <a:t>Charge Transport Layer Selection</a:t>
            </a:r>
            <a:endParaRPr lang="en-US" sz="1300" dirty="0">
              <a:latin typeface="Times New Roman" panose="02020603050405020304" pitchFamily="18" charset="0"/>
              <a:cs typeface="Times New Roman" panose="02020603050405020304" pitchFamily="18" charset="0"/>
            </a:endParaRPr>
          </a:p>
        </p:txBody>
      </p:sp>
      <p:sp>
        <p:nvSpPr>
          <p:cNvPr id="17" name="Text 15"/>
          <p:cNvSpPr/>
          <p:nvPr/>
        </p:nvSpPr>
        <p:spPr>
          <a:xfrm>
            <a:off x="507205" y="3552004"/>
            <a:ext cx="2414588" cy="471351"/>
          </a:xfrm>
          <a:prstGeom prst="rect">
            <a:avLst/>
          </a:prstGeom>
          <a:noFill/>
          <a:ln/>
        </p:spPr>
        <p:txBody>
          <a:bodyPr wrap="square" lIns="0" tIns="0" rIns="0" bIns="0" rtlCol="0" anchor="t"/>
          <a:lstStyle/>
          <a:p>
            <a:pPr marL="0" indent="0" algn="ctr">
              <a:lnSpc>
                <a:spcPts val="1305"/>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Screen efficient ETL and HTL combinations for RbGeI</a:t>
            </a:r>
            <a:r>
              <a:rPr lang="en-US" sz="1200" baseline="-25000" dirty="0">
                <a:solidFill>
                  <a:srgbClr val="333333"/>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8" name="Text 16"/>
          <p:cNvSpPr/>
          <p:nvPr/>
        </p:nvSpPr>
        <p:spPr>
          <a:xfrm>
            <a:off x="3214688" y="2430438"/>
            <a:ext cx="2714625" cy="2270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9" name="Shape 17"/>
          <p:cNvSpPr/>
          <p:nvPr/>
        </p:nvSpPr>
        <p:spPr>
          <a:xfrm>
            <a:off x="3214688" y="2444725"/>
            <a:ext cx="2714625" cy="0"/>
          </a:xfrm>
          <a:prstGeom prst="line">
            <a:avLst/>
          </a:prstGeom>
          <a:noFill/>
          <a:ln w="28575">
            <a:solidFill>
              <a:srgbClr val="000000"/>
            </a:solidFill>
            <a:prstDash val="solid"/>
          </a:ln>
        </p:spPr>
      </p:sp>
      <p:sp>
        <p:nvSpPr>
          <p:cNvPr id="20" name="Shape 18"/>
          <p:cNvSpPr/>
          <p:nvPr/>
        </p:nvSpPr>
        <p:spPr>
          <a:xfrm>
            <a:off x="5925741" y="2430438"/>
            <a:ext cx="0" cy="2270150"/>
          </a:xfrm>
          <a:prstGeom prst="line">
            <a:avLst/>
          </a:prstGeom>
          <a:noFill/>
          <a:ln w="7144">
            <a:solidFill>
              <a:srgbClr val="000000"/>
            </a:solidFill>
            <a:prstDash val="solid"/>
          </a:ln>
        </p:spPr>
      </p:sp>
      <p:sp>
        <p:nvSpPr>
          <p:cNvPr id="21" name="Shape 19"/>
          <p:cNvSpPr/>
          <p:nvPr/>
        </p:nvSpPr>
        <p:spPr>
          <a:xfrm>
            <a:off x="3214688" y="4697016"/>
            <a:ext cx="2714625" cy="0"/>
          </a:xfrm>
          <a:prstGeom prst="line">
            <a:avLst/>
          </a:prstGeom>
          <a:noFill/>
          <a:ln w="7144">
            <a:solidFill>
              <a:srgbClr val="000000"/>
            </a:solidFill>
            <a:prstDash val="solid"/>
          </a:ln>
        </p:spPr>
      </p:sp>
      <p:sp>
        <p:nvSpPr>
          <p:cNvPr id="22" name="Shape 20"/>
          <p:cNvSpPr/>
          <p:nvPr/>
        </p:nvSpPr>
        <p:spPr>
          <a:xfrm>
            <a:off x="3218259" y="2430438"/>
            <a:ext cx="0" cy="2270150"/>
          </a:xfrm>
          <a:prstGeom prst="line">
            <a:avLst/>
          </a:prstGeom>
          <a:noFill/>
          <a:ln w="7144">
            <a:solidFill>
              <a:srgbClr val="000000"/>
            </a:solidFill>
            <a:prstDash val="solid"/>
          </a:ln>
        </p:spPr>
      </p:sp>
      <p:sp>
        <p:nvSpPr>
          <p:cNvPr id="23" name="Text 21"/>
          <p:cNvSpPr/>
          <p:nvPr/>
        </p:nvSpPr>
        <p:spPr>
          <a:xfrm>
            <a:off x="4400550" y="2609031"/>
            <a:ext cx="342900" cy="342900"/>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4393406" y="2601888"/>
            <a:ext cx="357188" cy="357188"/>
          </a:xfrm>
          <a:prstGeom prst="rect">
            <a:avLst/>
          </a:prstGeom>
          <a:noFill/>
          <a:ln/>
        </p:spPr>
        <p:txBody>
          <a:bodyPr wrap="none" lIns="0" tIns="0" rIns="0" bIns="0" rtlCol="0" anchor="ctr"/>
          <a:lstStyle/>
          <a:p>
            <a:pPr marL="0" indent="0" algn="ctr">
              <a:lnSpc>
                <a:spcPts val="1958"/>
              </a:lnSpc>
              <a:buNone/>
            </a:pPr>
            <a:r>
              <a:rPr lang="en-US" sz="135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a:t>
            </a:r>
            <a:endParaRPr lang="en-US" sz="1350" dirty="0">
              <a:latin typeface="Times New Roman" panose="02020603050405020304" pitchFamily="18" charset="0"/>
              <a:cs typeface="Times New Roman" panose="02020603050405020304" pitchFamily="18" charset="0"/>
            </a:endParaRPr>
          </a:p>
        </p:txBody>
      </p:sp>
      <p:sp>
        <p:nvSpPr>
          <p:cNvPr id="25" name="Text 23"/>
          <p:cNvSpPr/>
          <p:nvPr/>
        </p:nvSpPr>
        <p:spPr>
          <a:xfrm>
            <a:off x="3573237" y="3044800"/>
            <a:ext cx="1997526" cy="223742"/>
          </a:xfrm>
          <a:prstGeom prst="rect">
            <a:avLst/>
          </a:prstGeom>
          <a:noFill/>
          <a:ln/>
        </p:spPr>
        <p:txBody>
          <a:bodyPr wrap="square" lIns="0" tIns="0" rIns="0" bIns="0" rtlCol="0" anchor="t"/>
          <a:lstStyle/>
          <a:p>
            <a:pPr marL="0" indent="0" algn="ctr">
              <a:lnSpc>
                <a:spcPts val="1631"/>
              </a:lnSpc>
              <a:buNone/>
            </a:pPr>
            <a:r>
              <a:rPr lang="en-US" sz="1300" b="1" dirty="0">
                <a:solidFill>
                  <a:srgbClr val="000000"/>
                </a:solidFill>
                <a:latin typeface="Times New Roman" panose="02020603050405020304" pitchFamily="18" charset="0"/>
                <a:ea typeface="Tinos" pitchFamily="34" charset="-122"/>
                <a:cs typeface="Times New Roman" panose="02020603050405020304" pitchFamily="18" charset="0"/>
              </a:rPr>
              <a:t>Device Configuration Analysis</a:t>
            </a:r>
            <a:endParaRPr lang="en-US" sz="1300" dirty="0">
              <a:latin typeface="Times New Roman" panose="02020603050405020304" pitchFamily="18" charset="0"/>
              <a:cs typeface="Times New Roman" panose="02020603050405020304" pitchFamily="18" charset="0"/>
            </a:endParaRPr>
          </a:p>
        </p:txBody>
      </p:sp>
      <p:sp>
        <p:nvSpPr>
          <p:cNvPr id="26" name="Text 24"/>
          <p:cNvSpPr/>
          <p:nvPr/>
        </p:nvSpPr>
        <p:spPr>
          <a:xfrm>
            <a:off x="3364706" y="3552004"/>
            <a:ext cx="2414588" cy="471350"/>
          </a:xfrm>
          <a:prstGeom prst="rect">
            <a:avLst/>
          </a:prstGeom>
          <a:noFill/>
          <a:ln/>
        </p:spPr>
        <p:txBody>
          <a:bodyPr wrap="square" lIns="0" tIns="0" rIns="0" bIns="0" rtlCol="0" anchor="t"/>
          <a:lstStyle/>
          <a:p>
            <a:pPr marL="0" indent="0" algn="ctr">
              <a:lnSpc>
                <a:spcPts val="1305"/>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Compare 8 device structures and identify the optimum architecture.</a:t>
            </a:r>
            <a:endParaRPr lang="en-US" sz="1200" dirty="0">
              <a:latin typeface="Times New Roman" panose="02020603050405020304" pitchFamily="18" charset="0"/>
              <a:cs typeface="Times New Roman" panose="02020603050405020304" pitchFamily="18" charset="0"/>
            </a:endParaRPr>
          </a:p>
        </p:txBody>
      </p:sp>
      <p:sp>
        <p:nvSpPr>
          <p:cNvPr id="27" name="Text 25"/>
          <p:cNvSpPr/>
          <p:nvPr/>
        </p:nvSpPr>
        <p:spPr>
          <a:xfrm>
            <a:off x="6072188" y="2430438"/>
            <a:ext cx="2714625" cy="227015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8" name="Shape 26"/>
          <p:cNvSpPr/>
          <p:nvPr/>
        </p:nvSpPr>
        <p:spPr>
          <a:xfrm>
            <a:off x="6072188" y="2444725"/>
            <a:ext cx="2714625" cy="0"/>
          </a:xfrm>
          <a:prstGeom prst="line">
            <a:avLst/>
          </a:prstGeom>
          <a:noFill/>
          <a:ln w="28575">
            <a:solidFill>
              <a:srgbClr val="000000"/>
            </a:solidFill>
            <a:prstDash val="solid"/>
          </a:ln>
        </p:spPr>
      </p:sp>
      <p:sp>
        <p:nvSpPr>
          <p:cNvPr id="29" name="Shape 27"/>
          <p:cNvSpPr/>
          <p:nvPr/>
        </p:nvSpPr>
        <p:spPr>
          <a:xfrm>
            <a:off x="8783241" y="2430438"/>
            <a:ext cx="0" cy="2270150"/>
          </a:xfrm>
          <a:prstGeom prst="line">
            <a:avLst/>
          </a:prstGeom>
          <a:noFill/>
          <a:ln w="7144">
            <a:solidFill>
              <a:srgbClr val="000000"/>
            </a:solidFill>
            <a:prstDash val="solid"/>
          </a:ln>
        </p:spPr>
      </p:sp>
      <p:sp>
        <p:nvSpPr>
          <p:cNvPr id="30" name="Shape 28"/>
          <p:cNvSpPr/>
          <p:nvPr/>
        </p:nvSpPr>
        <p:spPr>
          <a:xfrm>
            <a:off x="6072188" y="4697016"/>
            <a:ext cx="2714625" cy="0"/>
          </a:xfrm>
          <a:prstGeom prst="line">
            <a:avLst/>
          </a:prstGeom>
          <a:noFill/>
          <a:ln w="7144">
            <a:solidFill>
              <a:srgbClr val="000000"/>
            </a:solidFill>
            <a:prstDash val="solid"/>
          </a:ln>
        </p:spPr>
      </p:sp>
      <p:sp>
        <p:nvSpPr>
          <p:cNvPr id="31" name="Shape 29"/>
          <p:cNvSpPr/>
          <p:nvPr/>
        </p:nvSpPr>
        <p:spPr>
          <a:xfrm>
            <a:off x="6075759" y="2430438"/>
            <a:ext cx="0" cy="2270150"/>
          </a:xfrm>
          <a:prstGeom prst="line">
            <a:avLst/>
          </a:prstGeom>
          <a:noFill/>
          <a:ln w="7144">
            <a:solidFill>
              <a:srgbClr val="000000"/>
            </a:solidFill>
            <a:prstDash val="solid"/>
          </a:ln>
        </p:spPr>
      </p:sp>
      <p:sp>
        <p:nvSpPr>
          <p:cNvPr id="32" name="Text 30"/>
          <p:cNvSpPr/>
          <p:nvPr/>
        </p:nvSpPr>
        <p:spPr>
          <a:xfrm>
            <a:off x="7258050" y="2609031"/>
            <a:ext cx="342900" cy="342900"/>
          </a:xfrm>
          <a:prstGeom prst="ellipse">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3" name="Text 31"/>
          <p:cNvSpPr/>
          <p:nvPr/>
        </p:nvSpPr>
        <p:spPr>
          <a:xfrm>
            <a:off x="7250906" y="2601888"/>
            <a:ext cx="357188" cy="357188"/>
          </a:xfrm>
          <a:prstGeom prst="rect">
            <a:avLst/>
          </a:prstGeom>
          <a:noFill/>
          <a:ln/>
        </p:spPr>
        <p:txBody>
          <a:bodyPr wrap="none" lIns="0" tIns="0" rIns="0" bIns="0" rtlCol="0" anchor="ctr"/>
          <a:lstStyle/>
          <a:p>
            <a:pPr marL="0" indent="0" algn="ctr">
              <a:lnSpc>
                <a:spcPts val="1958"/>
              </a:lnSpc>
              <a:buNone/>
            </a:pPr>
            <a:r>
              <a:rPr lang="en-US" sz="1350" b="1" dirty="0">
                <a:solidFill>
                  <a:srgbClr val="000000"/>
                </a:solidFill>
                <a:latin typeface="Times New Roman" panose="02020603050405020304" pitchFamily="18" charset="0"/>
                <a:ea typeface="Liberation Sans Narrow" pitchFamily="34" charset="-122"/>
                <a:cs typeface="Times New Roman" panose="02020603050405020304" pitchFamily="18" charset="0"/>
              </a:rPr>
              <a:t>3</a:t>
            </a:r>
            <a:endParaRPr lang="en-US" sz="1350" dirty="0">
              <a:latin typeface="Times New Roman" panose="02020603050405020304" pitchFamily="18" charset="0"/>
              <a:cs typeface="Times New Roman" panose="02020603050405020304" pitchFamily="18" charset="0"/>
            </a:endParaRPr>
          </a:p>
        </p:txBody>
      </p:sp>
      <p:sp>
        <p:nvSpPr>
          <p:cNvPr id="34" name="Text 32"/>
          <p:cNvSpPr/>
          <p:nvPr/>
        </p:nvSpPr>
        <p:spPr>
          <a:xfrm>
            <a:off x="6623384" y="3044800"/>
            <a:ext cx="1612233" cy="223742"/>
          </a:xfrm>
          <a:prstGeom prst="rect">
            <a:avLst/>
          </a:prstGeom>
          <a:noFill/>
          <a:ln/>
        </p:spPr>
        <p:txBody>
          <a:bodyPr wrap="none" lIns="0" tIns="0" rIns="0" bIns="0" rtlCol="0" anchor="t"/>
          <a:lstStyle/>
          <a:p>
            <a:pPr marL="0" indent="0" algn="ctr">
              <a:lnSpc>
                <a:spcPts val="1631"/>
              </a:lnSpc>
              <a:buNone/>
            </a:pPr>
            <a:r>
              <a:rPr lang="en-US" sz="1300" b="1" dirty="0">
                <a:solidFill>
                  <a:srgbClr val="000000"/>
                </a:solidFill>
                <a:latin typeface="Times New Roman" panose="02020603050405020304" pitchFamily="18" charset="0"/>
                <a:ea typeface="Tinos" pitchFamily="34" charset="-122"/>
                <a:cs typeface="Times New Roman" panose="02020603050405020304" pitchFamily="18" charset="0"/>
              </a:rPr>
              <a:t>Parametric Optimization</a:t>
            </a:r>
            <a:endParaRPr lang="en-US" sz="1300" dirty="0">
              <a:latin typeface="Times New Roman" panose="02020603050405020304" pitchFamily="18" charset="0"/>
              <a:cs typeface="Times New Roman" panose="02020603050405020304" pitchFamily="18" charset="0"/>
            </a:endParaRPr>
          </a:p>
        </p:txBody>
      </p:sp>
      <p:sp>
        <p:nvSpPr>
          <p:cNvPr id="35" name="Text 33"/>
          <p:cNvSpPr/>
          <p:nvPr/>
        </p:nvSpPr>
        <p:spPr>
          <a:xfrm>
            <a:off x="6222206" y="3552004"/>
            <a:ext cx="2414588" cy="471351"/>
          </a:xfrm>
          <a:prstGeom prst="rect">
            <a:avLst/>
          </a:prstGeom>
          <a:noFill/>
          <a:ln/>
        </p:spPr>
        <p:txBody>
          <a:bodyPr wrap="square" lIns="0" tIns="0" rIns="0" bIns="0" rtlCol="0" anchor="t"/>
          <a:lstStyle/>
          <a:p>
            <a:pPr marL="0" indent="0" algn="ctr">
              <a:lnSpc>
                <a:spcPts val="1305"/>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Optimize thickness, defect density, bandgap, and interface properties for maximum PCE.</a:t>
            </a:r>
            <a:endParaRPr lang="en-US" sz="1200" dirty="0">
              <a:latin typeface="Times New Roman" panose="02020603050405020304" pitchFamily="18" charset="0"/>
              <a:cs typeface="Times New Roman" panose="02020603050405020304" pitchFamily="18" charset="0"/>
            </a:endParaRPr>
          </a:p>
        </p:txBody>
      </p:sp>
      <p:sp>
        <p:nvSpPr>
          <p:cNvPr id="36" name="Text 34"/>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7" name="Shape 35"/>
          <p:cNvSpPr/>
          <p:nvPr/>
        </p:nvSpPr>
        <p:spPr>
          <a:xfrm>
            <a:off x="0" y="4822031"/>
            <a:ext cx="9144000" cy="0"/>
          </a:xfrm>
          <a:prstGeom prst="line">
            <a:avLst/>
          </a:prstGeom>
          <a:noFill/>
          <a:ln w="14288">
            <a:solidFill>
              <a:srgbClr val="C4D2B1"/>
            </a:solidFill>
            <a:prstDash val="solid"/>
          </a:ln>
        </p:spPr>
      </p:sp>
      <p:sp>
        <p:nvSpPr>
          <p:cNvPr id="38" name="Text 36"/>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39" name="Text 37"/>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7</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Liberation Sans Narrow" pitchFamily="34" charset="-122"/>
                <a:cs typeface="Times New Roman" panose="02020603050405020304" pitchFamily="18" charset="0"/>
              </a:rPr>
              <a:t>Methodology — SCAPS-1D Simulation</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920995"/>
            <a:ext cx="3901894" cy="201320"/>
          </a:xfrm>
          <a:prstGeom prst="rect">
            <a:avLst/>
          </a:prstGeom>
          <a:noFill/>
          <a:ln/>
        </p:spPr>
        <p:txBody>
          <a:bodyPr wrap="none" lIns="0" tIns="0" rIns="0" bIns="0" rtlCol="0" anchor="t"/>
          <a:lstStyle/>
          <a:p>
            <a:pPr marL="0" indent="0" algn="l">
              <a:lnSpc>
                <a:spcPts val="1468"/>
              </a:lnSpc>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Simulation Tool</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357188" y="1178401"/>
            <a:ext cx="3716089" cy="926375"/>
          </a:xfrm>
          <a:prstGeom prst="rect">
            <a:avLst/>
          </a:prstGeom>
          <a:noFill/>
          <a:ln/>
        </p:spPr>
        <p:txBody>
          <a:bodyPr wrap="square" lIns="100013" tIns="0" rIns="0" bIns="0" rtlCol="0" anchor="t"/>
          <a:lstStyle/>
          <a:p>
            <a:pPr marL="100013" indent="-100013" algn="l">
              <a:lnSpc>
                <a:spcPts val="1063"/>
              </a:lnSpc>
              <a:spcAft>
                <a:spcPts val="225"/>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SCAPS-1D (Solar Cell Capacitance Simulator, 1-D) — University of Gent, Belgium.</a:t>
            </a:r>
          </a:p>
          <a:p>
            <a:pPr algn="l">
              <a:lnSpc>
                <a:spcPts val="1063"/>
              </a:lnSpc>
              <a:spcAft>
                <a:spcPts val="225"/>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063"/>
              </a:lnSpc>
              <a:spcAft>
                <a:spcPts val="225"/>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Models charge transport, recombination, and interface behaviour in multilayer thin-film solar cells.</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57188" y="2701300"/>
            <a:ext cx="3901894" cy="201320"/>
          </a:xfrm>
          <a:prstGeom prst="rect">
            <a:avLst/>
          </a:prstGeom>
          <a:noFill/>
          <a:ln/>
        </p:spPr>
        <p:txBody>
          <a:bodyPr wrap="none" lIns="0" tIns="0" rIns="0" bIns="0" rtlCol="0" anchor="t"/>
          <a:lstStyle/>
          <a:p>
            <a:pPr marL="0" indent="0" algn="l">
              <a:lnSpc>
                <a:spcPts val="1468"/>
              </a:lnSpc>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Standard Test Conditions</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57188" y="2951895"/>
            <a:ext cx="3716089" cy="607256"/>
          </a:xfrm>
          <a:prstGeom prst="rect">
            <a:avLst/>
          </a:prstGeom>
          <a:noFill/>
          <a:ln/>
        </p:spPr>
        <p:txBody>
          <a:bodyPr wrap="square" lIns="100013" tIns="0" rIns="0" bIns="0" rtlCol="0" anchor="t"/>
          <a:lstStyle/>
          <a:p>
            <a:pPr marL="100013" indent="-100013" algn="l">
              <a:lnSpc>
                <a:spcPts val="1063"/>
              </a:lnSpc>
              <a:spcAft>
                <a:spcPts val="225"/>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Illumination: AM 1.5G spectrum, 1000 W/m².</a:t>
            </a:r>
            <a:endParaRPr lang="en-US" sz="1200" dirty="0">
              <a:latin typeface="Times New Roman" panose="02020603050405020304" pitchFamily="18" charset="0"/>
              <a:cs typeface="Times New Roman" panose="02020603050405020304" pitchFamily="18" charset="0"/>
            </a:endParaRPr>
          </a:p>
          <a:p>
            <a:pPr marL="100013" indent="-100013" algn="l">
              <a:lnSpc>
                <a:spcPts val="1063"/>
              </a:lnSpc>
              <a:spcAft>
                <a:spcPts val="225"/>
              </a:spcAft>
              <a:buSzPct val="100000"/>
              <a:buChar char="•"/>
            </a:pPr>
            <a:r>
              <a:rPr lang="en-US" sz="1200" dirty="0">
                <a:solidFill>
                  <a:srgbClr val="000000"/>
                </a:solidFill>
                <a:latin typeface="Times New Roman" panose="02020603050405020304" pitchFamily="18" charset="0"/>
                <a:ea typeface="Liberation Sans Narrow" pitchFamily="34" charset="-122"/>
                <a:cs typeface="Times New Roman" panose="02020603050405020304" pitchFamily="18" charset="0"/>
              </a:rPr>
              <a:t>Temperature: 300 K.</a:t>
            </a:r>
            <a:endParaRPr lang="en-US" sz="1200" dirty="0">
              <a:latin typeface="Times New Roman" panose="02020603050405020304" pitchFamily="18" charset="0"/>
              <a:cs typeface="Times New Roman" panose="02020603050405020304" pitchFamily="18" charset="0"/>
            </a:endParaRPr>
          </a:p>
          <a:p>
            <a:pPr marL="100013" indent="-100013" algn="l">
              <a:lnSpc>
                <a:spcPts val="1063"/>
              </a:lnSpc>
              <a:spcAft>
                <a:spcPts val="225"/>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Performance metrics: V</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J</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FF, PCE.</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357188" y="3636225"/>
            <a:ext cx="3901894" cy="201320"/>
          </a:xfrm>
          <a:prstGeom prst="rect">
            <a:avLst/>
          </a:prstGeom>
          <a:noFill/>
          <a:ln/>
        </p:spPr>
        <p:txBody>
          <a:bodyPr wrap="none" lIns="0" tIns="0" rIns="0" bIns="0" rtlCol="0" anchor="t"/>
          <a:lstStyle/>
          <a:p>
            <a:pPr marL="0" indent="0" algn="l">
              <a:lnSpc>
                <a:spcPts val="1468"/>
              </a:lnSpc>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Performance Equations</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57188" y="3834052"/>
            <a:ext cx="3708946" cy="478631"/>
          </a:xfrm>
          <a:prstGeom prst="rect">
            <a:avLst/>
          </a:prstGeom>
          <a:solidFill>
            <a:srgbClr val="F5F5F5"/>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350045" y="3830527"/>
            <a:ext cx="3716089" cy="621792"/>
          </a:xfrm>
          <a:prstGeom prst="rect">
            <a:avLst/>
          </a:prstGeom>
          <a:noFill/>
          <a:ln/>
        </p:spPr>
        <p:txBody>
          <a:bodyPr wrap="square" lIns="71438" tIns="42863" rIns="71438" bIns="42863" rtlCol="0" anchor="t"/>
          <a:lstStyle/>
          <a:p>
            <a:pPr marL="0" indent="0" algn="l">
              <a:lnSpc>
                <a:spcPts val="1013"/>
              </a:lnSpc>
              <a:buNone/>
            </a:pP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FF = (V</a:t>
            </a:r>
            <a:r>
              <a:rPr lang="en-US" sz="1200" i="1" baseline="-40000" dirty="0">
                <a:solidFill>
                  <a:srgbClr val="000000"/>
                </a:solidFill>
                <a:latin typeface="Times New Roman" panose="02020603050405020304" pitchFamily="18" charset="0"/>
                <a:ea typeface="Tinos" pitchFamily="34" charset="-122"/>
                <a:cs typeface="Times New Roman" panose="02020603050405020304" pitchFamily="18" charset="0"/>
              </a:rPr>
              <a:t>mp</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 × J</a:t>
            </a:r>
            <a:r>
              <a:rPr lang="en-US" sz="1200" i="1" baseline="-40000" dirty="0">
                <a:solidFill>
                  <a:srgbClr val="000000"/>
                </a:solidFill>
                <a:latin typeface="Times New Roman" panose="02020603050405020304" pitchFamily="18" charset="0"/>
                <a:ea typeface="Tinos" pitchFamily="34" charset="-122"/>
                <a:cs typeface="Times New Roman" panose="02020603050405020304" pitchFamily="18" charset="0"/>
              </a:rPr>
              <a:t>mp</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 / (V</a:t>
            </a:r>
            <a:r>
              <a:rPr lang="en-US" sz="1200" i="1" baseline="-40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 × </a:t>
            </a:r>
            <a:r>
              <a:rPr lang="en-US" sz="1200" i="1" dirty="0" err="1">
                <a:solidFill>
                  <a:srgbClr val="000000"/>
                </a:solidFill>
                <a:latin typeface="Times New Roman" panose="02020603050405020304" pitchFamily="18" charset="0"/>
                <a:ea typeface="Tinos" pitchFamily="34" charset="-122"/>
                <a:cs typeface="Times New Roman" panose="02020603050405020304" pitchFamily="18" charset="0"/>
              </a:rPr>
              <a:t>J</a:t>
            </a:r>
            <a:r>
              <a:rPr lang="en-US" sz="1200" i="1" baseline="-40000" dirty="0" err="1">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a:t>
            </a:r>
          </a:p>
          <a:p>
            <a:pPr marL="0" indent="0" algn="l">
              <a:lnSpc>
                <a:spcPts val="1013"/>
              </a:lnSpc>
              <a:buNone/>
            </a:pPr>
            <a:endParaRPr lang="en-US" sz="1200" dirty="0">
              <a:latin typeface="Times New Roman" panose="02020603050405020304" pitchFamily="18" charset="0"/>
              <a:cs typeface="Times New Roman" panose="02020603050405020304" pitchFamily="18" charset="0"/>
            </a:endParaRPr>
          </a:p>
          <a:p>
            <a:pPr marL="0" indent="0" algn="l">
              <a:lnSpc>
                <a:spcPts val="1013"/>
              </a:lnSpc>
              <a:buNone/>
            </a:pP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PCE = (</a:t>
            </a:r>
            <a:r>
              <a:rPr lang="en-US" sz="1200" i="1" dirty="0" err="1">
                <a:solidFill>
                  <a:srgbClr val="000000"/>
                </a:solidFill>
                <a:latin typeface="Times New Roman" panose="02020603050405020304" pitchFamily="18" charset="0"/>
                <a:ea typeface="Tinos" pitchFamily="34" charset="-122"/>
                <a:cs typeface="Times New Roman" panose="02020603050405020304" pitchFamily="18" charset="0"/>
              </a:rPr>
              <a:t>V</a:t>
            </a:r>
            <a:r>
              <a:rPr lang="en-US" sz="1200" i="1" baseline="-40000" dirty="0" err="1">
                <a:solidFill>
                  <a:srgbClr val="000000"/>
                </a:solidFill>
                <a:latin typeface="Times New Roman" panose="02020603050405020304" pitchFamily="18" charset="0"/>
                <a:ea typeface="Tinos" pitchFamily="34" charset="-122"/>
                <a:cs typeface="Times New Roman" panose="02020603050405020304" pitchFamily="18" charset="0"/>
              </a:rPr>
              <a:t>oc</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 </a:t>
            </a:r>
            <a:r>
              <a:rPr lang="en-US" sz="1200" i="1" dirty="0" err="1">
                <a:solidFill>
                  <a:srgbClr val="000000"/>
                </a:solidFill>
                <a:latin typeface="Times New Roman" panose="02020603050405020304" pitchFamily="18" charset="0"/>
                <a:ea typeface="Tinos" pitchFamily="34" charset="-122"/>
                <a:cs typeface="Times New Roman" panose="02020603050405020304" pitchFamily="18" charset="0"/>
              </a:rPr>
              <a:t>J</a:t>
            </a:r>
            <a:r>
              <a:rPr lang="en-US" sz="1200" i="1" baseline="-40000" dirty="0" err="1">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i="1" dirty="0">
                <a:solidFill>
                  <a:srgbClr val="000000"/>
                </a:solidFill>
                <a:latin typeface="Times New Roman" panose="02020603050405020304" pitchFamily="18" charset="0"/>
                <a:ea typeface="Tinos" pitchFamily="34" charset="-122"/>
                <a:cs typeface="Times New Roman" panose="02020603050405020304" pitchFamily="18" charset="0"/>
              </a:rPr>
              <a:t> × FF) / P</a:t>
            </a:r>
            <a:r>
              <a:rPr lang="en-US" sz="1200" i="1" baseline="-40000" dirty="0">
                <a:solidFill>
                  <a:srgbClr val="000000"/>
                </a:solidFill>
                <a:latin typeface="Times New Roman" panose="02020603050405020304" pitchFamily="18" charset="0"/>
                <a:ea typeface="Tinos" pitchFamily="34" charset="-122"/>
                <a:cs typeface="Times New Roman" panose="02020603050405020304" pitchFamily="18" charset="0"/>
              </a:rPr>
              <a:t>in</a:t>
            </a:r>
            <a:r>
              <a:rPr lang="en-US" sz="1200" i="1" dirty="0">
                <a:solidFill>
                  <a:srgbClr val="000000"/>
                </a:solidFill>
                <a:latin typeface="Times New Roman" panose="02020603050405020304" pitchFamily="18" charset="0"/>
                <a:ea typeface="Liberation Sans Narrow" pitchFamily="34" charset="-122"/>
                <a:cs typeface="Times New Roman" panose="02020603050405020304" pitchFamily="18" charset="0"/>
              </a:rPr>
              <a:t> × 100%</a:t>
            </a:r>
          </a:p>
        </p:txBody>
      </p:sp>
      <p:pic>
        <p:nvPicPr>
          <p:cNvPr id="12" name="Image 0" descr="/tmp/h2p-fit-1781986276322-grpqsf.png"/>
          <p:cNvPicPr>
            <a:picLocks noChangeAspect="1"/>
          </p:cNvPicPr>
          <p:nvPr/>
        </p:nvPicPr>
        <p:blipFill>
          <a:blip r:embed="rId3"/>
          <a:srcRect l="29987" r="29588" b="4295"/>
          <a:stretch/>
        </p:blipFill>
        <p:spPr>
          <a:xfrm>
            <a:off x="5169786" y="855874"/>
            <a:ext cx="2820663" cy="3693164"/>
          </a:xfrm>
          <a:prstGeom prst="rect">
            <a:avLst/>
          </a:prstGeom>
        </p:spPr>
      </p:pic>
      <p:sp>
        <p:nvSpPr>
          <p:cNvPr id="13" name="Text 10"/>
          <p:cNvSpPr/>
          <p:nvPr/>
        </p:nvSpPr>
        <p:spPr>
          <a:xfrm>
            <a:off x="5365049" y="4581975"/>
            <a:ext cx="2463620" cy="194531"/>
          </a:xfrm>
          <a:prstGeom prst="rect">
            <a:avLst/>
          </a:prstGeom>
          <a:noFill/>
          <a:ln/>
        </p:spPr>
        <p:txBody>
          <a:bodyPr wrap="square" lIns="0" tIns="0" rIns="0" bIns="0" rtlCol="0" anchor="t"/>
          <a:lstStyle/>
          <a:p>
            <a:pPr marL="0" indent="0" algn="ctr">
              <a:lnSpc>
                <a:spcPts val="1142"/>
              </a:lnSpc>
              <a:buNone/>
            </a:pPr>
            <a:r>
              <a:rPr lang="en-US" sz="1000" i="1" dirty="0">
                <a:solidFill>
                  <a:srgbClr val="333333"/>
                </a:solidFill>
                <a:latin typeface="Times New Roman" panose="02020603050405020304" pitchFamily="18" charset="0"/>
                <a:ea typeface="Tinos" pitchFamily="34" charset="-122"/>
                <a:cs typeface="Times New Roman" panose="02020603050405020304" pitchFamily="18" charset="0"/>
              </a:rPr>
              <a:t>Fig — Overall research methodology.</a:t>
            </a:r>
            <a:endParaRPr lang="en-US" sz="1000" dirty="0">
              <a:latin typeface="Times New Roman" panose="02020603050405020304" pitchFamily="18" charset="0"/>
              <a:cs typeface="Times New Roman" panose="02020603050405020304" pitchFamily="18" charset="0"/>
            </a:endParaRPr>
          </a:p>
        </p:txBody>
      </p:sp>
      <p:sp>
        <p:nvSpPr>
          <p:cNvPr id="14" name="Text 11"/>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5" name="Shape 12"/>
          <p:cNvSpPr/>
          <p:nvPr/>
        </p:nvSpPr>
        <p:spPr>
          <a:xfrm>
            <a:off x="0" y="4822031"/>
            <a:ext cx="9144000" cy="0"/>
          </a:xfrm>
          <a:prstGeom prst="line">
            <a:avLst/>
          </a:prstGeom>
          <a:noFill/>
          <a:ln w="14288">
            <a:solidFill>
              <a:srgbClr val="C4D2B1"/>
            </a:solidFill>
            <a:prstDash val="solid"/>
          </a:ln>
        </p:spPr>
      </p:sp>
      <p:sp>
        <p:nvSpPr>
          <p:cNvPr id="16" name="Text 13"/>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7" name="Text 14"/>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8" name="Text 15"/>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8</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Liberation Sans Narrow" pitchFamily="34" charset="-122"/>
                <a:cs typeface="Times New Roman" panose="02020603050405020304" pitchFamily="18" charset="0"/>
              </a:rPr>
              <a:t>SCAPS-1D Simulation Environment</a:t>
            </a:r>
            <a:endParaRPr lang="en-US" sz="1800" dirty="0">
              <a:latin typeface="Times New Roman" panose="02020603050405020304" pitchFamily="18" charset="0"/>
              <a:cs typeface="Times New Roman" panose="02020603050405020304" pitchFamily="18" charset="0"/>
            </a:endParaRPr>
          </a:p>
        </p:txBody>
      </p:sp>
      <p:pic>
        <p:nvPicPr>
          <p:cNvPr id="5" name="Image 0" descr="/tmp/h2p-fit-1781986276727-aka93t.png"/>
          <p:cNvPicPr>
            <a:picLocks noChangeAspect="1"/>
          </p:cNvPicPr>
          <p:nvPr/>
        </p:nvPicPr>
        <p:blipFill>
          <a:blip r:embed="rId3"/>
          <a:stretch>
            <a:fillRect/>
          </a:stretch>
        </p:blipFill>
        <p:spPr>
          <a:xfrm>
            <a:off x="1111350" y="965398"/>
            <a:ext cx="6921302" cy="3580630"/>
          </a:xfrm>
          <a:prstGeom prst="rect">
            <a:avLst/>
          </a:prstGeom>
        </p:spPr>
      </p:pic>
      <p:sp>
        <p:nvSpPr>
          <p:cNvPr id="6" name="Text 3"/>
          <p:cNvSpPr/>
          <p:nvPr/>
        </p:nvSpPr>
        <p:spPr>
          <a:xfrm>
            <a:off x="20002" y="4653629"/>
            <a:ext cx="8636000" cy="190432"/>
          </a:xfrm>
          <a:prstGeom prst="rect">
            <a:avLst/>
          </a:prstGeom>
          <a:noFill/>
          <a:ln/>
        </p:spPr>
        <p:txBody>
          <a:bodyPr wrap="square" lIns="0" tIns="0" rIns="0" bIns="28575" rtlCol="0" anchor="t"/>
          <a:lstStyle/>
          <a:p>
            <a:pPr marL="0" indent="0" algn="ctr">
              <a:lnSpc>
                <a:spcPts val="1142"/>
              </a:lnSpc>
              <a:buNone/>
            </a:pPr>
            <a:r>
              <a:rPr lang="en-US" sz="1100" i="1" dirty="0">
                <a:solidFill>
                  <a:srgbClr val="333333"/>
                </a:solidFill>
                <a:latin typeface="Times New Roman" panose="02020603050405020304" pitchFamily="18" charset="0"/>
                <a:ea typeface="Liberation Sans Narrow" pitchFamily="34" charset="-122"/>
                <a:cs typeface="Times New Roman" panose="02020603050405020304" pitchFamily="18" charset="0"/>
              </a:rPr>
              <a:t>SCAPS-1D Simulation Environment</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112" y="4879231"/>
            <a:ext cx="9144000" cy="0"/>
          </a:xfrm>
          <a:prstGeom prst="line">
            <a:avLst/>
          </a:prstGeom>
          <a:noFill/>
          <a:ln w="14288">
            <a:solidFill>
              <a:srgbClr val="C4D2B1"/>
            </a:solidFill>
            <a:prstDash val="solid"/>
          </a:ln>
        </p:spPr>
      </p:sp>
      <p:sp>
        <p:nvSpPr>
          <p:cNvPr id="9" name="Text 6"/>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0" name="Text 7"/>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1" name="Text 8"/>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9</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Device Structure</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4459415" cy="246044"/>
          </a:xfrm>
          <a:prstGeom prst="rect">
            <a:avLst/>
          </a:prstGeom>
          <a:noFill/>
          <a:ln/>
        </p:spPr>
        <p:txBody>
          <a:bodyPr wrap="squar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Liberation Sans Narrow" pitchFamily="34" charset="-122"/>
                <a:cs typeface="Times New Roman" panose="02020603050405020304" pitchFamily="18" charset="0"/>
              </a:rPr>
              <a:t>Proposed Architecture</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253960" y="1299381"/>
            <a:ext cx="4335542" cy="290768"/>
          </a:xfrm>
          <a:prstGeom prst="rect">
            <a:avLst/>
          </a:prstGeom>
          <a:noFill/>
          <a:ln/>
        </p:spPr>
        <p:txBody>
          <a:bodyPr wrap="none" lIns="0" tIns="0" rIns="0" bIns="0" rtlCol="0" anchor="t"/>
          <a:lstStyle/>
          <a:p>
            <a:pPr marL="0" indent="0" algn="ctr">
              <a:lnSpc>
                <a:spcPts val="2121"/>
              </a:lnSpc>
              <a:buNone/>
            </a:pPr>
            <a:r>
              <a:rPr lang="en-US" sz="1463" b="1" dirty="0">
                <a:solidFill>
                  <a:srgbClr val="000000"/>
                </a:solidFill>
                <a:latin typeface="Times New Roman" panose="02020603050405020304" pitchFamily="18" charset="0"/>
                <a:ea typeface="Tinos" pitchFamily="34" charset="-122"/>
                <a:cs typeface="Times New Roman" panose="02020603050405020304" pitchFamily="18" charset="0"/>
              </a:rPr>
              <a:t>FTO / TiO₂ / RbGeI₃ / CuI / Au</a:t>
            </a:r>
            <a:endParaRPr lang="en-US" sz="1463" dirty="0">
              <a:latin typeface="Times New Roman" panose="02020603050405020304" pitchFamily="18" charset="0"/>
              <a:cs typeface="Times New Roman" panose="02020603050405020304" pitchFamily="18" charset="0"/>
            </a:endParaRPr>
          </a:p>
        </p:txBody>
      </p:sp>
      <p:sp>
        <p:nvSpPr>
          <p:cNvPr id="7" name="Text 5"/>
          <p:cNvSpPr/>
          <p:nvPr/>
        </p:nvSpPr>
        <p:spPr>
          <a:xfrm>
            <a:off x="360759" y="1802346"/>
            <a:ext cx="121444" cy="121444"/>
          </a:xfrm>
          <a:prstGeom prst="rect">
            <a:avLst/>
          </a:prstGeom>
          <a:solidFill>
            <a:srgbClr val="B0C4DE"/>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71500" y="1754349"/>
            <a:ext cx="3914775" cy="234833"/>
          </a:xfrm>
          <a:prstGeom prst="rect">
            <a:avLst/>
          </a:prstGeom>
          <a:noFill/>
          <a:ln/>
        </p:spPr>
        <p:txBody>
          <a:bodyPr wrap="none" lIns="0" tIns="0" rIns="0" bIns="0" rtlCol="0" anchor="t"/>
          <a:lstStyle/>
          <a:p>
            <a:pPr marL="0" indent="0" algn="l">
              <a:lnSpc>
                <a:spcPts val="1713"/>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FTO</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 Transparent front contact (fluorine-doped SnO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360759" y="2205521"/>
            <a:ext cx="121444" cy="121444"/>
          </a:xfrm>
          <a:prstGeom prst="rect">
            <a:avLst/>
          </a:prstGeom>
          <a:solidFill>
            <a:srgbClr val="6B8E23"/>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71500" y="2157524"/>
            <a:ext cx="3914775" cy="234833"/>
          </a:xfrm>
          <a:prstGeom prst="rect">
            <a:avLst/>
          </a:prstGeom>
          <a:noFill/>
          <a:ln/>
        </p:spPr>
        <p:txBody>
          <a:bodyPr wrap="none" lIns="0" tIns="0" rIns="0" bIns="0" rtlCol="0" anchor="t"/>
          <a:lstStyle/>
          <a:p>
            <a:pPr marL="0" indent="0" algn="l">
              <a:lnSpc>
                <a:spcPts val="1713"/>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TiO</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 Electron Transport Layer (ETL)</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360759" y="2608697"/>
            <a:ext cx="121444" cy="121444"/>
          </a:xfrm>
          <a:prstGeom prst="rect">
            <a:avLst/>
          </a:prstGeom>
          <a:solidFill>
            <a:srgbClr val="8B4513"/>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571500" y="2560700"/>
            <a:ext cx="3914775" cy="234833"/>
          </a:xfrm>
          <a:prstGeom prst="rect">
            <a:avLst/>
          </a:prstGeom>
          <a:noFill/>
          <a:ln/>
        </p:spPr>
        <p:txBody>
          <a:bodyPr wrap="none" lIns="0" tIns="0" rIns="0" bIns="0" rtlCol="0" anchor="t"/>
          <a:lstStyle/>
          <a:p>
            <a:pPr marL="0" indent="0" algn="l">
              <a:lnSpc>
                <a:spcPts val="1713"/>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 Lead-free perovskite absorber</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360759" y="3011872"/>
            <a:ext cx="121444" cy="121444"/>
          </a:xfrm>
          <a:prstGeom prst="rect">
            <a:avLst/>
          </a:prstGeom>
          <a:solidFill>
            <a:srgbClr val="DAA520"/>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571500" y="2963875"/>
            <a:ext cx="3914775" cy="234833"/>
          </a:xfrm>
          <a:prstGeom prst="rect">
            <a:avLst/>
          </a:prstGeom>
          <a:noFill/>
          <a:ln/>
        </p:spPr>
        <p:txBody>
          <a:bodyPr wrap="none" lIns="0" tIns="0" rIns="0" bIns="0" rtlCol="0" anchor="t"/>
          <a:lstStyle/>
          <a:p>
            <a:pPr marL="0" indent="0" algn="l">
              <a:lnSpc>
                <a:spcPts val="1713"/>
              </a:lnSpc>
              <a:buNone/>
            </a:pPr>
            <a:r>
              <a:rPr lang="en-US" sz="1200" b="1" dirty="0" err="1">
                <a:solidFill>
                  <a:srgbClr val="000000"/>
                </a:solidFill>
                <a:latin typeface="Times New Roman" panose="02020603050405020304" pitchFamily="18" charset="0"/>
                <a:ea typeface="Tinos" pitchFamily="34" charset="-122"/>
                <a:cs typeface="Times New Roman" panose="02020603050405020304" pitchFamily="18" charset="0"/>
              </a:rPr>
              <a:t>CuI</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 Hole Transport Layer (HTL)</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360759" y="3415047"/>
            <a:ext cx="121444" cy="121444"/>
          </a:xfrm>
          <a:prstGeom prst="rect">
            <a:avLst/>
          </a:prstGeom>
          <a:solidFill>
            <a:srgbClr val="FFD700"/>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571500" y="3367050"/>
            <a:ext cx="3914775" cy="234833"/>
          </a:xfrm>
          <a:prstGeom prst="rect">
            <a:avLst/>
          </a:prstGeom>
          <a:noFill/>
          <a:ln/>
        </p:spPr>
        <p:txBody>
          <a:bodyPr wrap="none" lIns="0" tIns="0" rIns="0" bIns="0" rtlCol="0" anchor="t"/>
          <a:lstStyle/>
          <a:p>
            <a:pPr marL="0" indent="0" algn="l">
              <a:lnSpc>
                <a:spcPts val="1713"/>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Au</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 Back metal contact</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3629465" y="885825"/>
            <a:ext cx="5157348" cy="3834409"/>
          </a:xfrm>
          <a:prstGeom prst="rect">
            <a:avLst/>
          </a:prstGeom>
          <a:noFill/>
          <a:ln/>
        </p:spPr>
        <p:txBody>
          <a:bodyPr wrap="square" lIns="142875" tIns="142875" rIns="142875" bIns="142875" rtlCol="0" anchor="ctr"/>
          <a:lstStyle/>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endParaRPr lang="en-US" sz="1125" i="1" dirty="0">
              <a:solidFill>
                <a:srgbClr val="555555"/>
              </a:solidFill>
              <a:latin typeface="Times New Roman" panose="02020603050405020304" pitchFamily="18" charset="0"/>
              <a:ea typeface="Tinos" pitchFamily="34" charset="-122"/>
              <a:cs typeface="Times New Roman" panose="02020603050405020304" pitchFamily="18" charset="0"/>
            </a:endParaRPr>
          </a:p>
          <a:p>
            <a:pPr marL="0" indent="0" algn="ctr">
              <a:lnSpc>
                <a:spcPts val="1631"/>
              </a:lnSpc>
              <a:buNone/>
            </a:pPr>
            <a:r>
              <a:rPr lang="en-US" sz="1125" i="1" dirty="0">
                <a:solidFill>
                  <a:srgbClr val="555555"/>
                </a:solidFill>
                <a:latin typeface="Times New Roman" panose="02020603050405020304" pitchFamily="18" charset="0"/>
                <a:ea typeface="Tinos" pitchFamily="34" charset="-122"/>
                <a:cs typeface="Times New Roman" panose="02020603050405020304" pitchFamily="18" charset="0"/>
              </a:rPr>
              <a:t>Fig: Schematic cross-section of FTO/</a:t>
            </a:r>
            <a:r>
              <a:rPr lang="en-US" sz="1125" i="1" dirty="0" err="1">
                <a:solidFill>
                  <a:srgbClr val="555555"/>
                </a:solidFill>
                <a:latin typeface="Times New Roman" panose="02020603050405020304" pitchFamily="18" charset="0"/>
                <a:ea typeface="Tinos" pitchFamily="34" charset="-122"/>
                <a:cs typeface="Times New Roman" panose="02020603050405020304" pitchFamily="18" charset="0"/>
              </a:rPr>
              <a:t>TiO</a:t>
            </a:r>
            <a:r>
              <a:rPr lang="en-US" sz="1125" i="1" dirty="0">
                <a:solidFill>
                  <a:srgbClr val="555555"/>
                </a:solidFill>
                <a:latin typeface="Times New Roman" panose="02020603050405020304" pitchFamily="18" charset="0"/>
                <a:ea typeface="Tinos" pitchFamily="34" charset="-122"/>
                <a:cs typeface="Times New Roman" panose="02020603050405020304" pitchFamily="18" charset="0"/>
              </a:rPr>
              <a:t>₂/</a:t>
            </a:r>
            <a:r>
              <a:rPr lang="en-US" sz="1125" i="1" dirty="0" err="1">
                <a:solidFill>
                  <a:srgbClr val="555555"/>
                </a:solidFill>
                <a:latin typeface="Times New Roman" panose="02020603050405020304" pitchFamily="18" charset="0"/>
                <a:ea typeface="Tinos" pitchFamily="34" charset="-122"/>
                <a:cs typeface="Times New Roman" panose="02020603050405020304" pitchFamily="18" charset="0"/>
              </a:rPr>
              <a:t>RbGeI</a:t>
            </a:r>
            <a:r>
              <a:rPr lang="en-US" sz="1125" i="1" dirty="0">
                <a:solidFill>
                  <a:srgbClr val="555555"/>
                </a:solidFill>
                <a:latin typeface="Times New Roman" panose="02020603050405020304" pitchFamily="18" charset="0"/>
                <a:ea typeface="Tinos" pitchFamily="34" charset="-122"/>
                <a:cs typeface="Times New Roman" panose="02020603050405020304" pitchFamily="18" charset="0"/>
              </a:rPr>
              <a:t>₃/</a:t>
            </a:r>
            <a:r>
              <a:rPr lang="en-US" sz="1125" i="1" dirty="0" err="1">
                <a:solidFill>
                  <a:srgbClr val="555555"/>
                </a:solidFill>
                <a:latin typeface="Times New Roman" panose="02020603050405020304" pitchFamily="18" charset="0"/>
                <a:ea typeface="Tinos" pitchFamily="34" charset="-122"/>
                <a:cs typeface="Times New Roman" panose="02020603050405020304" pitchFamily="18" charset="0"/>
              </a:rPr>
              <a:t>CuI</a:t>
            </a:r>
            <a:r>
              <a:rPr lang="en-US" sz="1125" i="1" dirty="0">
                <a:solidFill>
                  <a:srgbClr val="555555"/>
                </a:solidFill>
                <a:latin typeface="Times New Roman" panose="02020603050405020304" pitchFamily="18" charset="0"/>
                <a:ea typeface="Tinos" pitchFamily="34" charset="-122"/>
                <a:cs typeface="Times New Roman" panose="02020603050405020304" pitchFamily="18" charset="0"/>
              </a:rPr>
              <a:t>/Au device</a:t>
            </a:r>
            <a:endParaRPr lang="en-US" sz="1125" dirty="0">
              <a:latin typeface="Times New Roman" panose="02020603050405020304" pitchFamily="18" charset="0"/>
              <a:cs typeface="Times New Roman" panose="02020603050405020304" pitchFamily="18" charset="0"/>
            </a:endParaRPr>
          </a:p>
        </p:txBody>
      </p:sp>
      <p:sp>
        <p:nvSpPr>
          <p:cNvPr id="21" name="Text 19"/>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2" name="Shape 20"/>
          <p:cNvSpPr/>
          <p:nvPr/>
        </p:nvSpPr>
        <p:spPr>
          <a:xfrm>
            <a:off x="0" y="4822031"/>
            <a:ext cx="9144000" cy="0"/>
          </a:xfrm>
          <a:prstGeom prst="line">
            <a:avLst/>
          </a:prstGeom>
          <a:noFill/>
          <a:ln w="14288">
            <a:solidFill>
              <a:srgbClr val="C4D2B1"/>
            </a:solidFill>
            <a:prstDash val="solid"/>
          </a:ln>
        </p:spPr>
      </p:sp>
      <p:sp>
        <p:nvSpPr>
          <p:cNvPr id="23" name="Text 21"/>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4" name="Text 22"/>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5" name="Text 23"/>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10</a:t>
            </a:r>
            <a:endParaRPr lang="en-US" sz="800" dirty="0">
              <a:latin typeface="Times New Roman" panose="02020603050405020304" pitchFamily="18" charset="0"/>
              <a:cs typeface="Times New Roman" panose="02020603050405020304" pitchFamily="18" charset="0"/>
            </a:endParaRPr>
          </a:p>
        </p:txBody>
      </p:sp>
      <p:grpSp>
        <p:nvGrpSpPr>
          <p:cNvPr id="45" name="Group 44">
            <a:extLst>
              <a:ext uri="{FF2B5EF4-FFF2-40B4-BE49-F238E27FC236}">
                <a16:creationId xmlns:a16="http://schemas.microsoft.com/office/drawing/2014/main" id="{7C73FB40-6407-2B5D-99CA-749D2A9C2685}"/>
              </a:ext>
            </a:extLst>
          </p:cNvPr>
          <p:cNvGrpSpPr/>
          <p:nvPr/>
        </p:nvGrpSpPr>
        <p:grpSpPr>
          <a:xfrm>
            <a:off x="4378429" y="827028"/>
            <a:ext cx="4392356" cy="3581561"/>
            <a:chOff x="2012525" y="1153883"/>
            <a:chExt cx="4573332" cy="3783905"/>
          </a:xfrm>
        </p:grpSpPr>
        <p:sp>
          <p:nvSpPr>
            <p:cNvPr id="46" name="Cube 45">
              <a:extLst>
                <a:ext uri="{FF2B5EF4-FFF2-40B4-BE49-F238E27FC236}">
                  <a16:creationId xmlns:a16="http://schemas.microsoft.com/office/drawing/2014/main" id="{536B302B-BB9C-20D6-8BAC-4E2FFE318928}"/>
                </a:ext>
              </a:extLst>
            </p:cNvPr>
            <p:cNvSpPr/>
            <p:nvPr/>
          </p:nvSpPr>
          <p:spPr>
            <a:xfrm>
              <a:off x="2013856" y="2501218"/>
              <a:ext cx="4572001" cy="1371600"/>
            </a:xfrm>
            <a:prstGeom prst="cube">
              <a:avLst>
                <a:gd name="adj" fmla="val 80936"/>
              </a:avLst>
            </a:prstGeom>
            <a:solidFill>
              <a:schemeClr val="tx2">
                <a:lumMod val="9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latin typeface="Times New Roman" panose="02020603050405020304" pitchFamily="18" charset="0"/>
                  <a:cs typeface="Times New Roman" panose="02020603050405020304" pitchFamily="18" charset="0"/>
                </a:rPr>
                <a:t>             Front Electrode: </a:t>
              </a:r>
              <a:r>
                <a:rPr lang="en-US" sz="1400" b="1" dirty="0">
                  <a:solidFill>
                    <a:schemeClr val="bg1"/>
                  </a:solidFill>
                  <a:latin typeface="Times New Roman" panose="02020603050405020304" pitchFamily="18" charset="0"/>
                  <a:cs typeface="Times New Roman" panose="02020603050405020304" pitchFamily="18" charset="0"/>
                </a:rPr>
                <a:t>FTO</a:t>
              </a:r>
            </a:p>
          </p:txBody>
        </p:sp>
        <p:sp>
          <p:nvSpPr>
            <p:cNvPr id="47" name="Cube 46">
              <a:extLst>
                <a:ext uri="{FF2B5EF4-FFF2-40B4-BE49-F238E27FC236}">
                  <a16:creationId xmlns:a16="http://schemas.microsoft.com/office/drawing/2014/main" id="{81A430F0-3B44-219D-BBED-47F1FB8CF837}"/>
                </a:ext>
              </a:extLst>
            </p:cNvPr>
            <p:cNvSpPr/>
            <p:nvPr/>
          </p:nvSpPr>
          <p:spPr>
            <a:xfrm>
              <a:off x="2013856" y="2294378"/>
              <a:ext cx="3797422" cy="1321818"/>
            </a:xfrm>
            <a:prstGeom prst="cube">
              <a:avLst>
                <a:gd name="adj" fmla="val 80936"/>
              </a:avLst>
            </a:prstGeom>
            <a:solidFill>
              <a:schemeClr val="bg2"/>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15000"/>
                </a:lnSpc>
                <a:spcBef>
                  <a:spcPts val="0"/>
                </a:spcBef>
                <a:spcAft>
                  <a:spcPts val="800"/>
                </a:spcAft>
              </a:pPr>
              <a:r>
                <a:rPr lang="en-US" sz="1400"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ETL: </a:t>
              </a:r>
              <a:r>
                <a:rPr lang="en-US" sz="14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TiO</a:t>
              </a:r>
              <a:r>
                <a:rPr lang="en-US" sz="1400" b="1" kern="100" baseline="-250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2</a:t>
              </a:r>
              <a:endParaRPr lang="en-US" sz="14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48" name="Cube 47">
              <a:extLst>
                <a:ext uri="{FF2B5EF4-FFF2-40B4-BE49-F238E27FC236}">
                  <a16:creationId xmlns:a16="http://schemas.microsoft.com/office/drawing/2014/main" id="{97B37746-DD30-9156-DE4D-3159258F05AF}"/>
                </a:ext>
              </a:extLst>
            </p:cNvPr>
            <p:cNvSpPr/>
            <p:nvPr/>
          </p:nvSpPr>
          <p:spPr>
            <a:xfrm>
              <a:off x="2012525" y="1925980"/>
              <a:ext cx="3581401" cy="1441586"/>
            </a:xfrm>
            <a:prstGeom prst="cube">
              <a:avLst>
                <a:gd name="adj" fmla="val 73610"/>
              </a:avLst>
            </a:prstGeom>
            <a:solidFill>
              <a:srgbClr val="C00000"/>
            </a:solidFill>
            <a:ln w="19050">
              <a:solidFill>
                <a:srgbClr val="CC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Times New Roman" panose="02020603050405020304" pitchFamily="18" charset="0"/>
                  <a:cs typeface="Times New Roman" panose="02020603050405020304" pitchFamily="18" charset="0"/>
                </a:rPr>
                <a:t>Absorber: </a:t>
              </a:r>
              <a:r>
                <a:rPr lang="en-US" sz="1400" b="1" dirty="0">
                  <a:solidFill>
                    <a:schemeClr val="bg1"/>
                  </a:solidFill>
                  <a:latin typeface="Times New Roman" panose="02020603050405020304" pitchFamily="18" charset="0"/>
                  <a:cs typeface="Times New Roman" panose="02020603050405020304" pitchFamily="18" charset="0"/>
                </a:rPr>
                <a:t>RbGeI</a:t>
              </a:r>
              <a:r>
                <a:rPr lang="en-US" sz="1400" b="1" baseline="-25000" dirty="0">
                  <a:solidFill>
                    <a:schemeClr val="bg1"/>
                  </a:solidFill>
                  <a:latin typeface="Times New Roman" panose="02020603050405020304" pitchFamily="18" charset="0"/>
                  <a:cs typeface="Times New Roman" panose="02020603050405020304" pitchFamily="18" charset="0"/>
                </a:rPr>
                <a:t>3</a:t>
              </a:r>
            </a:p>
          </p:txBody>
        </p:sp>
        <p:sp>
          <p:nvSpPr>
            <p:cNvPr id="49" name="Cube 48">
              <a:extLst>
                <a:ext uri="{FF2B5EF4-FFF2-40B4-BE49-F238E27FC236}">
                  <a16:creationId xmlns:a16="http://schemas.microsoft.com/office/drawing/2014/main" id="{3E3AB53D-FBA1-F520-3791-75D07B54B8C7}"/>
                </a:ext>
              </a:extLst>
            </p:cNvPr>
            <p:cNvSpPr/>
            <p:nvPr/>
          </p:nvSpPr>
          <p:spPr>
            <a:xfrm>
              <a:off x="2013858" y="1645711"/>
              <a:ext cx="3359812" cy="1341138"/>
            </a:xfrm>
            <a:prstGeom prst="cube">
              <a:avLst>
                <a:gd name="adj" fmla="val 80936"/>
              </a:avLst>
            </a:prstGeom>
            <a:solidFill>
              <a:schemeClr val="accent3">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Times New Roman" panose="02020603050405020304" pitchFamily="18" charset="0"/>
                  <a:cs typeface="Times New Roman" panose="02020603050405020304" pitchFamily="18" charset="0"/>
                </a:rPr>
                <a:t>HTL: </a:t>
              </a:r>
              <a:r>
                <a:rPr lang="en-US" sz="1400" b="1" dirty="0" err="1">
                  <a:solidFill>
                    <a:schemeClr val="bg1"/>
                  </a:solidFill>
                  <a:latin typeface="Times New Roman" panose="02020603050405020304" pitchFamily="18" charset="0"/>
                  <a:cs typeface="Times New Roman" panose="02020603050405020304" pitchFamily="18" charset="0"/>
                </a:rPr>
                <a:t>CuI</a:t>
              </a:r>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50" name="Cube 49">
              <a:extLst>
                <a:ext uri="{FF2B5EF4-FFF2-40B4-BE49-F238E27FC236}">
                  <a16:creationId xmlns:a16="http://schemas.microsoft.com/office/drawing/2014/main" id="{C8F2EE95-53B1-81C7-DEB7-463532786237}"/>
                </a:ext>
              </a:extLst>
            </p:cNvPr>
            <p:cNvSpPr/>
            <p:nvPr/>
          </p:nvSpPr>
          <p:spPr>
            <a:xfrm>
              <a:off x="2013854" y="1407967"/>
              <a:ext cx="3124203" cy="1322214"/>
            </a:xfrm>
            <a:prstGeom prst="cube">
              <a:avLst>
                <a:gd name="adj" fmla="val 80936"/>
              </a:avLst>
            </a:prstGeom>
            <a:solidFill>
              <a:srgbClr val="FFCC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Back Electrode: </a:t>
              </a:r>
              <a:r>
                <a:rPr lang="en-US" sz="1400" b="1" dirty="0">
                  <a:solidFill>
                    <a:schemeClr val="tx1"/>
                  </a:solidFill>
                  <a:latin typeface="Times New Roman" panose="02020603050405020304" pitchFamily="18" charset="0"/>
                  <a:cs typeface="Times New Roman" panose="02020603050405020304" pitchFamily="18" charset="0"/>
                </a:rPr>
                <a:t>Au</a:t>
              </a:r>
            </a:p>
          </p:txBody>
        </p:sp>
        <p:cxnSp>
          <p:nvCxnSpPr>
            <p:cNvPr id="51" name="Straight Connector 50">
              <a:extLst>
                <a:ext uri="{FF2B5EF4-FFF2-40B4-BE49-F238E27FC236}">
                  <a16:creationId xmlns:a16="http://schemas.microsoft.com/office/drawing/2014/main" id="{1834466B-26BC-84D8-5578-C92D2597DAFF}"/>
                </a:ext>
              </a:extLst>
            </p:cNvPr>
            <p:cNvCxnSpPr/>
            <p:nvPr/>
          </p:nvCxnSpPr>
          <p:spPr>
            <a:xfrm flipV="1">
              <a:off x="3727458" y="1240970"/>
              <a:ext cx="0" cy="63058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9FE462BC-D303-F556-BC79-99F9EC43D215}"/>
                </a:ext>
              </a:extLst>
            </p:cNvPr>
            <p:cNvCxnSpPr/>
            <p:nvPr/>
          </p:nvCxnSpPr>
          <p:spPr>
            <a:xfrm>
              <a:off x="5909005" y="1589322"/>
              <a:ext cx="0" cy="1371600"/>
            </a:xfrm>
            <a:prstGeom prst="line">
              <a:avLst/>
            </a:prstGeom>
          </p:spPr>
          <p:style>
            <a:lnRef idx="3">
              <a:schemeClr val="dk1"/>
            </a:lnRef>
            <a:fillRef idx="0">
              <a:schemeClr val="dk1"/>
            </a:fillRef>
            <a:effectRef idx="2">
              <a:schemeClr val="dk1"/>
            </a:effectRef>
            <a:fontRef idx="minor">
              <a:schemeClr val="tx1"/>
            </a:fontRef>
          </p:style>
        </p:cxnSp>
        <p:cxnSp>
          <p:nvCxnSpPr>
            <p:cNvPr id="53" name="Straight Connector 52">
              <a:extLst>
                <a:ext uri="{FF2B5EF4-FFF2-40B4-BE49-F238E27FC236}">
                  <a16:creationId xmlns:a16="http://schemas.microsoft.com/office/drawing/2014/main" id="{5357CD86-80B8-3876-D1C7-3B987D8C9316}"/>
                </a:ext>
              </a:extLst>
            </p:cNvPr>
            <p:cNvCxnSpPr/>
            <p:nvPr/>
          </p:nvCxnSpPr>
          <p:spPr>
            <a:xfrm>
              <a:off x="3726200" y="1251856"/>
              <a:ext cx="2103120"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54" name="Up Arrow 17">
              <a:extLst>
                <a:ext uri="{FF2B5EF4-FFF2-40B4-BE49-F238E27FC236}">
                  <a16:creationId xmlns:a16="http://schemas.microsoft.com/office/drawing/2014/main" id="{A5E85485-A0ED-C6D8-3945-58C17CA7C103}"/>
                </a:ext>
              </a:extLst>
            </p:cNvPr>
            <p:cNvSpPr/>
            <p:nvPr/>
          </p:nvSpPr>
          <p:spPr>
            <a:xfrm>
              <a:off x="2643282" y="4065244"/>
              <a:ext cx="130223" cy="448133"/>
            </a:xfrm>
            <a:prstGeom prst="upArrow">
              <a:avLst/>
            </a:prstGeom>
            <a:solidFill>
              <a:schemeClr val="accent4">
                <a:lumMod val="60000"/>
                <a:lumOff val="4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5" name="Up Arrow 23">
              <a:extLst>
                <a:ext uri="{FF2B5EF4-FFF2-40B4-BE49-F238E27FC236}">
                  <a16:creationId xmlns:a16="http://schemas.microsoft.com/office/drawing/2014/main" id="{D7658778-2857-31AB-46B8-AE65E4042F23}"/>
                </a:ext>
              </a:extLst>
            </p:cNvPr>
            <p:cNvSpPr/>
            <p:nvPr/>
          </p:nvSpPr>
          <p:spPr>
            <a:xfrm>
              <a:off x="3010038" y="4082237"/>
              <a:ext cx="130223" cy="448133"/>
            </a:xfrm>
            <a:prstGeom prst="upArrow">
              <a:avLst/>
            </a:prstGeom>
            <a:solidFill>
              <a:schemeClr val="accent4">
                <a:lumMod val="60000"/>
                <a:lumOff val="4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6" name="Up Arrow 24">
              <a:extLst>
                <a:ext uri="{FF2B5EF4-FFF2-40B4-BE49-F238E27FC236}">
                  <a16:creationId xmlns:a16="http://schemas.microsoft.com/office/drawing/2014/main" id="{E696CF8D-569E-4E24-B511-D0F520E8F3AE}"/>
                </a:ext>
              </a:extLst>
            </p:cNvPr>
            <p:cNvSpPr/>
            <p:nvPr/>
          </p:nvSpPr>
          <p:spPr>
            <a:xfrm>
              <a:off x="3366458" y="4075914"/>
              <a:ext cx="130223" cy="448133"/>
            </a:xfrm>
            <a:prstGeom prst="upArrow">
              <a:avLst/>
            </a:prstGeom>
            <a:solidFill>
              <a:schemeClr val="accent4">
                <a:lumMod val="60000"/>
                <a:lumOff val="4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7" name="Up Arrow 25">
              <a:extLst>
                <a:ext uri="{FF2B5EF4-FFF2-40B4-BE49-F238E27FC236}">
                  <a16:creationId xmlns:a16="http://schemas.microsoft.com/office/drawing/2014/main" id="{48B267A1-0027-96AD-2E10-35979842F868}"/>
                </a:ext>
              </a:extLst>
            </p:cNvPr>
            <p:cNvSpPr/>
            <p:nvPr/>
          </p:nvSpPr>
          <p:spPr>
            <a:xfrm>
              <a:off x="3694775" y="4065244"/>
              <a:ext cx="130223" cy="448133"/>
            </a:xfrm>
            <a:prstGeom prst="upArrow">
              <a:avLst/>
            </a:prstGeom>
            <a:solidFill>
              <a:schemeClr val="accent4">
                <a:lumMod val="60000"/>
                <a:lumOff val="4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8" name="Up Arrow 26">
              <a:extLst>
                <a:ext uri="{FF2B5EF4-FFF2-40B4-BE49-F238E27FC236}">
                  <a16:creationId xmlns:a16="http://schemas.microsoft.com/office/drawing/2014/main" id="{9B419F10-43DF-0B65-E683-402203E9C679}"/>
                </a:ext>
              </a:extLst>
            </p:cNvPr>
            <p:cNvSpPr/>
            <p:nvPr/>
          </p:nvSpPr>
          <p:spPr>
            <a:xfrm>
              <a:off x="4072487" y="4066789"/>
              <a:ext cx="130223" cy="448133"/>
            </a:xfrm>
            <a:prstGeom prst="upArrow">
              <a:avLst/>
            </a:prstGeom>
            <a:solidFill>
              <a:schemeClr val="accent4">
                <a:lumMod val="60000"/>
                <a:lumOff val="40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01187145-3D99-6D11-B4A3-59B35E161F0C}"/>
                </a:ext>
              </a:extLst>
            </p:cNvPr>
            <p:cNvSpPr txBox="1"/>
            <p:nvPr/>
          </p:nvSpPr>
          <p:spPr>
            <a:xfrm>
              <a:off x="2643282" y="4580107"/>
              <a:ext cx="1559428" cy="357681"/>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Sunlight</a:t>
              </a:r>
              <a:endParaRPr lang="en-US" sz="1400" dirty="0">
                <a:latin typeface="Times New Roman" panose="02020603050405020304" pitchFamily="18" charset="0"/>
                <a:cs typeface="Times New Roman" panose="02020603050405020304" pitchFamily="18" charset="0"/>
              </a:endParaRPr>
            </a:p>
          </p:txBody>
        </p:sp>
        <p:sp>
          <p:nvSpPr>
            <p:cNvPr id="60" name="Flowchart: Connector 59">
              <a:extLst>
                <a:ext uri="{FF2B5EF4-FFF2-40B4-BE49-F238E27FC236}">
                  <a16:creationId xmlns:a16="http://schemas.microsoft.com/office/drawing/2014/main" id="{8AED9782-886E-FADF-AB27-02D3449AA84A}"/>
                </a:ext>
              </a:extLst>
            </p:cNvPr>
            <p:cNvSpPr/>
            <p:nvPr/>
          </p:nvSpPr>
          <p:spPr>
            <a:xfrm>
              <a:off x="5845625" y="1197427"/>
              <a:ext cx="109728" cy="109728"/>
            </a:xfrm>
            <a:prstGeom prst="flowChartConnector">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1" name="Flowchart: Connector 60">
              <a:extLst>
                <a:ext uri="{FF2B5EF4-FFF2-40B4-BE49-F238E27FC236}">
                  <a16:creationId xmlns:a16="http://schemas.microsoft.com/office/drawing/2014/main" id="{21C2A3C3-EFE7-5282-AE10-7C8C1302EAAE}"/>
                </a:ext>
              </a:extLst>
            </p:cNvPr>
            <p:cNvSpPr/>
            <p:nvPr/>
          </p:nvSpPr>
          <p:spPr>
            <a:xfrm>
              <a:off x="5856509" y="1491339"/>
              <a:ext cx="109728" cy="109728"/>
            </a:xfrm>
            <a:prstGeom prst="flowChartConnector">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2" name="Plus 8">
              <a:extLst>
                <a:ext uri="{FF2B5EF4-FFF2-40B4-BE49-F238E27FC236}">
                  <a16:creationId xmlns:a16="http://schemas.microsoft.com/office/drawing/2014/main" id="{A139E290-DC86-5EAD-4979-B9F1A0100173}"/>
                </a:ext>
              </a:extLst>
            </p:cNvPr>
            <p:cNvSpPr/>
            <p:nvPr/>
          </p:nvSpPr>
          <p:spPr>
            <a:xfrm>
              <a:off x="6019796" y="1153883"/>
              <a:ext cx="182880" cy="182880"/>
            </a:xfrm>
            <a:prstGeom prst="mathPlus">
              <a:avLst/>
            </a:prstGeom>
            <a:solidFill>
              <a:srgbClr val="FF0000"/>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3" name="Minus 10">
              <a:extLst>
                <a:ext uri="{FF2B5EF4-FFF2-40B4-BE49-F238E27FC236}">
                  <a16:creationId xmlns:a16="http://schemas.microsoft.com/office/drawing/2014/main" id="{A525C433-6E86-ED7D-0C35-A65D84132C73}"/>
                </a:ext>
              </a:extLst>
            </p:cNvPr>
            <p:cNvSpPr/>
            <p:nvPr/>
          </p:nvSpPr>
          <p:spPr>
            <a:xfrm>
              <a:off x="6039391" y="1458695"/>
              <a:ext cx="182880" cy="182880"/>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Device Configuration Screening</a:t>
            </a:r>
            <a:endParaRPr lang="en-US" sz="18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1259247594"/>
              </p:ext>
            </p:extLst>
          </p:nvPr>
        </p:nvGraphicFramePr>
        <p:xfrm>
          <a:off x="357188" y="885825"/>
          <a:ext cx="8415337" cy="2723200"/>
        </p:xfrm>
        <a:graphic>
          <a:graphicData uri="http://schemas.openxmlformats.org/drawingml/2006/table">
            <a:tbl>
              <a:tblPr/>
              <a:tblGrid>
                <a:gridCol w="835484">
                  <a:extLst>
                    <a:ext uri="{9D8B030D-6E8A-4147-A177-3AD203B41FA5}">
                      <a16:colId xmlns:a16="http://schemas.microsoft.com/office/drawing/2014/main" val="20000"/>
                    </a:ext>
                  </a:extLst>
                </a:gridCol>
                <a:gridCol w="3388705">
                  <a:extLst>
                    <a:ext uri="{9D8B030D-6E8A-4147-A177-3AD203B41FA5}">
                      <a16:colId xmlns:a16="http://schemas.microsoft.com/office/drawing/2014/main" val="20001"/>
                    </a:ext>
                  </a:extLst>
                </a:gridCol>
                <a:gridCol w="883369">
                  <a:extLst>
                    <a:ext uri="{9D8B030D-6E8A-4147-A177-3AD203B41FA5}">
                      <a16:colId xmlns:a16="http://schemas.microsoft.com/office/drawing/2014/main" val="20002"/>
                    </a:ext>
                  </a:extLst>
                </a:gridCol>
                <a:gridCol w="1363563">
                  <a:extLst>
                    <a:ext uri="{9D8B030D-6E8A-4147-A177-3AD203B41FA5}">
                      <a16:colId xmlns:a16="http://schemas.microsoft.com/office/drawing/2014/main" val="20003"/>
                    </a:ext>
                  </a:extLst>
                </a:gridCol>
                <a:gridCol w="889620">
                  <a:extLst>
                    <a:ext uri="{9D8B030D-6E8A-4147-A177-3AD203B41FA5}">
                      <a16:colId xmlns:a16="http://schemas.microsoft.com/office/drawing/2014/main" val="20004"/>
                    </a:ext>
                  </a:extLst>
                </a:gridCol>
                <a:gridCol w="1054596">
                  <a:extLst>
                    <a:ext uri="{9D8B030D-6E8A-4147-A177-3AD203B41FA5}">
                      <a16:colId xmlns:a16="http://schemas.microsoft.com/office/drawing/2014/main" val="20005"/>
                    </a:ext>
                  </a:extLst>
                </a:gridCol>
              </a:tblGrid>
              <a:tr h="0">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Device</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Architecture</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50" b="1"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 (V)</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50" b="1"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 (mA/cm²)</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FF (%)</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PCE (%)</a:t>
                      </a:r>
                      <a:endParaRPr lang="en-US" sz="105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NiO / RbGeI₃ / PCBM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30.10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83.68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20.52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NiO / RbGeI₃ / TiO₂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30.46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84.48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21.08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CuI / RbGeI₃ / PCBM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30.10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83.96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20.55</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D4</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CuI / RbGeI₃ / TiO₂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0.82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30.46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84.72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21.11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D5</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CBTS / RbGeI₃ / PCBM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30.20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82.36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20.30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CBTS / RbGeI₃ / TiO₂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30.55</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82.13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20.68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D7</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Spiro-OMeTAD / RbGeI₃ / PCBM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30.07</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85.01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20.77</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D8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Spiro-OMeTAD / RbGeI₃ / TiO₂ / FTO</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30.46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75.76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18.92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357188" y="3840100"/>
            <a:ext cx="8429625" cy="860486"/>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Shape 4"/>
          <p:cNvSpPr/>
          <p:nvPr/>
        </p:nvSpPr>
        <p:spPr>
          <a:xfrm>
            <a:off x="357188" y="3840099"/>
            <a:ext cx="8429625" cy="1"/>
          </a:xfrm>
          <a:prstGeom prst="line">
            <a:avLst/>
          </a:prstGeom>
          <a:noFill/>
          <a:ln w="7144">
            <a:solidFill>
              <a:srgbClr val="000000"/>
            </a:solidFill>
            <a:prstDash val="solid"/>
          </a:ln>
        </p:spPr>
      </p:sp>
      <p:sp>
        <p:nvSpPr>
          <p:cNvPr id="8" name="Shape 5"/>
          <p:cNvSpPr/>
          <p:nvPr/>
        </p:nvSpPr>
        <p:spPr>
          <a:xfrm>
            <a:off x="8783241" y="3840099"/>
            <a:ext cx="0" cy="860487"/>
          </a:xfrm>
          <a:prstGeom prst="line">
            <a:avLst/>
          </a:prstGeom>
          <a:noFill/>
          <a:ln w="7144">
            <a:solidFill>
              <a:srgbClr val="000000"/>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9" name="Shape 6"/>
          <p:cNvSpPr/>
          <p:nvPr/>
        </p:nvSpPr>
        <p:spPr>
          <a:xfrm>
            <a:off x="357188" y="4697016"/>
            <a:ext cx="8429625" cy="0"/>
          </a:xfrm>
          <a:prstGeom prst="line">
            <a:avLst/>
          </a:prstGeom>
          <a:noFill/>
          <a:ln w="7144">
            <a:solidFill>
              <a:srgbClr val="000000"/>
            </a:solidFill>
            <a:prstDash val="solid"/>
          </a:ln>
        </p:spPr>
      </p:sp>
      <p:sp>
        <p:nvSpPr>
          <p:cNvPr id="10" name="Shape 7"/>
          <p:cNvSpPr/>
          <p:nvPr/>
        </p:nvSpPr>
        <p:spPr>
          <a:xfrm>
            <a:off x="357188" y="3832956"/>
            <a:ext cx="14288" cy="867631"/>
          </a:xfrm>
          <a:prstGeom prst="line">
            <a:avLst/>
          </a:prstGeom>
          <a:noFill/>
          <a:ln w="28575">
            <a:solidFill>
              <a:srgbClr val="000000"/>
            </a:solidFill>
            <a:prstDash val="solid"/>
          </a:ln>
        </p:spPr>
      </p:sp>
      <p:sp>
        <p:nvSpPr>
          <p:cNvPr id="11" name="Text 8"/>
          <p:cNvSpPr/>
          <p:nvPr/>
        </p:nvSpPr>
        <p:spPr>
          <a:xfrm>
            <a:off x="528638" y="3924644"/>
            <a:ext cx="8217884" cy="116775"/>
          </a:xfrm>
          <a:prstGeom prst="rect">
            <a:avLst/>
          </a:prstGeom>
          <a:noFill/>
          <a:ln/>
        </p:spPr>
        <p:txBody>
          <a:bodyPr wrap="square" lIns="0" tIns="0" rIns="0" bIns="0" rtlCol="0" anchor="t"/>
          <a:lstStyle/>
          <a:p>
            <a:pPr marL="0" indent="0" algn="l">
              <a:lnSpc>
                <a:spcPts val="1468"/>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Selected: D4 — FTO/TiO</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/CuI/Au</a:t>
            </a:r>
            <a:endParaRPr lang="en-US" sz="1200" dirty="0">
              <a:latin typeface="Times New Roman" panose="02020603050405020304" pitchFamily="18" charset="0"/>
              <a:cs typeface="Times New Roman" panose="02020603050405020304" pitchFamily="18" charset="0"/>
            </a:endParaRPr>
          </a:p>
        </p:txBody>
      </p:sp>
      <p:sp>
        <p:nvSpPr>
          <p:cNvPr id="5" name="Text 9"/>
          <p:cNvSpPr/>
          <p:nvPr/>
        </p:nvSpPr>
        <p:spPr>
          <a:xfrm>
            <a:off x="528638" y="4155720"/>
            <a:ext cx="8108156" cy="98815"/>
          </a:xfrm>
          <a:prstGeom prst="rect">
            <a:avLst/>
          </a:prstGeom>
          <a:noFill/>
          <a:ln/>
        </p:spPr>
        <p:txBody>
          <a:bodyPr wrap="square" lIns="0" tIns="0" rIns="0" bIns="0" rtlCol="0" anchor="t"/>
          <a:lstStyle/>
          <a:p>
            <a:pPr marL="0" indent="0" algn="l">
              <a:lnSpc>
                <a:spcPts val="1350"/>
              </a:lnSpc>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Best initial PCE 21.11% — used as the baseline for full parametric optimization → final PCE 26.69%</a:t>
            </a:r>
          </a:p>
          <a:p>
            <a:pPr marL="0" indent="0" algn="l">
              <a:lnSpc>
                <a:spcPts val="1350"/>
              </a:lnSpc>
              <a:buNone/>
            </a:pPr>
            <a:endParaRPr lang="en-US" sz="1200" dirty="0">
              <a:solidFill>
                <a:srgbClr val="000000"/>
              </a:solidFill>
              <a:latin typeface="Times New Roman" panose="02020603050405020304" pitchFamily="18" charset="0"/>
              <a:ea typeface="Tinos" pitchFamily="34" charset="-122"/>
              <a:cs typeface="Times New Roman" panose="02020603050405020304" pitchFamily="18" charset="0"/>
            </a:endParaRPr>
          </a:p>
          <a:p>
            <a:pPr marL="0" indent="0" algn="l">
              <a:lnSpc>
                <a:spcPts val="1350"/>
              </a:lnSpc>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The way of achieving 26.69% efficiency is shown from next slides</a:t>
            </a:r>
            <a:endParaRPr lang="en-US" sz="1200" dirty="0">
              <a:latin typeface="Times New Roman" panose="02020603050405020304" pitchFamily="18" charset="0"/>
              <a:cs typeface="Times New Roman" panose="02020603050405020304" pitchFamily="18" charset="0"/>
            </a:endParaRPr>
          </a:p>
        </p:txBody>
      </p:sp>
      <p:sp>
        <p:nvSpPr>
          <p:cNvPr id="13" name="Text 10"/>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4" name="Shape 11"/>
          <p:cNvSpPr/>
          <p:nvPr/>
        </p:nvSpPr>
        <p:spPr>
          <a:xfrm>
            <a:off x="0" y="4822031"/>
            <a:ext cx="9144000" cy="0"/>
          </a:xfrm>
          <a:prstGeom prst="line">
            <a:avLst/>
          </a:prstGeom>
          <a:noFill/>
          <a:ln w="14288">
            <a:solidFill>
              <a:srgbClr val="C4D2B1"/>
            </a:solidFill>
            <a:prstDash val="solid"/>
          </a:ln>
        </p:spPr>
      </p:sp>
      <p:sp>
        <p:nvSpPr>
          <p:cNvPr id="15" name="Text 12"/>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6" name="Text 13"/>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7" name="Text 14"/>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11</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 Layer Thickness</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RbGeI₃ thickness swept from 0.3 µm to 1.0 µm.</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77963"/>
            <a:ext cx="3716089" cy="1702485"/>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PCE rises sharply from 0.3 → 0.7 µm, reaching ≈ 20.7% at 0.7 µm.</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Beyond 0.7 µm, PCE declines slightly due to increased bulk recombination.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Jsc increases monotonically (more photons absorbed).</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Voc and FF decrease gradually with thickness.</a:t>
            </a:r>
            <a:endParaRPr lang="en-US" sz="1069" dirty="0">
              <a:latin typeface="Times New Roman" panose="02020603050405020304" pitchFamily="18" charset="0"/>
              <a:cs typeface="Times New Roman" panose="02020603050405020304" pitchFamily="18" charset="0"/>
            </a:endParaRPr>
          </a:p>
        </p:txBody>
      </p:sp>
      <p:sp>
        <p:nvSpPr>
          <p:cNvPr id="9" name="Text 7"/>
          <p:cNvSpPr/>
          <p:nvPr/>
        </p:nvSpPr>
        <p:spPr>
          <a:xfrm>
            <a:off x="360759" y="4257675"/>
            <a:ext cx="1193453" cy="410766"/>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701669" y="4351093"/>
            <a:ext cx="511634" cy="91440"/>
          </a:xfrm>
          <a:prstGeom prst="rect">
            <a:avLst/>
          </a:prstGeom>
          <a:noFill/>
          <a:ln/>
        </p:spPr>
        <p:txBody>
          <a:bodyPr wrap="none" lIns="0" tIns="0" rIns="0" bIns="0" rtlCol="0" anchor="t">
            <a:noAutofit/>
          </a:bodyPr>
          <a:lstStyle/>
          <a:p>
            <a:pPr marL="0" indent="0" algn="ctr">
              <a:lnSpc>
                <a:spcPts val="773"/>
              </a:lnSpc>
              <a:buNone/>
            </a:pPr>
            <a:r>
              <a:rPr lang="en-US" sz="800" kern="0" spc="23" dirty="0">
                <a:solidFill>
                  <a:srgbClr val="333333"/>
                </a:solidFill>
                <a:latin typeface="Times New Roman" panose="02020603050405020304" pitchFamily="18" charset="0"/>
                <a:ea typeface="Tinos" pitchFamily="34" charset="-122"/>
                <a:cs typeface="Times New Roman" panose="02020603050405020304" pitchFamily="18" charset="0"/>
              </a:rPr>
              <a:t>OPTIMUM</a:t>
            </a:r>
            <a:endParaRPr lang="en-US" sz="8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900" b="1" dirty="0">
                <a:solidFill>
                  <a:srgbClr val="000000"/>
                </a:solidFill>
                <a:latin typeface="Times New Roman" panose="02020603050405020304" pitchFamily="18" charset="0"/>
                <a:ea typeface="Tinos" pitchFamily="34" charset="-122"/>
                <a:cs typeface="Times New Roman" panose="02020603050405020304" pitchFamily="18" charset="0"/>
              </a:rPr>
              <a:t>0.7 µm</a:t>
            </a:r>
            <a:endParaRPr lang="en-US" sz="844" b="1"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257675"/>
            <a:ext cx="1193453" cy="410766"/>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51093"/>
            <a:ext cx="480387" cy="91440"/>
          </a:xfrm>
          <a:prstGeom prst="rect">
            <a:avLst/>
          </a:prstGeom>
          <a:noFill/>
          <a:ln/>
        </p:spPr>
        <p:txBody>
          <a:bodyPr wrap="none" lIns="0" tIns="0" rIns="0" bIns="0" rtlCol="0" anchor="t">
            <a:noAutofit/>
          </a:bodyPr>
          <a:lstStyle/>
          <a:p>
            <a:pPr marL="0" indent="0" algn="ctr">
              <a:lnSpc>
                <a:spcPts val="773"/>
              </a:lnSpc>
              <a:buNone/>
            </a:pPr>
            <a:r>
              <a:rPr lang="en-US" sz="8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8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844" b="1" dirty="0">
                <a:solidFill>
                  <a:srgbClr val="000000"/>
                </a:solidFill>
                <a:latin typeface="Times New Roman" panose="02020603050405020304" pitchFamily="18" charset="0"/>
                <a:ea typeface="Liberation Sans Narrow" pitchFamily="34" charset="-122"/>
                <a:cs typeface="Times New Roman" panose="02020603050405020304" pitchFamily="18" charset="0"/>
              </a:rPr>
              <a:t>20.7%</a:t>
            </a:r>
            <a:endParaRPr lang="en-US" sz="844" dirty="0">
              <a:latin typeface="Times New Roman" panose="02020603050405020304" pitchFamily="18" charset="0"/>
              <a:cs typeface="Times New Roman" panose="02020603050405020304" pitchFamily="18" charset="0"/>
            </a:endParaRPr>
          </a:p>
        </p:txBody>
      </p:sp>
      <p:sp>
        <p:nvSpPr>
          <p:cNvPr id="15" name="Text 13"/>
          <p:cNvSpPr/>
          <p:nvPr/>
        </p:nvSpPr>
        <p:spPr>
          <a:xfrm>
            <a:off x="2893880" y="4257675"/>
            <a:ext cx="1193453" cy="410766"/>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190003" y="4351093"/>
            <a:ext cx="565952" cy="91440"/>
          </a:xfrm>
          <a:prstGeom prst="rect">
            <a:avLst/>
          </a:prstGeom>
          <a:noFill/>
          <a:ln/>
        </p:spPr>
        <p:txBody>
          <a:bodyPr wrap="square" lIns="0" tIns="0" rIns="0" bIns="0" rtlCol="0" anchor="t">
            <a:noAutofit/>
          </a:bodyPr>
          <a:lstStyle/>
          <a:p>
            <a:pPr marL="0" indent="0" algn="ctr">
              <a:lnSpc>
                <a:spcPts val="773"/>
              </a:lnSpc>
              <a:buNone/>
            </a:pPr>
            <a:r>
              <a:rPr lang="en-US" sz="800" kern="0" spc="23" dirty="0">
                <a:solidFill>
                  <a:srgbClr val="333333"/>
                </a:solidFill>
                <a:latin typeface="Times New Roman" panose="02020603050405020304" pitchFamily="18" charset="0"/>
                <a:ea typeface="Tinos" pitchFamily="34" charset="-122"/>
                <a:cs typeface="Times New Roman" panose="02020603050405020304" pitchFamily="18" charset="0"/>
              </a:rPr>
              <a:t>J</a:t>
            </a:r>
            <a:r>
              <a:rPr lang="en-US" sz="8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SC</a:t>
            </a:r>
            <a:r>
              <a:rPr lang="en-US" sz="800" kern="0" spc="23" dirty="0">
                <a:solidFill>
                  <a:srgbClr val="333333"/>
                </a:solidFill>
                <a:latin typeface="Times New Roman" panose="02020603050405020304" pitchFamily="18" charset="0"/>
                <a:ea typeface="Tinos" pitchFamily="34" charset="-122"/>
                <a:cs typeface="Times New Roman" panose="02020603050405020304" pitchFamily="18" charset="0"/>
              </a:rPr>
              <a:t> TREND</a:t>
            </a:r>
            <a:endParaRPr lang="en-US" sz="8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844" b="1" dirty="0">
                <a:solidFill>
                  <a:srgbClr val="000000"/>
                </a:solidFill>
                <a:latin typeface="Times New Roman" panose="02020603050405020304" pitchFamily="18" charset="0"/>
                <a:ea typeface="Tinos" pitchFamily="34" charset="-122"/>
                <a:cs typeface="Times New Roman" panose="02020603050405020304" pitchFamily="18" charset="0"/>
              </a:rPr>
              <a:t>Increasing</a:t>
            </a:r>
            <a:endParaRPr lang="en-US" sz="844" dirty="0">
              <a:latin typeface="Times New Roman" panose="02020603050405020304" pitchFamily="18" charset="0"/>
              <a:cs typeface="Times New Roman" panose="02020603050405020304" pitchFamily="18" charset="0"/>
            </a:endParaRPr>
          </a:p>
        </p:txBody>
      </p:sp>
      <p:sp>
        <p:nvSpPr>
          <p:cNvPr id="19" name="Text 16"/>
          <p:cNvSpPr/>
          <p:nvPr/>
        </p:nvSpPr>
        <p:spPr>
          <a:xfrm>
            <a:off x="4994821" y="4656720"/>
            <a:ext cx="3041786"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absorber layer thickness.</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12</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D053F804-1724-41F9-7CAF-A900E0E4D919}"/>
              </a:ext>
            </a:extLst>
          </p:cNvPr>
          <p:cNvPicPr>
            <a:picLocks noChangeAspect="1"/>
          </p:cNvPicPr>
          <p:nvPr/>
        </p:nvPicPr>
        <p:blipFill>
          <a:blip r:embed="rId3">
            <a:extLst>
              <a:ext uri="{28A0092B-C50C-407E-A947-70E740481C1C}">
                <a14:useLocalDpi xmlns:a14="http://schemas.microsoft.com/office/drawing/2010/main" val="0"/>
              </a:ext>
            </a:extLst>
          </a:blip>
          <a:srcRect l="8858" t="6680" r="7745" b="8576"/>
          <a:stretch/>
        </p:blipFill>
        <p:spPr bwMode="auto">
          <a:xfrm>
            <a:off x="4130426" y="755523"/>
            <a:ext cx="5013461" cy="3912918"/>
          </a:xfrm>
          <a:prstGeom prst="rect">
            <a:avLst/>
          </a:prstGeom>
          <a:noFill/>
          <a:ln>
            <a:noFill/>
          </a:ln>
        </p:spPr>
      </p:pic>
      <p:sp>
        <p:nvSpPr>
          <p:cNvPr id="26" name="Arrow: Up 25">
            <a:extLst>
              <a:ext uri="{FF2B5EF4-FFF2-40B4-BE49-F238E27FC236}">
                <a16:creationId xmlns:a16="http://schemas.microsoft.com/office/drawing/2014/main" id="{9E2519D5-7AEB-62A6-3E0F-6EDA1284270E}"/>
              </a:ext>
            </a:extLst>
          </p:cNvPr>
          <p:cNvSpPr/>
          <p:nvPr/>
        </p:nvSpPr>
        <p:spPr>
          <a:xfrm>
            <a:off x="3052587" y="4341615"/>
            <a:ext cx="94323" cy="26666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 Defect Density</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Defect density </a:t>
            </a:r>
            <a:r>
              <a:rPr lang="en-US" sz="1069" dirty="0" err="1">
                <a:solidFill>
                  <a:srgbClr val="000000"/>
                </a:solidFill>
                <a:latin typeface="Times New Roman" panose="02020603050405020304" pitchFamily="18" charset="0"/>
                <a:ea typeface="Tinos" pitchFamily="34" charset="-122"/>
                <a:cs typeface="Times New Roman" panose="02020603050405020304" pitchFamily="18" charset="0"/>
              </a:rPr>
              <a:t>N</a:t>
            </a:r>
            <a:r>
              <a:rPr lang="en-US" sz="1069" baseline="-25000" dirty="0" err="1">
                <a:solidFill>
                  <a:srgbClr val="000000"/>
                </a:solidFill>
                <a:latin typeface="Times New Roman" panose="02020603050405020304" pitchFamily="18" charset="0"/>
                <a:ea typeface="Tinos" pitchFamily="34" charset="-122"/>
                <a:cs typeface="Times New Roman" panose="02020603050405020304" pitchFamily="18" charset="0"/>
              </a:rPr>
              <a:t>t</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swept from 10¹² to 10¹⁸ cm⁻³.</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77963"/>
            <a:ext cx="3716089" cy="1994376"/>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PCE drops sharply from 20.51% → 7.58% as </a:t>
            </a:r>
            <a:r>
              <a:rPr lang="en-US" sz="1069" dirty="0" err="1">
                <a:solidFill>
                  <a:srgbClr val="000000"/>
                </a:solidFill>
                <a:latin typeface="Times New Roman" panose="02020603050405020304" pitchFamily="18" charset="0"/>
                <a:ea typeface="Tinos" pitchFamily="34" charset="-122"/>
                <a:cs typeface="Times New Roman" panose="02020603050405020304" pitchFamily="18" charset="0"/>
              </a:rPr>
              <a:t>N</a:t>
            </a:r>
            <a:r>
              <a:rPr lang="en-US" sz="1069" baseline="-25000" dirty="0" err="1">
                <a:solidFill>
                  <a:srgbClr val="000000"/>
                </a:solidFill>
                <a:latin typeface="Times New Roman" panose="02020603050405020304" pitchFamily="18" charset="0"/>
                <a:ea typeface="Tinos" pitchFamily="34" charset="-122"/>
                <a:cs typeface="Times New Roman" panose="02020603050405020304" pitchFamily="18" charset="0"/>
              </a:rPr>
              <a:t>t</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increases.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Liberation Sans Narrow" pitchFamily="34" charset="-122"/>
                <a:cs typeface="Times New Roman" panose="02020603050405020304" pitchFamily="18" charset="0"/>
              </a:rPr>
              <a:t>V</a:t>
            </a:r>
            <a:r>
              <a:rPr lang="en-US" sz="1069" baseline="-25000" dirty="0">
                <a:solidFill>
                  <a:srgbClr val="000000"/>
                </a:solidFill>
                <a:latin typeface="Times New Roman" panose="02020603050405020304" pitchFamily="18" charset="0"/>
                <a:ea typeface="Liberation Sans Narrow" pitchFamily="34" charset="-122"/>
                <a:cs typeface="Times New Roman" panose="02020603050405020304" pitchFamily="18" charset="0"/>
              </a:rPr>
              <a:t>OC</a:t>
            </a:r>
            <a:r>
              <a:rPr lang="en-US" sz="1069" dirty="0">
                <a:solidFill>
                  <a:srgbClr val="000000"/>
                </a:solidFill>
                <a:latin typeface="Times New Roman" panose="02020603050405020304" pitchFamily="18" charset="0"/>
                <a:ea typeface="Liberation Sans Narrow" pitchFamily="34" charset="-122"/>
                <a:cs typeface="Times New Roman" panose="02020603050405020304" pitchFamily="18" charset="0"/>
              </a:rPr>
              <a:t> falls from 0.86 V → 0.55 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and FF also decrease gradually at high defect densities.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Higher defect density → more trap states → more SRH recombination.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Best output occurs at 10¹² cm⁻³; however, 10¹⁴ cm⁻³ was selected for the final device to obtain a realistic output.</a:t>
            </a:r>
            <a:endParaRPr lang="en-US" sz="1069" dirty="0">
              <a:latin typeface="Times New Roman" panose="02020603050405020304" pitchFamily="18" charset="0"/>
              <a:cs typeface="Times New Roman" panose="02020603050405020304" pitchFamily="18" charset="0"/>
            </a:endParaRPr>
          </a:p>
        </p:txBody>
      </p:sp>
      <p:sp>
        <p:nvSpPr>
          <p:cNvPr id="9" name="Text 7"/>
          <p:cNvSpPr/>
          <p:nvPr/>
        </p:nvSpPr>
        <p:spPr>
          <a:xfrm>
            <a:off x="360759"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58872" y="4325541"/>
            <a:ext cx="797116" cy="197232"/>
          </a:xfrm>
          <a:prstGeom prst="rect">
            <a:avLst/>
          </a:prstGeom>
          <a:noFill/>
          <a:ln/>
        </p:spPr>
        <p:txBody>
          <a:bodyPr wrap="none" lIns="0" tIns="0" rIns="0" bIns="0" rtlCol="0" anchor="t">
            <a:norm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00" kern="0" spc="23" dirty="0" err="1">
                <a:solidFill>
                  <a:srgbClr val="333333"/>
                </a:solidFill>
                <a:latin typeface="Times New Roman" panose="02020603050405020304" pitchFamily="18" charset="0"/>
                <a:ea typeface="Tinos" pitchFamily="34" charset="-122"/>
                <a:cs typeface="Times New Roman" panose="02020603050405020304" pitchFamily="18" charset="0"/>
              </a:rPr>
              <a:t>N</a:t>
            </a:r>
            <a:r>
              <a:rPr lang="en-US" sz="1000" kern="0" spc="23" baseline="-25000" dirty="0" err="1">
                <a:solidFill>
                  <a:srgbClr val="333333"/>
                </a:solidFill>
                <a:latin typeface="Times New Roman" panose="02020603050405020304" pitchFamily="18" charset="0"/>
                <a:ea typeface="Tinos" pitchFamily="34" charset="-122"/>
                <a:cs typeface="Times New Roman" panose="02020603050405020304" pitchFamily="18" charset="0"/>
              </a:rPr>
              <a:t>t</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10¹⁴ cm⁻³</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25541"/>
            <a:ext cx="480387" cy="152162"/>
          </a:xfrm>
          <a:prstGeom prst="rect">
            <a:avLst/>
          </a:prstGeom>
          <a:noFill/>
          <a:ln/>
        </p:spPr>
        <p:txBody>
          <a:bodyPr wrap="none" lIns="0" tIns="0" rIns="0" bIns="0" rtlCol="0" anchor="t">
            <a:norm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20.51</a:t>
            </a:r>
            <a:r>
              <a:rPr lang="en-US" sz="844" b="1" dirty="0">
                <a:solidFill>
                  <a:srgbClr val="000000"/>
                </a:solidFill>
                <a:latin typeface="Times New Roman" panose="02020603050405020304" pitchFamily="18" charset="0"/>
                <a:ea typeface="Liberation Sans Narrow" pitchFamily="34" charset="-122"/>
                <a:cs typeface="Times New Roman" panose="02020603050405020304" pitchFamily="18" charset="0"/>
              </a:rPr>
              <a:t>%</a:t>
            </a:r>
            <a:endParaRPr lang="en-US" sz="844"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199494" y="4325541"/>
            <a:ext cx="546970" cy="152162"/>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V</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OC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DROP</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0.86 → 0.55 V</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5022614" y="4656720"/>
            <a:ext cx="2986199"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Variation of PCE, Voc, Jsc and FF with absorber defect density.</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13</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66B66BD7-3D24-F33D-51DF-21422DD72CCC}"/>
              </a:ext>
            </a:extLst>
          </p:cNvPr>
          <p:cNvPicPr>
            <a:picLocks noChangeAspect="1"/>
          </p:cNvPicPr>
          <p:nvPr/>
        </p:nvPicPr>
        <p:blipFill>
          <a:blip r:embed="rId3">
            <a:extLst>
              <a:ext uri="{28A0092B-C50C-407E-A947-70E740481C1C}">
                <a14:useLocalDpi xmlns:a14="http://schemas.microsoft.com/office/drawing/2010/main" val="0"/>
              </a:ext>
            </a:extLst>
          </a:blip>
          <a:srcRect l="8874" t="8356" r="8092" b="9365"/>
          <a:stretch/>
        </p:blipFill>
        <p:spPr bwMode="auto">
          <a:xfrm>
            <a:off x="4259082" y="892859"/>
            <a:ext cx="4784388" cy="3636948"/>
          </a:xfrm>
          <a:prstGeom prst="rect">
            <a:avLst/>
          </a:prstGeom>
          <a:noFill/>
          <a:ln>
            <a:noFill/>
          </a:ln>
        </p:spPr>
      </p:pic>
      <p:sp>
        <p:nvSpPr>
          <p:cNvPr id="18" name="Arrow: Down 17">
            <a:extLst>
              <a:ext uri="{FF2B5EF4-FFF2-40B4-BE49-F238E27FC236}">
                <a16:creationId xmlns:a16="http://schemas.microsoft.com/office/drawing/2014/main" id="{2FBC6C61-CD01-6740-0E46-A93A37E1CE65}"/>
              </a:ext>
            </a:extLst>
          </p:cNvPr>
          <p:cNvSpPr/>
          <p:nvPr/>
        </p:nvSpPr>
        <p:spPr>
          <a:xfrm>
            <a:off x="3945988" y="4325541"/>
            <a:ext cx="62995" cy="26548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400">
        <p14:reveal/>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 Dielectric Constant</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Dielectric constant </a:t>
            </a:r>
            <a:r>
              <a:rPr lang="en-US" sz="1069" dirty="0" err="1">
                <a:solidFill>
                  <a:srgbClr val="000000"/>
                </a:solidFill>
                <a:latin typeface="Times New Roman" panose="02020603050405020304" pitchFamily="18" charset="0"/>
                <a:ea typeface="Tinos" pitchFamily="34" charset="-122"/>
                <a:cs typeface="Times New Roman" panose="02020603050405020304" pitchFamily="18" charset="0"/>
              </a:rPr>
              <a:t>ε</a:t>
            </a:r>
            <a:r>
              <a:rPr lang="en-US" sz="1069" baseline="-25000" dirty="0" err="1">
                <a:solidFill>
                  <a:srgbClr val="000000"/>
                </a:solidFill>
                <a:latin typeface="Times New Roman" panose="02020603050405020304" pitchFamily="18" charset="0"/>
                <a:ea typeface="Tinos" pitchFamily="34" charset="-122"/>
                <a:cs typeface="Times New Roman" panose="02020603050405020304" pitchFamily="18" charset="0"/>
              </a:rPr>
              <a:t>r</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swept from 15 to 23.1.</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77963"/>
            <a:ext cx="3321514" cy="1785781"/>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PCE gradually decreases from 19.92% (</a:t>
            </a:r>
            <a:r>
              <a:rPr lang="en-US" sz="1069" dirty="0" err="1">
                <a:solidFill>
                  <a:srgbClr val="000000"/>
                </a:solidFill>
                <a:latin typeface="Times New Roman" panose="02020603050405020304" pitchFamily="18" charset="0"/>
                <a:ea typeface="Tinos" pitchFamily="34" charset="-122"/>
                <a:cs typeface="Times New Roman" panose="02020603050405020304" pitchFamily="18" charset="0"/>
              </a:rPr>
              <a:t>ε</a:t>
            </a:r>
            <a:r>
              <a:rPr lang="en-US" sz="1069" baseline="-25000" dirty="0" err="1">
                <a:solidFill>
                  <a:srgbClr val="000000"/>
                </a:solidFill>
                <a:latin typeface="Times New Roman" panose="02020603050405020304" pitchFamily="18" charset="0"/>
                <a:ea typeface="Tinos" pitchFamily="34" charset="-122"/>
                <a:cs typeface="Times New Roman" panose="02020603050405020304" pitchFamily="18" charset="0"/>
              </a:rPr>
              <a:t>r</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=15) → 19.79% (</a:t>
            </a:r>
            <a:r>
              <a:rPr lang="en-US" sz="1069" dirty="0" err="1">
                <a:solidFill>
                  <a:srgbClr val="000000"/>
                </a:solidFill>
                <a:latin typeface="Times New Roman" panose="02020603050405020304" pitchFamily="18" charset="0"/>
                <a:ea typeface="Tinos" pitchFamily="34" charset="-122"/>
                <a:cs typeface="Times New Roman" panose="02020603050405020304" pitchFamily="18" charset="0"/>
              </a:rPr>
              <a:t>ε</a:t>
            </a:r>
            <a:r>
              <a:rPr lang="en-US" sz="1069" baseline="-25000" dirty="0" err="1">
                <a:solidFill>
                  <a:srgbClr val="000000"/>
                </a:solidFill>
                <a:latin typeface="Times New Roman" panose="02020603050405020304" pitchFamily="18" charset="0"/>
                <a:ea typeface="Tinos" pitchFamily="34" charset="-122"/>
                <a:cs typeface="Times New Roman" panose="02020603050405020304" pitchFamily="18" charset="0"/>
              </a:rPr>
              <a:t>r</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=23.1).</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decreases marginally from 0.818 V → 0.812 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FF shows very small improvement (79.87% → 79.98%).</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remains nearly unchanged ≈ 30.46 mA/cm².</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Lower dielectric constant is slightly more favourable.</a:t>
            </a:r>
            <a:endParaRPr lang="en-US" sz="1069" dirty="0">
              <a:latin typeface="Times New Roman" panose="02020603050405020304" pitchFamily="18" charset="0"/>
              <a:cs typeface="Times New Roman" panose="02020603050405020304" pitchFamily="18" charset="0"/>
            </a:endParaRPr>
          </a:p>
        </p:txBody>
      </p:sp>
      <p:sp>
        <p:nvSpPr>
          <p:cNvPr id="9" name="Text 7"/>
          <p:cNvSpPr/>
          <p:nvPr/>
        </p:nvSpPr>
        <p:spPr>
          <a:xfrm>
            <a:off x="360759"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20310" y="4325541"/>
            <a:ext cx="674351" cy="173264"/>
          </a:xfrm>
          <a:prstGeom prst="rect">
            <a:avLst/>
          </a:prstGeom>
          <a:noFill/>
          <a:ln/>
        </p:spPr>
        <p:txBody>
          <a:bodyPr wrap="none" lIns="0" tIns="0" rIns="0" bIns="0" rtlCol="0" anchor="t">
            <a:norm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00" dirty="0" err="1">
                <a:solidFill>
                  <a:srgbClr val="000000"/>
                </a:solidFill>
                <a:latin typeface="Times New Roman" panose="02020603050405020304" pitchFamily="18" charset="0"/>
                <a:ea typeface="Tinos" pitchFamily="34" charset="-122"/>
                <a:cs typeface="Times New Roman" panose="02020603050405020304" pitchFamily="18" charset="0"/>
              </a:rPr>
              <a:t>ε</a:t>
            </a:r>
            <a:r>
              <a:rPr lang="en-US" sz="1000" baseline="-25000" dirty="0" err="1">
                <a:solidFill>
                  <a:srgbClr val="000000"/>
                </a:solidFill>
                <a:latin typeface="Times New Roman" panose="02020603050405020304" pitchFamily="18" charset="0"/>
                <a:ea typeface="Tinos" pitchFamily="34" charset="-122"/>
                <a:cs typeface="Times New Roman" panose="02020603050405020304" pitchFamily="18" charset="0"/>
              </a:rPr>
              <a:t>r</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15</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25541"/>
            <a:ext cx="480387" cy="152162"/>
          </a:xfrm>
          <a:prstGeom prst="rect">
            <a:avLst/>
          </a:prstGeom>
          <a:noFill/>
          <a:ln/>
        </p:spPr>
        <p:txBody>
          <a:bodyPr wrap="none" lIns="0" tIns="0" rIns="0" bIns="0" rtlCol="0" anchor="t">
            <a:norm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19.92%</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098444" y="4346643"/>
            <a:ext cx="749070" cy="131060"/>
          </a:xfrm>
          <a:prstGeom prst="rect">
            <a:avLst/>
          </a:prstGeom>
          <a:noFill/>
          <a:ln/>
        </p:spPr>
        <p:txBody>
          <a:bodyPr wrap="squar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J</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SC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TREND</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 Constant</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4922602" y="4656720"/>
            <a:ext cx="3186224"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absorber dielectric constant.</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14</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2C57EA4-3B66-3DA4-A1F2-262D13F37702}"/>
              </a:ext>
            </a:extLst>
          </p:cNvPr>
          <p:cNvPicPr>
            <a:picLocks noChangeAspect="1"/>
          </p:cNvPicPr>
          <p:nvPr/>
        </p:nvPicPr>
        <p:blipFill>
          <a:blip r:embed="rId3">
            <a:extLst>
              <a:ext uri="{28A0092B-C50C-407E-A947-70E740481C1C}">
                <a14:useLocalDpi xmlns:a14="http://schemas.microsoft.com/office/drawing/2010/main" val="0"/>
              </a:ext>
            </a:extLst>
          </a:blip>
          <a:srcRect l="7900" t="8083" r="7833" b="9381"/>
          <a:stretch/>
        </p:blipFill>
        <p:spPr bwMode="auto">
          <a:xfrm>
            <a:off x="4008983" y="900539"/>
            <a:ext cx="4952724" cy="37214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 Electron Affinity</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Electron affinity χ swept from 3.9 eV to 4.2 eV.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77963"/>
            <a:ext cx="3716089" cy="2077673"/>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Highest PCE (19.79%) achieved at χ = 3.9 eV.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PCE gradually decreases to 17.81% at χ = 4.2 eV.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drops significantly from 0.812 V → 0.710 V.</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remains ≈ 30.46 mA/cm² (negligible change).</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FF increases (79.98% → 82.33%) but cannot offset V</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loss.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Higher χ shifts conduction band → unfavourable band alignment.</a:t>
            </a:r>
            <a:endParaRPr lang="en-US" sz="1069" dirty="0">
              <a:latin typeface="Times New Roman" panose="02020603050405020304" pitchFamily="18" charset="0"/>
              <a:cs typeface="Times New Roman" panose="02020603050405020304" pitchFamily="18" charset="0"/>
            </a:endParaRPr>
          </a:p>
        </p:txBody>
      </p:sp>
      <p:sp>
        <p:nvSpPr>
          <p:cNvPr id="9" name="Text 7"/>
          <p:cNvSpPr/>
          <p:nvPr/>
        </p:nvSpPr>
        <p:spPr>
          <a:xfrm>
            <a:off x="360759"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47935" y="4386263"/>
            <a:ext cx="619101"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00" dirty="0">
                <a:solidFill>
                  <a:srgbClr val="000000"/>
                </a:solidFill>
                <a:latin typeface="Times New Roman" panose="02020603050405020304" pitchFamily="18" charset="0"/>
                <a:ea typeface="Tinos" pitchFamily="34" charset="-122"/>
                <a:cs typeface="Times New Roman" panose="02020603050405020304" pitchFamily="18" charset="0"/>
              </a:rPr>
              <a:t>χ</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844" b="1" dirty="0">
                <a:solidFill>
                  <a:srgbClr val="000000"/>
                </a:solidFill>
                <a:latin typeface="Times New Roman" panose="02020603050405020304" pitchFamily="18" charset="0"/>
                <a:ea typeface="Liberation Sans Narrow" pitchFamily="34" charset="-122"/>
                <a:cs typeface="Times New Roman" panose="02020603050405020304" pitchFamily="18" charset="0"/>
              </a:rPr>
              <a:t>3.9 eV</a:t>
            </a:r>
            <a:endParaRPr lang="en-US" sz="844"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86263"/>
            <a:ext cx="480387"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844" b="1" dirty="0">
                <a:solidFill>
                  <a:srgbClr val="000000"/>
                </a:solidFill>
                <a:latin typeface="Times New Roman" panose="02020603050405020304" pitchFamily="18" charset="0"/>
                <a:ea typeface="Liberation Sans Narrow" pitchFamily="34" charset="-122"/>
                <a:cs typeface="Times New Roman" panose="02020603050405020304" pitchFamily="18" charset="0"/>
              </a:rPr>
              <a:t>19.79%</a:t>
            </a:r>
            <a:endParaRPr lang="en-US" sz="844"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3199494" y="4386263"/>
            <a:ext cx="546970"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V</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OC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DROP</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844" b="1" dirty="0">
                <a:solidFill>
                  <a:srgbClr val="000000"/>
                </a:solidFill>
                <a:latin typeface="Times New Roman" panose="02020603050405020304" pitchFamily="18" charset="0"/>
                <a:ea typeface="Liberation Sans Narrow" pitchFamily="34" charset="-122"/>
                <a:cs typeface="Times New Roman" panose="02020603050405020304" pitchFamily="18" charset="0"/>
              </a:rPr>
              <a:t>0.812 → 0.710 V</a:t>
            </a:r>
            <a:endParaRPr lang="en-US" sz="844" dirty="0">
              <a:latin typeface="Times New Roman" panose="02020603050405020304" pitchFamily="18" charset="0"/>
              <a:cs typeface="Times New Roman" panose="02020603050405020304" pitchFamily="18" charset="0"/>
            </a:endParaRPr>
          </a:p>
        </p:txBody>
      </p:sp>
      <p:sp>
        <p:nvSpPr>
          <p:cNvPr id="19" name="Text 16"/>
          <p:cNvSpPr/>
          <p:nvPr/>
        </p:nvSpPr>
        <p:spPr>
          <a:xfrm>
            <a:off x="4979975" y="4656720"/>
            <a:ext cx="3071478"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absorber electron affinity.</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15</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6035FDED-44EE-A4E7-CD3E-3A4313EEAD70}"/>
              </a:ext>
            </a:extLst>
          </p:cNvPr>
          <p:cNvPicPr>
            <a:picLocks noChangeAspect="1"/>
          </p:cNvPicPr>
          <p:nvPr/>
        </p:nvPicPr>
        <p:blipFill>
          <a:blip r:embed="rId3">
            <a:extLst>
              <a:ext uri="{28A0092B-C50C-407E-A947-70E740481C1C}">
                <a14:useLocalDpi xmlns:a14="http://schemas.microsoft.com/office/drawing/2010/main" val="0"/>
              </a:ext>
            </a:extLst>
          </a:blip>
          <a:srcRect l="7382" t="8044" r="8329" b="9262"/>
          <a:stretch/>
        </p:blipFill>
        <p:spPr bwMode="auto">
          <a:xfrm>
            <a:off x="3968671" y="819221"/>
            <a:ext cx="5112024" cy="38526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Absorber/ETL Interfacial Defect</a:t>
            </a:r>
            <a:r>
              <a:rPr lang="en-US" b="1" kern="0" spc="17" dirty="0">
                <a:solidFill>
                  <a:srgbClr val="000000"/>
                </a:solidFill>
                <a:latin typeface="Times New Roman" panose="02020603050405020304" pitchFamily="18" charset="0"/>
                <a:ea typeface="Tinos" pitchFamily="34" charset="-122"/>
                <a:cs typeface="Times New Roman" panose="02020603050405020304" pitchFamily="18" charset="0"/>
              </a:rPr>
              <a:t> Density</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01320"/>
          </a:xfrm>
          <a:prstGeom prst="rect">
            <a:avLst/>
          </a:prstGeom>
          <a:noFill/>
          <a:ln/>
        </p:spPr>
        <p:txBody>
          <a:bodyPr wrap="none" lIns="0" tIns="0" rIns="0" bIns="0" rtlCol="0" anchor="t"/>
          <a:lstStyle/>
          <a:p>
            <a:pPr marL="0" indent="0" algn="l">
              <a:lnSpc>
                <a:spcPts val="1468"/>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407194" y="1187157"/>
            <a:ext cx="3666083" cy="739528"/>
          </a:xfrm>
          <a:prstGeom prst="rect">
            <a:avLst/>
          </a:prstGeom>
          <a:noFill/>
          <a:ln/>
        </p:spPr>
        <p:txBody>
          <a:bodyPr wrap="square" lIns="100013" tIns="0" rIns="0" bIns="0" rtlCol="0" anchor="t"/>
          <a:lstStyle/>
          <a:p>
            <a:pPr marL="100013" indent="-100013" algn="l">
              <a:lnSpc>
                <a:spcPts val="1024"/>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Absorber/ETL (RbGeI₃/TiO₂) interfacial defect </a:t>
            </a:r>
          </a:p>
          <a:p>
            <a:pPr algn="l">
              <a:lnSpc>
                <a:spcPts val="1024"/>
              </a:lnSpc>
              <a:spcAft>
                <a:spcPts val="169"/>
              </a:spcAft>
              <a:buSzPct val="100000"/>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  density swept from 10¹² to 10¹⁸ cm⁻².</a:t>
            </a:r>
          </a:p>
          <a:p>
            <a:pPr algn="l">
              <a:lnSpc>
                <a:spcPts val="1024"/>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1024"/>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50" dirty="0">
              <a:latin typeface="Times New Roman" panose="02020603050405020304" pitchFamily="18" charset="0"/>
              <a:cs typeface="Times New Roman" panose="02020603050405020304" pitchFamily="18" charset="0"/>
            </a:endParaRPr>
          </a:p>
        </p:txBody>
      </p:sp>
      <p:sp>
        <p:nvSpPr>
          <p:cNvPr id="7" name="Text 5"/>
          <p:cNvSpPr/>
          <p:nvPr/>
        </p:nvSpPr>
        <p:spPr>
          <a:xfrm>
            <a:off x="357188" y="1919651"/>
            <a:ext cx="3901894" cy="201320"/>
          </a:xfrm>
          <a:prstGeom prst="rect">
            <a:avLst/>
          </a:prstGeom>
          <a:noFill/>
          <a:ln/>
        </p:spPr>
        <p:txBody>
          <a:bodyPr wrap="none" lIns="0" tIns="0" rIns="0" bIns="0" rtlCol="0" anchor="t"/>
          <a:lstStyle/>
          <a:p>
            <a:pPr marL="0" indent="0" algn="l">
              <a:lnSpc>
                <a:spcPts val="1468"/>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357188" y="2198466"/>
            <a:ext cx="3716089" cy="1996986"/>
          </a:xfrm>
          <a:prstGeom prst="rect">
            <a:avLst/>
          </a:prstGeom>
          <a:noFill/>
          <a:ln/>
        </p:spPr>
        <p:txBody>
          <a:bodyPr wrap="square" lIns="100013" tIns="0" rIns="0" bIns="0" rtlCol="0" anchor="t"/>
          <a:lstStyle/>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PCE decreases sharply from 21.04% → 8.40%.</a:t>
            </a:r>
          </a:p>
          <a:p>
            <a:pPr algn="l">
              <a:lnSpc>
                <a:spcPts val="951"/>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Liberation Sans Narrow" pitchFamily="34" charset="-122"/>
                <a:cs typeface="Times New Roman" panose="02020603050405020304" pitchFamily="18" charset="0"/>
              </a:rPr>
              <a:t>V</a:t>
            </a:r>
            <a:r>
              <a:rPr lang="en-US" sz="1050" baseline="-25000" dirty="0">
                <a:solidFill>
                  <a:srgbClr val="000000"/>
                </a:solidFill>
                <a:latin typeface="Times New Roman" panose="02020603050405020304" pitchFamily="18" charset="0"/>
                <a:ea typeface="Liberation Sans Narrow" pitchFamily="34" charset="-122"/>
                <a:cs typeface="Times New Roman" panose="02020603050405020304" pitchFamily="18" charset="0"/>
              </a:rPr>
              <a:t>OC</a:t>
            </a:r>
            <a:r>
              <a:rPr lang="en-US" sz="1050" dirty="0">
                <a:solidFill>
                  <a:srgbClr val="000000"/>
                </a:solidFill>
                <a:latin typeface="Times New Roman" panose="02020603050405020304" pitchFamily="18" charset="0"/>
                <a:ea typeface="Liberation Sans Narrow" pitchFamily="34" charset="-122"/>
                <a:cs typeface="Times New Roman" panose="02020603050405020304" pitchFamily="18" charset="0"/>
              </a:rPr>
              <a:t> drops from 0.827 V → 0.439 V.</a:t>
            </a:r>
          </a:p>
          <a:p>
            <a:pPr algn="l">
              <a:lnSpc>
                <a:spcPts val="951"/>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5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 decreases from 30.46 → 28.09 mA/cm².</a:t>
            </a:r>
          </a:p>
          <a:p>
            <a:pPr algn="l">
              <a:lnSpc>
                <a:spcPts val="951"/>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Liberation Sans Narrow" pitchFamily="34" charset="-122"/>
                <a:cs typeface="Times New Roman" panose="02020603050405020304" pitchFamily="18" charset="0"/>
              </a:rPr>
              <a:t>FF declines from 83.52% → 68.11%.</a:t>
            </a:r>
          </a:p>
          <a:p>
            <a:pPr algn="l">
              <a:lnSpc>
                <a:spcPts val="951"/>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Interface defects act as recombination centres — strong sensitivity.</a:t>
            </a:r>
          </a:p>
          <a:p>
            <a:pPr algn="l">
              <a:lnSpc>
                <a:spcPts val="951"/>
              </a:lnSpc>
              <a:spcAft>
                <a:spcPts val="169"/>
              </a:spcAft>
              <a:buSzPct val="100000"/>
            </a:pPr>
            <a:endParaRPr lang="en-US" sz="105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Best output at 10¹² cm⁻²; 10¹⁴ cm⁻² selected for realistic output.</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289486" y="4264709"/>
            <a:ext cx="1246316" cy="41890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57957" y="4356973"/>
            <a:ext cx="1100584" cy="136446"/>
          </a:xfrm>
          <a:prstGeom prst="rect">
            <a:avLst/>
          </a:prstGeom>
          <a:noFill/>
          <a:ln/>
        </p:spPr>
        <p:txBody>
          <a:bodyPr wrap="square" lIns="0" tIns="0" rIns="0" bIns="0" rtlCol="0" anchor="t"/>
          <a:lstStyle/>
          <a:p>
            <a:pPr marL="0" indent="0" algn="ctr">
              <a:lnSpc>
                <a:spcPts val="703"/>
              </a:lnSpc>
              <a:buNone/>
            </a:pPr>
            <a:r>
              <a:rPr lang="en-US" sz="105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50" kern="0" spc="23" dirty="0" err="1">
                <a:solidFill>
                  <a:srgbClr val="333333"/>
                </a:solidFill>
                <a:latin typeface="Times New Roman" panose="02020603050405020304" pitchFamily="18" charset="0"/>
                <a:ea typeface="Tinos" pitchFamily="34" charset="-122"/>
                <a:cs typeface="Times New Roman" panose="02020603050405020304" pitchFamily="18" charset="0"/>
              </a:rPr>
              <a:t>N</a:t>
            </a:r>
            <a:r>
              <a:rPr lang="en-US" sz="1050" kern="0" spc="23" baseline="-25000" dirty="0" err="1">
                <a:solidFill>
                  <a:srgbClr val="333333"/>
                </a:solidFill>
                <a:latin typeface="Times New Roman" panose="02020603050405020304" pitchFamily="18" charset="0"/>
                <a:ea typeface="Tinos" pitchFamily="34" charset="-122"/>
                <a:cs typeface="Times New Roman" panose="02020603050405020304" pitchFamily="18" charset="0"/>
              </a:rPr>
              <a:t>t</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357956" y="4520208"/>
            <a:ext cx="1100584" cy="116086"/>
          </a:xfrm>
          <a:prstGeom prst="rect">
            <a:avLst/>
          </a:prstGeom>
          <a:noFill/>
          <a:ln/>
        </p:spPr>
        <p:txBody>
          <a:bodyPr wrap="none" lIns="0" tIns="0" rIns="0" bIns="0" rtlCol="0" anchor="t"/>
          <a:lstStyle/>
          <a:p>
            <a:pPr marL="0" indent="0" algn="ctr">
              <a:lnSpc>
                <a:spcPts val="914"/>
              </a:lnSpc>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10¹⁴ cm⁻²</a:t>
            </a:r>
            <a:endParaRPr lang="en-US" sz="1050" dirty="0">
              <a:latin typeface="Times New Roman" panose="02020603050405020304" pitchFamily="18" charset="0"/>
              <a:cs typeface="Times New Roman" panose="02020603050405020304" pitchFamily="18" charset="0"/>
            </a:endParaRPr>
          </a:p>
        </p:txBody>
      </p:sp>
      <p:sp>
        <p:nvSpPr>
          <p:cNvPr id="12" name="Text 10"/>
          <p:cNvSpPr/>
          <p:nvPr/>
        </p:nvSpPr>
        <p:spPr>
          <a:xfrm>
            <a:off x="1563938" y="4265913"/>
            <a:ext cx="1246316" cy="41890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1756066" y="4356973"/>
            <a:ext cx="875441" cy="163235"/>
          </a:xfrm>
          <a:prstGeom prst="rect">
            <a:avLst/>
          </a:prstGeom>
          <a:noFill/>
          <a:ln/>
        </p:spPr>
        <p:txBody>
          <a:bodyPr wrap="square" lIns="0" tIns="0" rIns="0" bIns="0" rtlCol="0" anchor="t"/>
          <a:lstStyle/>
          <a:p>
            <a:pPr marL="0" indent="0" algn="ctr">
              <a:lnSpc>
                <a:spcPts val="703"/>
              </a:lnSpc>
              <a:buNone/>
            </a:pPr>
            <a:r>
              <a:rPr lang="en-US" sz="105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1636804" y="4520208"/>
            <a:ext cx="1100584" cy="116086"/>
          </a:xfrm>
          <a:prstGeom prst="rect">
            <a:avLst/>
          </a:prstGeom>
          <a:noFill/>
          <a:ln/>
        </p:spPr>
        <p:txBody>
          <a:bodyPr wrap="none" lIns="0" tIns="0" rIns="0" bIns="0" rtlCol="0" anchor="t"/>
          <a:lstStyle/>
          <a:p>
            <a:pPr marL="0" indent="0" algn="ctr">
              <a:lnSpc>
                <a:spcPts val="914"/>
              </a:lnSpc>
              <a:buNone/>
            </a:pPr>
            <a:r>
              <a:rPr lang="en-US" sz="105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21.04%</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2849820" y="4265913"/>
            <a:ext cx="1246316" cy="41890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3023484" y="4356974"/>
            <a:ext cx="999787" cy="92774"/>
          </a:xfrm>
          <a:prstGeom prst="rect">
            <a:avLst/>
          </a:prstGeom>
          <a:noFill/>
          <a:ln/>
        </p:spPr>
        <p:txBody>
          <a:bodyPr wrap="square" lIns="0" tIns="0" rIns="0" bIns="0" rtlCol="0" anchor="t"/>
          <a:lstStyle/>
          <a:p>
            <a:pPr marL="0" indent="0" algn="ctr">
              <a:lnSpc>
                <a:spcPts val="703"/>
              </a:lnSpc>
              <a:buNone/>
            </a:pPr>
            <a:r>
              <a:rPr lang="en-US" sz="1050" kern="0" spc="23" dirty="0">
                <a:solidFill>
                  <a:srgbClr val="333333"/>
                </a:solidFill>
                <a:latin typeface="Times New Roman" panose="02020603050405020304" pitchFamily="18" charset="0"/>
                <a:ea typeface="Tinos" pitchFamily="34" charset="-122"/>
                <a:cs typeface="Times New Roman" panose="02020603050405020304" pitchFamily="18" charset="0"/>
              </a:rPr>
              <a:t>SENSITIVITY</a:t>
            </a:r>
            <a:endParaRPr lang="en-US" sz="1050" dirty="0">
              <a:latin typeface="Times New Roman" panose="02020603050405020304" pitchFamily="18" charset="0"/>
              <a:cs typeface="Times New Roman" panose="02020603050405020304" pitchFamily="18" charset="0"/>
            </a:endParaRPr>
          </a:p>
        </p:txBody>
      </p:sp>
      <p:sp>
        <p:nvSpPr>
          <p:cNvPr id="17" name="Text 15"/>
          <p:cNvSpPr/>
          <p:nvPr/>
        </p:nvSpPr>
        <p:spPr>
          <a:xfrm>
            <a:off x="2922687" y="4520208"/>
            <a:ext cx="1100584" cy="116086"/>
          </a:xfrm>
          <a:prstGeom prst="rect">
            <a:avLst/>
          </a:prstGeom>
          <a:noFill/>
          <a:ln/>
        </p:spPr>
        <p:txBody>
          <a:bodyPr wrap="none" lIns="0" tIns="0" rIns="0" bIns="0" rtlCol="0" anchor="t"/>
          <a:lstStyle/>
          <a:p>
            <a:pPr marL="0" indent="0" algn="ctr">
              <a:lnSpc>
                <a:spcPts val="914"/>
              </a:lnSpc>
              <a:buNone/>
            </a:pPr>
            <a:r>
              <a:rPr lang="en-US" sz="1050" b="1" dirty="0">
                <a:solidFill>
                  <a:srgbClr val="000000"/>
                </a:solidFill>
                <a:latin typeface="Times New Roman" panose="02020603050405020304" pitchFamily="18" charset="0"/>
                <a:ea typeface="Tinos" pitchFamily="34" charset="-122"/>
                <a:cs typeface="Times New Roman" panose="02020603050405020304" pitchFamily="18" charset="0"/>
              </a:rPr>
              <a:t>High</a:t>
            </a:r>
            <a:endParaRPr lang="en-US" sz="1050" dirty="0">
              <a:latin typeface="Times New Roman" panose="02020603050405020304" pitchFamily="18" charset="0"/>
              <a:cs typeface="Times New Roman" panose="02020603050405020304" pitchFamily="18" charset="0"/>
            </a:endParaRPr>
          </a:p>
        </p:txBody>
      </p:sp>
      <p:sp>
        <p:nvSpPr>
          <p:cNvPr id="19" name="Text 16"/>
          <p:cNvSpPr/>
          <p:nvPr/>
        </p:nvSpPr>
        <p:spPr>
          <a:xfrm>
            <a:off x="4698020" y="4656720"/>
            <a:ext cx="3635499"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Absorber/ETL interfacial defect density.</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16</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CBE502F-B1E7-C95E-254E-8EDFBDAE314D}"/>
              </a:ext>
            </a:extLst>
          </p:cNvPr>
          <p:cNvPicPr>
            <a:picLocks noChangeAspect="1"/>
          </p:cNvPicPr>
          <p:nvPr/>
        </p:nvPicPr>
        <p:blipFill>
          <a:blip r:embed="rId3">
            <a:extLst>
              <a:ext uri="{28A0092B-C50C-407E-A947-70E740481C1C}">
                <a14:useLocalDpi xmlns:a14="http://schemas.microsoft.com/office/drawing/2010/main" val="0"/>
              </a:ext>
            </a:extLst>
          </a:blip>
          <a:srcRect l="8304" t="8136" r="7560" b="8088"/>
          <a:stretch/>
        </p:blipFill>
        <p:spPr bwMode="auto">
          <a:xfrm>
            <a:off x="3993793" y="830105"/>
            <a:ext cx="5030632" cy="384541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169" y="-30062"/>
            <a:ext cx="9144000" cy="785813"/>
          </a:xfrm>
          <a:prstGeom prst="rect">
            <a:avLst/>
          </a:prstGeom>
          <a:solidFill>
            <a:srgbClr val="BCCCB8"/>
          </a:solidFill>
          <a:ln/>
        </p:spPr>
        <p:txBody>
          <a:bodyPr wrap="square" rtlCol="0" anchor="ctr"/>
          <a:lstStyle/>
          <a:p>
            <a:pPr marL="0" indent="0">
              <a:buNone/>
            </a:pPr>
            <a:endParaRPr lang="en-US" dirty="0"/>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nos" pitchFamily="34" charset="0"/>
                <a:ea typeface="Tinos" pitchFamily="34" charset="-122"/>
                <a:cs typeface="Tinos" pitchFamily="34" charset="-120"/>
              </a:rPr>
              <a:t>Results — HTL/Absorber Interfacial Defect Density</a:t>
            </a:r>
            <a:endParaRPr lang="en-US" sz="1800" dirty="0"/>
          </a:p>
        </p:txBody>
      </p:sp>
      <p:sp>
        <p:nvSpPr>
          <p:cNvPr id="5" name="Text 3"/>
          <p:cNvSpPr/>
          <p:nvPr/>
        </p:nvSpPr>
        <p:spPr>
          <a:xfrm>
            <a:off x="357188" y="885825"/>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nos" pitchFamily="34" charset="0"/>
                <a:ea typeface="Tinos" pitchFamily="34" charset="-122"/>
                <a:cs typeface="Tinos" pitchFamily="34" charset="-120"/>
              </a:rPr>
              <a:t>Parameter Varied</a:t>
            </a:r>
            <a:endParaRPr lang="en-US" sz="1240" dirty="0"/>
          </a:p>
        </p:txBody>
      </p:sp>
      <p:sp>
        <p:nvSpPr>
          <p:cNvPr id="6" name="Text 4"/>
          <p:cNvSpPr/>
          <p:nvPr/>
        </p:nvSpPr>
        <p:spPr>
          <a:xfrm>
            <a:off x="357188" y="1178401"/>
            <a:ext cx="3716089" cy="486186"/>
          </a:xfrm>
          <a:prstGeom prst="rect">
            <a:avLst/>
          </a:prstGeom>
          <a:noFill/>
          <a:ln/>
        </p:spPr>
        <p:txBody>
          <a:bodyPr wrap="square" lIns="100013" tIns="0" rIns="0" bIns="0" rtlCol="0" anchor="t"/>
          <a:lstStyle/>
          <a:p>
            <a:pPr marL="100013" indent="-100013" algn="l">
              <a:lnSpc>
                <a:spcPts val="1024"/>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HTL/Absorber (CuI/RbGeI₃) interfacial defect density swept from 10¹² to 10¹⁸ cm⁻²</a:t>
            </a:r>
          </a:p>
          <a:p>
            <a:pPr algn="l">
              <a:lnSpc>
                <a:spcPts val="1024"/>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024"/>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57188" y="1870728"/>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nos" pitchFamily="34" charset="0"/>
                <a:ea typeface="Tinos" pitchFamily="34" charset="-122"/>
                <a:cs typeface="Tinos" pitchFamily="34" charset="-120"/>
              </a:rPr>
              <a:t>Key Observations</a:t>
            </a:r>
            <a:endParaRPr lang="en-US" sz="1240" dirty="0"/>
          </a:p>
        </p:txBody>
      </p:sp>
      <p:sp>
        <p:nvSpPr>
          <p:cNvPr id="8" name="Text 6"/>
          <p:cNvSpPr/>
          <p:nvPr/>
        </p:nvSpPr>
        <p:spPr>
          <a:xfrm>
            <a:off x="357188" y="2149232"/>
            <a:ext cx="3716089" cy="1575543"/>
          </a:xfrm>
          <a:prstGeom prst="rect">
            <a:avLst/>
          </a:prstGeom>
          <a:noFill/>
          <a:ln/>
        </p:spPr>
        <p:txBody>
          <a:bodyPr wrap="square" lIns="100013" tIns="0" rIns="0" bIns="0" rtlCol="0" anchor="t"/>
          <a:lstStyle/>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Performance stable up to </a:t>
            </a:r>
            <a:r>
              <a:rPr lang="en-US" sz="1200" dirty="0" err="1">
                <a:solidFill>
                  <a:srgbClr val="000000"/>
                </a:solidFill>
                <a:latin typeface="Times New Roman" panose="02020603050405020304" pitchFamily="18" charset="0"/>
                <a:ea typeface="Tinos" pitchFamily="34" charset="-122"/>
                <a:cs typeface="Times New Roman" panose="02020603050405020304" pitchFamily="18" charset="0"/>
              </a:rPr>
              <a:t>N</a:t>
            </a:r>
            <a:r>
              <a:rPr lang="en-US" sz="1200" baseline="-25000" dirty="0" err="1">
                <a:solidFill>
                  <a:srgbClr val="000000"/>
                </a:solidFill>
                <a:latin typeface="Times New Roman" panose="02020603050405020304" pitchFamily="18" charset="0"/>
                <a:ea typeface="Tinos" pitchFamily="34" charset="-122"/>
                <a:cs typeface="Times New Roman" panose="02020603050405020304" pitchFamily="18" charset="0"/>
              </a:rPr>
              <a:t>t</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10¹⁵ cm⁻².</a:t>
            </a:r>
          </a:p>
          <a:p>
            <a:pPr algn="l">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PCE decreases from 19.79% → 18.19% at 10¹⁸ cm⁻².</a:t>
            </a:r>
          </a:p>
          <a:p>
            <a:pPr algn="l">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Liberation Sans Narrow" pitchFamily="34" charset="-122"/>
                <a:cs typeface="Times New Roman" panose="02020603050405020304" pitchFamily="18" charset="0"/>
              </a:rPr>
              <a:t>Voc drops from 0.812 V → 0.746 V.</a:t>
            </a:r>
          </a:p>
          <a:p>
            <a:pPr marL="100013" indent="-100013" algn="l">
              <a:lnSpc>
                <a:spcPts val="951"/>
              </a:lnSpc>
              <a:spcAft>
                <a:spcPts val="169"/>
              </a:spcAft>
              <a:buSzPct val="100000"/>
              <a:buChar char="•"/>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Jsc slightly reduces from 30.46 → 30.33 mA/cm².</a:t>
            </a:r>
          </a:p>
          <a:p>
            <a:pPr marL="100013" indent="-100013" algn="l">
              <a:lnSpc>
                <a:spcPts val="951"/>
              </a:lnSpc>
              <a:spcAft>
                <a:spcPts val="169"/>
              </a:spcAft>
              <a:buSzPct val="100000"/>
              <a:buChar char="•"/>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FF peaks at 81.11% (10¹⁷ cm⁻²) then drops slightly.</a:t>
            </a:r>
          </a:p>
          <a:p>
            <a:pPr marL="100013" indent="-100013" algn="l">
              <a:lnSpc>
                <a:spcPts val="951"/>
              </a:lnSpc>
              <a:spcAft>
                <a:spcPts val="169"/>
              </a:spcAft>
              <a:buSzPct val="100000"/>
              <a:buChar char="•"/>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CuI forms a more tolerant interface than TiO₂.</a:t>
            </a:r>
          </a:p>
          <a:p>
            <a:pPr algn="l">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Best output at 10¹² cm⁻²; 10¹⁴ cm⁻² selected for realistic output.</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299158" y="4338183"/>
            <a:ext cx="1246316" cy="34663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dirty="0"/>
          </a:p>
        </p:txBody>
      </p:sp>
      <p:sp>
        <p:nvSpPr>
          <p:cNvPr id="10" name="Text 8"/>
          <p:cNvSpPr/>
          <p:nvPr/>
        </p:nvSpPr>
        <p:spPr>
          <a:xfrm>
            <a:off x="478674" y="4407427"/>
            <a:ext cx="957624" cy="166962"/>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00" kern="0" spc="23" dirty="0" err="1">
                <a:solidFill>
                  <a:srgbClr val="333333"/>
                </a:solidFill>
                <a:latin typeface="Times New Roman" panose="02020603050405020304" pitchFamily="18" charset="0"/>
                <a:ea typeface="Tinos" pitchFamily="34" charset="-122"/>
                <a:cs typeface="Times New Roman" panose="02020603050405020304" pitchFamily="18" charset="0"/>
              </a:rPr>
              <a:t>N</a:t>
            </a:r>
            <a:r>
              <a:rPr lang="en-US" sz="1000" kern="0" spc="23" baseline="-25000" dirty="0" err="1">
                <a:solidFill>
                  <a:srgbClr val="333333"/>
                </a:solidFill>
                <a:latin typeface="Times New Roman" panose="02020603050405020304" pitchFamily="18" charset="0"/>
                <a:ea typeface="Tinos" pitchFamily="34" charset="-122"/>
                <a:cs typeface="Times New Roman" panose="02020603050405020304" pitchFamily="18" charset="0"/>
              </a:rPr>
              <a:t>t</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07194"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10¹⁴ cm⁻²</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592074" y="4338183"/>
            <a:ext cx="1246316" cy="34663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dirty="0"/>
          </a:p>
        </p:txBody>
      </p:sp>
      <p:sp>
        <p:nvSpPr>
          <p:cNvPr id="13" name="Text 11"/>
          <p:cNvSpPr/>
          <p:nvPr/>
        </p:nvSpPr>
        <p:spPr>
          <a:xfrm>
            <a:off x="1814866" y="4407427"/>
            <a:ext cx="800622" cy="140614"/>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64940" y="4520208"/>
            <a:ext cx="1100584" cy="116086"/>
          </a:xfrm>
          <a:prstGeom prst="rect">
            <a:avLst/>
          </a:prstGeom>
          <a:noFill/>
          <a:ln/>
        </p:spPr>
        <p:txBody>
          <a:bodyPr wrap="none" lIns="0" tIns="0" rIns="0" bIns="0" rtlCol="0" anchor="t"/>
          <a:lstStyle/>
          <a:p>
            <a:pPr marL="0" indent="0" algn="ctr">
              <a:lnSpc>
                <a:spcPts val="914"/>
              </a:lnSpc>
              <a:buNone/>
            </a:pPr>
            <a:r>
              <a:rPr lang="en-US" sz="8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19.79%</a:t>
            </a:r>
            <a:endParaRPr lang="en-US" sz="800" dirty="0">
              <a:latin typeface="Times New Roman" panose="02020603050405020304" pitchFamily="18" charset="0"/>
              <a:cs typeface="Times New Roman" panose="02020603050405020304" pitchFamily="18" charset="0"/>
            </a:endParaRPr>
          </a:p>
        </p:txBody>
      </p:sp>
      <p:sp>
        <p:nvSpPr>
          <p:cNvPr id="15" name="Text 13"/>
          <p:cNvSpPr/>
          <p:nvPr/>
        </p:nvSpPr>
        <p:spPr>
          <a:xfrm>
            <a:off x="2884990" y="4338183"/>
            <a:ext cx="1246316" cy="346631"/>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dirty="0"/>
          </a:p>
        </p:txBody>
      </p:sp>
      <p:sp>
        <p:nvSpPr>
          <p:cNvPr id="16" name="Text 14"/>
          <p:cNvSpPr/>
          <p:nvPr/>
        </p:nvSpPr>
        <p:spPr>
          <a:xfrm>
            <a:off x="2972052" y="4407427"/>
            <a:ext cx="1001742" cy="140614"/>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SENSITIVITY</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22687"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Moderate</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4690653" y="4656720"/>
            <a:ext cx="3650233"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nos" pitchFamily="34" charset="0"/>
                <a:ea typeface="Tinos" pitchFamily="34" charset="-122"/>
                <a:cs typeface="Tinos" pitchFamily="34" charset="-120"/>
              </a:rPr>
              <a:t>Fig 3.6 — Variation of PCE, Voc, Jsc and FF with HTL/Absorber interfacial defect density.</a:t>
            </a:r>
            <a:endParaRPr lang="en-US" sz="800" dirty="0"/>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nos" pitchFamily="34" charset="0"/>
                <a:ea typeface="Tinos" pitchFamily="34" charset="-122"/>
                <a:cs typeface="Tinos" pitchFamily="34" charset="-120"/>
              </a:rPr>
              <a:t>LEADING UNIVERSITY</a:t>
            </a:r>
            <a:endParaRPr lang="en-US" sz="800" dirty="0"/>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nos" pitchFamily="34" charset="0"/>
                <a:ea typeface="Tinos" pitchFamily="34" charset="-122"/>
                <a:cs typeface="Tinos" pitchFamily="34" charset="-120"/>
              </a:rPr>
              <a:t>DEPARTMENT OF ELECTRICAL AND ELECTRONIC ENGINEERING</a:t>
            </a:r>
            <a:endParaRPr lang="en-US" sz="800" dirty="0"/>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Liberation Sans Narrow" pitchFamily="34" charset="0"/>
                <a:ea typeface="Liberation Sans Narrow" pitchFamily="34" charset="-122"/>
                <a:cs typeface="Liberation Sans Narrow" pitchFamily="34" charset="-120"/>
              </a:rPr>
              <a:t>Page | 17</a:t>
            </a:r>
            <a:endParaRPr lang="en-US" sz="800" dirty="0"/>
          </a:p>
        </p:txBody>
      </p:sp>
      <p:pic>
        <p:nvPicPr>
          <p:cNvPr id="25" name="Picture 24">
            <a:extLst>
              <a:ext uri="{FF2B5EF4-FFF2-40B4-BE49-F238E27FC236}">
                <a16:creationId xmlns:a16="http://schemas.microsoft.com/office/drawing/2014/main" id="{02AD6DB8-9F34-912B-B802-8C51DFC96E8F}"/>
              </a:ext>
            </a:extLst>
          </p:cNvPr>
          <p:cNvPicPr>
            <a:picLocks noChangeAspect="1"/>
          </p:cNvPicPr>
          <p:nvPr/>
        </p:nvPicPr>
        <p:blipFill>
          <a:blip r:embed="rId3">
            <a:extLst>
              <a:ext uri="{28A0092B-C50C-407E-A947-70E740481C1C}">
                <a14:useLocalDpi xmlns:a14="http://schemas.microsoft.com/office/drawing/2010/main" val="0"/>
              </a:ext>
            </a:extLst>
          </a:blip>
          <a:srcRect l="8815" t="6650" r="8549" b="9258"/>
          <a:stretch/>
        </p:blipFill>
        <p:spPr bwMode="auto">
          <a:xfrm>
            <a:off x="4196695" y="943981"/>
            <a:ext cx="4469004" cy="3491210"/>
          </a:xfrm>
          <a:prstGeom prst="rect">
            <a:avLst/>
          </a:prstGeom>
          <a:noFill/>
          <a:ln>
            <a:noFill/>
          </a:ln>
        </p:spPr>
      </p:pic>
    </p:spTree>
  </p:cSld>
  <p:clrMapOvr>
    <a:masterClrMapping/>
  </p:clrMapOvr>
  <p:transition spd="slow">
    <p:comb/>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Absorber Bandgap</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192993"/>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bandgap swept from 1.3 eV to 1.8 eV.</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28725"/>
            <a:ext cx="3716089" cy="2077673"/>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Highest PCE (19.87%) achieved at bandgap = 1.4 eV.</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increases from 0.803 V → 0.997 V as bandgap widens.</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Liberation Sans Narrow" pitchFamily="34" charset="-122"/>
                <a:cs typeface="Times New Roman" panose="02020603050405020304" pitchFamily="18" charset="0"/>
              </a:rPr>
              <a:t>FF rises from 79.89% → 86.24%.</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drops sharply (30.79 → 15.23 mA/cm²) — wider gap absorbs fewer photons.</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PCE decreases beyond 1.4 eV due to dominant J</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loss.</a:t>
            </a:r>
            <a:endParaRPr lang="en-US" sz="120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1.4 eV provides optimum voltage–current balance.</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360759"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360647" y="4386263"/>
            <a:ext cx="1193566"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a:t>
            </a:r>
            <a:r>
              <a:rPr lang="en-US" sz="1000" kern="0" spc="23" dirty="0" err="1">
                <a:solidFill>
                  <a:srgbClr val="333333"/>
                </a:solidFill>
                <a:latin typeface="Times New Roman" panose="02020603050405020304" pitchFamily="18" charset="0"/>
                <a:ea typeface="Tinos" pitchFamily="34" charset="-122"/>
                <a:cs typeface="Times New Roman" panose="02020603050405020304" pitchFamily="18" charset="0"/>
              </a:rPr>
              <a:t>E</a:t>
            </a:r>
            <a:r>
              <a:rPr lang="en-US" sz="1000" kern="0" spc="23" baseline="-25000" dirty="0" err="1">
                <a:solidFill>
                  <a:srgbClr val="333333"/>
                </a:solidFill>
                <a:latin typeface="Times New Roman" panose="02020603050405020304" pitchFamily="18" charset="0"/>
                <a:ea typeface="Tinos" pitchFamily="34" charset="-122"/>
                <a:cs typeface="Times New Roman" panose="02020603050405020304" pitchFamily="18" charset="0"/>
              </a:rPr>
              <a:t>g</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1.4 eV</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86263"/>
            <a:ext cx="480387"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19.87%</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2936974" y="4384506"/>
            <a:ext cx="1072010" cy="137158"/>
          </a:xfrm>
          <a:prstGeom prst="rect">
            <a:avLst/>
          </a:prstGeom>
          <a:noFill/>
          <a:ln/>
        </p:spPr>
        <p:txBody>
          <a:bodyPr wrap="squar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J</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SC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DROP</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30.79 → 15.23</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5118385" y="4656720"/>
            <a:ext cx="2794769"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3.7 — Variation of PCE, Voc, Jsc and FF with absorber bandgap.</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18</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2892706-DF33-B336-A6B5-2D0E5D8D42DD}"/>
              </a:ext>
            </a:extLst>
          </p:cNvPr>
          <p:cNvPicPr>
            <a:picLocks noChangeAspect="1"/>
          </p:cNvPicPr>
          <p:nvPr/>
        </p:nvPicPr>
        <p:blipFill>
          <a:blip r:embed="rId3">
            <a:extLst>
              <a:ext uri="{28A0092B-C50C-407E-A947-70E740481C1C}">
                <a14:useLocalDpi xmlns:a14="http://schemas.microsoft.com/office/drawing/2010/main" val="0"/>
              </a:ext>
            </a:extLst>
          </a:blip>
          <a:srcRect l="8513" t="6680" r="8513" b="6680"/>
          <a:stretch/>
        </p:blipFill>
        <p:spPr bwMode="auto">
          <a:xfrm>
            <a:off x="3991246" y="753755"/>
            <a:ext cx="4983942" cy="3995224"/>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ETL (TiO</a:t>
            </a:r>
            <a:r>
              <a:rPr lang="en-US" sz="1800" b="1" kern="0" spc="17"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 Thickness</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40" dirty="0">
              <a:latin typeface="Times New Roman" panose="02020603050405020304" pitchFamily="18" charset="0"/>
              <a:cs typeface="Times New Roman" panose="02020603050405020304" pitchFamily="18" charset="0"/>
            </a:endParaRPr>
          </a:p>
        </p:txBody>
      </p:sp>
      <p:sp>
        <p:nvSpPr>
          <p:cNvPr id="6" name="Text 4"/>
          <p:cNvSpPr/>
          <p:nvPr/>
        </p:nvSpPr>
        <p:spPr>
          <a:xfrm>
            <a:off x="357188" y="1171367"/>
            <a:ext cx="3716089" cy="486186"/>
          </a:xfrm>
          <a:prstGeom prst="rect">
            <a:avLst/>
          </a:prstGeom>
          <a:noFill/>
          <a:ln/>
        </p:spPr>
        <p:txBody>
          <a:bodyPr wrap="square" lIns="100013" tIns="0" rIns="0" bIns="0" rtlCol="0" anchor="t"/>
          <a:lstStyle/>
          <a:p>
            <a:pPr marL="100013" indent="-100013" algn="l">
              <a:lnSpc>
                <a:spcPts val="1024"/>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ETL thickness swept from 0.01 µm to 0.09 µm.</a:t>
            </a:r>
          </a:p>
          <a:p>
            <a:pPr algn="l">
              <a:lnSpc>
                <a:spcPts val="1024"/>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gn="l">
              <a:lnSpc>
                <a:spcPts val="1024"/>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57188" y="1863693"/>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40" dirty="0">
              <a:latin typeface="Times New Roman" panose="02020603050405020304" pitchFamily="18" charset="0"/>
              <a:cs typeface="Times New Roman" panose="02020603050405020304" pitchFamily="18" charset="0"/>
            </a:endParaRPr>
          </a:p>
        </p:txBody>
      </p:sp>
      <p:sp>
        <p:nvSpPr>
          <p:cNvPr id="8" name="Text 6"/>
          <p:cNvSpPr/>
          <p:nvPr/>
        </p:nvSpPr>
        <p:spPr>
          <a:xfrm>
            <a:off x="357188" y="2170336"/>
            <a:ext cx="3716089" cy="1138002"/>
          </a:xfrm>
          <a:prstGeom prst="rect">
            <a:avLst/>
          </a:prstGeom>
          <a:noFill/>
          <a:ln/>
        </p:spPr>
        <p:txBody>
          <a:bodyPr wrap="square" lIns="100013" tIns="0" rIns="0" bIns="0" rtlCol="0" anchor="t"/>
          <a:lstStyle/>
          <a:p>
            <a:pPr marL="100013" indent="-100013">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Highest PCE (21.12%) obtained at ETL thickness = 0.01 µm</a:t>
            </a:r>
          </a:p>
          <a:p>
            <a:pPr>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PCE decreases to 18.72% at 0.04 µm, then partially recovers to 19.97% at 0.09 µm</a:t>
            </a:r>
          </a:p>
          <a:p>
            <a:pPr>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and FF show similar non-monotonic trend.</a:t>
            </a:r>
          </a:p>
          <a:p>
            <a:pPr>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 remains nearly constant (30.46 → 30.44 mA/cm²)</a:t>
            </a:r>
          </a:p>
          <a:p>
            <a:pPr>
              <a:lnSpc>
                <a:spcPts val="951"/>
              </a:lnSpc>
              <a:spcAft>
                <a:spcPts val="169"/>
              </a:spcAft>
              <a:buSzPct val="100000"/>
            </a:pPr>
            <a:endParaRPr lang="en-US" sz="1200" dirty="0">
              <a:latin typeface="Times New Roman" panose="02020603050405020304" pitchFamily="18" charset="0"/>
              <a:cs typeface="Times New Roman" panose="02020603050405020304" pitchFamily="18" charset="0"/>
            </a:endParaRPr>
          </a:p>
          <a:p>
            <a:pPr marL="100013" indent="-100013">
              <a:lnSpc>
                <a:spcPts val="951"/>
              </a:lnSpc>
              <a:spcAft>
                <a:spcPts val="169"/>
              </a:spcAft>
              <a:buSzPct val="100000"/>
              <a:buChar char="•"/>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Thicker ETL increases electron transport path → higher recombination losses.</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360759" y="4244480"/>
            <a:ext cx="1193453" cy="440335"/>
          </a:xfrm>
          <a:prstGeom prst="roundRect">
            <a:avLst>
              <a:gd name="adj" fmla="val 1325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0" name="Text 8"/>
          <p:cNvSpPr/>
          <p:nvPr/>
        </p:nvSpPr>
        <p:spPr>
          <a:xfrm>
            <a:off x="360759" y="4329361"/>
            <a:ext cx="1193454" cy="183510"/>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Thickness</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07194" y="4520207"/>
            <a:ext cx="1100584" cy="164607"/>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0.01 µm (10 nm)</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592074" y="4244481"/>
            <a:ext cx="1246316" cy="440334"/>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3" name="Text 11"/>
          <p:cNvSpPr/>
          <p:nvPr/>
        </p:nvSpPr>
        <p:spPr>
          <a:xfrm>
            <a:off x="1601635" y="4364531"/>
            <a:ext cx="1227084" cy="202715"/>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64940"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21.12%</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4187" y="4244481"/>
            <a:ext cx="1246316" cy="440334"/>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2686876" y="4329725"/>
            <a:ext cx="1572206" cy="161182"/>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J</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SC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TREND</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22687"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 Constant</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5205450" y="4656720"/>
            <a:ext cx="2620640"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3.8 — Variation of PCE, Voc, Jsc and FF with ETL thickness.</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19</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34B1729-2BB7-EC60-D41C-78ACEE674A1F}"/>
              </a:ext>
            </a:extLst>
          </p:cNvPr>
          <p:cNvPicPr>
            <a:picLocks noChangeAspect="1"/>
          </p:cNvPicPr>
          <p:nvPr/>
        </p:nvPicPr>
        <p:blipFill>
          <a:blip r:embed="rId3">
            <a:extLst>
              <a:ext uri="{28A0092B-C50C-407E-A947-70E740481C1C}">
                <a14:useLocalDpi xmlns:a14="http://schemas.microsoft.com/office/drawing/2010/main" val="0"/>
              </a:ext>
            </a:extLst>
          </a:blip>
          <a:srcRect l="8720" t="7799" r="8720" b="9280"/>
          <a:stretch/>
        </p:blipFill>
        <p:spPr bwMode="auto">
          <a:xfrm>
            <a:off x="4044373" y="848193"/>
            <a:ext cx="4937849" cy="3807321"/>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HTL (CuI) Thickness</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701512"/>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CuI HTL thickness swept from 0.1 µm to 1.9 µm.</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357188" y="1921557"/>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277963"/>
            <a:ext cx="3716089" cy="2077673"/>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PCE increases marginally from 19.7899% → 19.7915% (negligible change).</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slightly increases from 30.4605 → 30.4629 mA/cm².</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69"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 and FF show only very small improvements.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CuI already provides effective hole transport at 0.1 µm.</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Further thickness increase gives no significant benefit.</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0.1 µm selected as optimum (less material, simpler device).</a:t>
            </a:r>
            <a:endParaRPr lang="en-US" sz="1069" dirty="0">
              <a:latin typeface="Times New Roman" panose="02020603050405020304" pitchFamily="18" charset="0"/>
              <a:cs typeface="Times New Roman" panose="02020603050405020304" pitchFamily="18" charset="0"/>
            </a:endParaRPr>
          </a:p>
        </p:txBody>
      </p:sp>
      <p:sp>
        <p:nvSpPr>
          <p:cNvPr id="9" name="Text 7"/>
          <p:cNvSpPr/>
          <p:nvPr/>
        </p:nvSpPr>
        <p:spPr>
          <a:xfrm>
            <a:off x="360759"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0" name="Text 8"/>
          <p:cNvSpPr/>
          <p:nvPr/>
        </p:nvSpPr>
        <p:spPr>
          <a:xfrm>
            <a:off x="360759" y="4297405"/>
            <a:ext cx="1193454" cy="140457"/>
          </a:xfrm>
          <a:prstGeom prst="rect">
            <a:avLst/>
          </a:prstGeom>
          <a:noFill/>
          <a:ln/>
        </p:spPr>
        <p:txBody>
          <a:bodyPr wrap="squar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Thickness</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0.1 µm (100 nm)</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3" name="Text 11"/>
          <p:cNvSpPr/>
          <p:nvPr/>
        </p:nvSpPr>
        <p:spPr>
          <a:xfrm>
            <a:off x="1618506" y="4338926"/>
            <a:ext cx="1193454" cy="270522"/>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19.79%</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221189"/>
            <a:ext cx="1193453" cy="447252"/>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2936974" y="4341613"/>
            <a:ext cx="1072010" cy="225631"/>
          </a:xfrm>
          <a:prstGeom prst="rect">
            <a:avLst/>
          </a:prstGeom>
          <a:noFill/>
          <a:ln/>
        </p:spPr>
        <p:txBody>
          <a:bodyPr wrap="squar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SENSITIVITY</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Very Low</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5199869" y="4656720"/>
            <a:ext cx="2631802"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HTL thickness.</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20</a:t>
            </a:r>
            <a:endParaRPr lang="en-US" sz="800" dirty="0">
              <a:latin typeface="Times New Roman" panose="02020603050405020304" pitchFamily="18" charset="0"/>
              <a:cs typeface="Times New Roman" panose="02020603050405020304" pitchFamily="18" charset="0"/>
            </a:endParaRPr>
          </a:p>
        </p:txBody>
      </p:sp>
      <p:pic>
        <p:nvPicPr>
          <p:cNvPr id="35" name="Picture 34">
            <a:extLst>
              <a:ext uri="{FF2B5EF4-FFF2-40B4-BE49-F238E27FC236}">
                <a16:creationId xmlns:a16="http://schemas.microsoft.com/office/drawing/2014/main" id="{AB09D6BB-6736-367F-9B49-303F570CA456}"/>
              </a:ext>
            </a:extLst>
          </p:cNvPr>
          <p:cNvPicPr>
            <a:picLocks noChangeAspect="1"/>
          </p:cNvPicPr>
          <p:nvPr/>
        </p:nvPicPr>
        <p:blipFill>
          <a:blip r:embed="rId3"/>
          <a:srcRect l="8502" t="8244" r="9423" b="9658"/>
          <a:stretch/>
        </p:blipFill>
        <p:spPr>
          <a:xfrm>
            <a:off x="4029083" y="846298"/>
            <a:ext cx="4976358" cy="38171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erris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Conduction Band Effective DOS (N</a:t>
            </a:r>
            <a:r>
              <a:rPr lang="en-US" b="1" kern="0" spc="17" baseline="-25000" dirty="0">
                <a:solidFill>
                  <a:srgbClr val="000000"/>
                </a:solidFill>
                <a:latin typeface="Times New Roman" panose="02020603050405020304" pitchFamily="18" charset="0"/>
                <a:ea typeface="Tinos" pitchFamily="34" charset="-122"/>
                <a:cs typeface="Times New Roman" panose="02020603050405020304" pitchFamily="18" charset="0"/>
              </a:rPr>
              <a:t>C</a:t>
            </a: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910107"/>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Conduction band effective density of states N</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swept from 1×10¹⁷ to 1×10²⁰ cm⁻³.</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70" dirty="0">
              <a:latin typeface="Times New Roman" panose="02020603050405020304" pitchFamily="18" charset="0"/>
              <a:cs typeface="Times New Roman" panose="02020603050405020304" pitchFamily="18" charset="0"/>
            </a:endParaRPr>
          </a:p>
        </p:txBody>
      </p:sp>
      <p:sp>
        <p:nvSpPr>
          <p:cNvPr id="7" name="Text 5"/>
          <p:cNvSpPr/>
          <p:nvPr/>
        </p:nvSpPr>
        <p:spPr>
          <a:xfrm>
            <a:off x="357188" y="211834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474751"/>
            <a:ext cx="3716089" cy="1785781"/>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PCE decreases gradually from 20.65% → 18.15%.</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Liberation Sans Narrow" pitchFamily="34" charset="-122"/>
                <a:cs typeface="Times New Roman" panose="02020603050405020304" pitchFamily="18" charset="0"/>
              </a:rPr>
              <a:t>V</a:t>
            </a:r>
            <a:r>
              <a:rPr lang="en-US" sz="1070" baseline="-25000" dirty="0">
                <a:solidFill>
                  <a:srgbClr val="000000"/>
                </a:solidFill>
                <a:latin typeface="Times New Roman" panose="02020603050405020304" pitchFamily="18" charset="0"/>
                <a:ea typeface="Liberation Sans Narrow" pitchFamily="34" charset="-122"/>
                <a:cs typeface="Times New Roman" panose="02020603050405020304" pitchFamily="18" charset="0"/>
              </a:rPr>
              <a:t>OC</a:t>
            </a:r>
            <a:r>
              <a:rPr lang="en-US" sz="1070" dirty="0">
                <a:solidFill>
                  <a:srgbClr val="000000"/>
                </a:solidFill>
                <a:latin typeface="Times New Roman" panose="02020603050405020304" pitchFamily="18" charset="0"/>
                <a:ea typeface="Liberation Sans Narrow" pitchFamily="34" charset="-122"/>
                <a:cs typeface="Times New Roman" panose="02020603050405020304" pitchFamily="18" charset="0"/>
              </a:rPr>
              <a:t> drops from 0.859 V → 0.764 V.</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remains nearly unchanged ≈ 30.46 mA/cm².</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FF peaks at 79.97% (10¹⁹ cm⁻³) then drops to 78.04% (10²⁰ cm⁻³).</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Higher N</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shifts quasi-Fermi level → reduced V</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a:t>
            </a:r>
            <a:endParaRPr lang="en-US" sz="1070" dirty="0">
              <a:latin typeface="Times New Roman" panose="02020603050405020304" pitchFamily="18" charset="0"/>
              <a:cs typeface="Times New Roman" panose="02020603050405020304" pitchFamily="18" charset="0"/>
            </a:endParaRPr>
          </a:p>
        </p:txBody>
      </p:sp>
      <p:sp>
        <p:nvSpPr>
          <p:cNvPr id="9" name="Text 7"/>
          <p:cNvSpPr/>
          <p:nvPr/>
        </p:nvSpPr>
        <p:spPr>
          <a:xfrm>
            <a:off x="360759"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0" name="Text 8"/>
          <p:cNvSpPr/>
          <p:nvPr/>
        </p:nvSpPr>
        <p:spPr>
          <a:xfrm>
            <a:off x="614963" y="4386263"/>
            <a:ext cx="684934"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N</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C</a:t>
            </a:r>
            <a:endParaRPr lang="en-US" sz="1000" baseline="-25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1×10¹⁷ cm⁻³</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3" name="Text 11"/>
          <p:cNvSpPr/>
          <p:nvPr/>
        </p:nvSpPr>
        <p:spPr>
          <a:xfrm>
            <a:off x="1975039" y="4386263"/>
            <a:ext cx="480387"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20.65%</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3199494" y="4386263"/>
            <a:ext cx="546970" cy="91440"/>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V</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OC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DROP</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0.859 → 0.764 V</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4615755" y="4622006"/>
            <a:ext cx="4167486" cy="193795"/>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conduction band effective density of states.</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21</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EC490183-918D-B471-B237-129A7212710E}"/>
              </a:ext>
            </a:extLst>
          </p:cNvPr>
          <p:cNvPicPr>
            <a:picLocks noChangeAspect="1"/>
          </p:cNvPicPr>
          <p:nvPr/>
        </p:nvPicPr>
        <p:blipFill>
          <a:blip r:embed="rId3">
            <a:extLst>
              <a:ext uri="{28A0092B-C50C-407E-A947-70E740481C1C}">
                <a14:useLocalDpi xmlns:a14="http://schemas.microsoft.com/office/drawing/2010/main" val="0"/>
              </a:ext>
            </a:extLst>
          </a:blip>
          <a:srcRect l="7444" t="8325" r="8290" b="8325"/>
          <a:stretch/>
        </p:blipFill>
        <p:spPr bwMode="auto">
          <a:xfrm>
            <a:off x="3996978" y="820171"/>
            <a:ext cx="5030886" cy="3820122"/>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Valence Band Effective DOS (N</a:t>
            </a:r>
            <a:r>
              <a:rPr lang="en-US" b="1" kern="0" spc="17" baseline="-2500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38" dirty="0">
              <a:latin typeface="Times New Roman" panose="02020603050405020304" pitchFamily="18" charset="0"/>
              <a:cs typeface="Times New Roman" panose="02020603050405020304" pitchFamily="18" charset="0"/>
            </a:endParaRPr>
          </a:p>
        </p:txBody>
      </p:sp>
      <p:sp>
        <p:nvSpPr>
          <p:cNvPr id="6" name="Text 4"/>
          <p:cNvSpPr/>
          <p:nvPr/>
        </p:nvSpPr>
        <p:spPr>
          <a:xfrm>
            <a:off x="357188" y="1242231"/>
            <a:ext cx="3716089" cy="910107"/>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Valence band effective density of states N</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swept from 1×10¹⁷ to 1×10²⁰ cm⁻³.</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All other parameters held constant.</a:t>
            </a:r>
            <a:endParaRPr lang="en-US" sz="1070" dirty="0">
              <a:latin typeface="Times New Roman" panose="02020603050405020304" pitchFamily="18" charset="0"/>
              <a:cs typeface="Times New Roman" panose="02020603050405020304" pitchFamily="18" charset="0"/>
            </a:endParaRPr>
          </a:p>
        </p:txBody>
      </p:sp>
      <p:sp>
        <p:nvSpPr>
          <p:cNvPr id="7" name="Text 5"/>
          <p:cNvSpPr/>
          <p:nvPr/>
        </p:nvSpPr>
        <p:spPr>
          <a:xfrm>
            <a:off x="357188" y="2118345"/>
            <a:ext cx="3901894"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38" dirty="0">
              <a:latin typeface="Times New Roman" panose="02020603050405020304" pitchFamily="18" charset="0"/>
              <a:cs typeface="Times New Roman" panose="02020603050405020304" pitchFamily="18" charset="0"/>
            </a:endParaRPr>
          </a:p>
        </p:txBody>
      </p:sp>
      <p:sp>
        <p:nvSpPr>
          <p:cNvPr id="8" name="Text 6"/>
          <p:cNvSpPr/>
          <p:nvPr/>
        </p:nvSpPr>
        <p:spPr>
          <a:xfrm>
            <a:off x="357188" y="2474751"/>
            <a:ext cx="3716089" cy="1577186"/>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PCE decreases noticeably from 23.54% → 18.86%.</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drops significantly from 0.944 V → 0.780 V.</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Liberation Sans Narrow" pitchFamily="34" charset="-122"/>
                <a:cs typeface="Times New Roman" panose="02020603050405020304" pitchFamily="18" charset="0"/>
              </a:rPr>
              <a:t>FF decreases from 81.81% → 79.40%.</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remains nearly unchanged ≈ 30.46 mA/cm².</a:t>
            </a:r>
            <a:endParaRPr lang="en-US" sz="1070"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Higher N</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 reduces quasi-Fermi level splitting → lower Voc.</a:t>
            </a:r>
            <a:endParaRPr lang="en-US" sz="1070" dirty="0">
              <a:latin typeface="Times New Roman" panose="02020603050405020304" pitchFamily="18" charset="0"/>
              <a:cs typeface="Times New Roman" panose="02020603050405020304" pitchFamily="18" charset="0"/>
            </a:endParaRPr>
          </a:p>
        </p:txBody>
      </p:sp>
      <p:sp>
        <p:nvSpPr>
          <p:cNvPr id="9" name="Text 7"/>
          <p:cNvSpPr/>
          <p:nvPr/>
        </p:nvSpPr>
        <p:spPr>
          <a:xfrm>
            <a:off x="360759"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0" name="Text 8"/>
          <p:cNvSpPr/>
          <p:nvPr/>
        </p:nvSpPr>
        <p:spPr>
          <a:xfrm>
            <a:off x="360760" y="4366617"/>
            <a:ext cx="1193452" cy="130732"/>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OPTIMUM N</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V</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21481"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Tinos" pitchFamily="34" charset="-122"/>
                <a:cs typeface="Times New Roman" panose="02020603050405020304" pitchFamily="18" charset="0"/>
              </a:rPr>
              <a:t>1×10¹⁷ cm⁻³</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618506"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3" name="Text 11"/>
          <p:cNvSpPr/>
          <p:nvPr/>
        </p:nvSpPr>
        <p:spPr>
          <a:xfrm>
            <a:off x="1816732" y="4366617"/>
            <a:ext cx="797002" cy="130732"/>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MAX PCE</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79228"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23.54%</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6252" y="4325541"/>
            <a:ext cx="1193453" cy="342900"/>
          </a:xfrm>
          <a:prstGeom prst="roundRect">
            <a:avLst>
              <a:gd name="adj" fmla="val 11111"/>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2999970" y="4366617"/>
            <a:ext cx="946018" cy="130732"/>
          </a:xfrm>
          <a:prstGeom prst="rect">
            <a:avLst/>
          </a:prstGeom>
          <a:noFill/>
          <a:ln/>
        </p:spPr>
        <p:txBody>
          <a:bodyPr wrap="none" lIns="0" tIns="0" rIns="0" bIns="0" rtlCol="0" anchor="t">
            <a:noAutofit/>
          </a:bodyPr>
          <a:lstStyle/>
          <a:p>
            <a:pPr marL="0" indent="0" algn="ctr">
              <a:lnSpc>
                <a:spcPts val="77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V</a:t>
            </a:r>
            <a:r>
              <a:rPr lang="en-US" sz="1000" kern="0" spc="23" baseline="-25000" dirty="0">
                <a:solidFill>
                  <a:srgbClr val="333333"/>
                </a:solidFill>
                <a:latin typeface="Times New Roman" panose="02020603050405020304" pitchFamily="18" charset="0"/>
                <a:ea typeface="Tinos" pitchFamily="34" charset="-122"/>
                <a:cs typeface="Times New Roman" panose="02020603050405020304" pitchFamily="18" charset="0"/>
              </a:rPr>
              <a:t>OC</a:t>
            </a: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 DROP</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36974" y="4488061"/>
            <a:ext cx="1072009" cy="133945"/>
          </a:xfrm>
          <a:prstGeom prst="rect">
            <a:avLst/>
          </a:prstGeom>
          <a:noFill/>
          <a:ln/>
        </p:spPr>
        <p:txBody>
          <a:bodyPr wrap="none" lIns="0" tIns="0" rIns="0" bIns="0" rtlCol="0" anchor="t"/>
          <a:lstStyle/>
          <a:p>
            <a:pPr marL="0" indent="0" algn="ctr">
              <a:lnSpc>
                <a:spcPts val="1055"/>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0.944 → 0.780 V</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4688979" y="4656720"/>
            <a:ext cx="3653470"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PCE, Voc, Jsc and FF with valence band effective density of states.</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22</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07C4EAE-C029-3A4E-8C77-10B98A2EBE96}"/>
              </a:ext>
            </a:extLst>
          </p:cNvPr>
          <p:cNvPicPr>
            <a:picLocks noChangeAspect="1"/>
          </p:cNvPicPr>
          <p:nvPr/>
        </p:nvPicPr>
        <p:blipFill>
          <a:blip r:embed="rId3">
            <a:extLst>
              <a:ext uri="{28A0092B-C50C-407E-A947-70E740481C1C}">
                <a14:useLocalDpi xmlns:a14="http://schemas.microsoft.com/office/drawing/2010/main" val="0"/>
              </a:ext>
            </a:extLst>
          </a:blip>
          <a:srcRect l="8850" t="8065" r="8850" b="8065"/>
          <a:stretch/>
        </p:blipFill>
        <p:spPr bwMode="auto">
          <a:xfrm>
            <a:off x="4073277" y="874471"/>
            <a:ext cx="4866741" cy="3807448"/>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Quantum Efficiency (QE)</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40" dirty="0">
              <a:latin typeface="Times New Roman" panose="02020603050405020304" pitchFamily="18" charset="0"/>
              <a:cs typeface="Times New Roman" panose="02020603050405020304" pitchFamily="18" charset="0"/>
            </a:endParaRPr>
          </a:p>
        </p:txBody>
      </p:sp>
      <p:sp>
        <p:nvSpPr>
          <p:cNvPr id="6" name="Text 4"/>
          <p:cNvSpPr/>
          <p:nvPr/>
        </p:nvSpPr>
        <p:spPr>
          <a:xfrm>
            <a:off x="357188" y="1122129"/>
            <a:ext cx="3716089" cy="486186"/>
          </a:xfrm>
          <a:prstGeom prst="rect">
            <a:avLst/>
          </a:prstGeom>
          <a:noFill/>
          <a:ln/>
        </p:spPr>
        <p:txBody>
          <a:bodyPr wrap="square" lIns="100013" tIns="0" rIns="0" bIns="0" rtlCol="0" anchor="t"/>
          <a:lstStyle/>
          <a:p>
            <a:pPr marL="100013" indent="-100013" algn="l">
              <a:lnSpc>
                <a:spcPts val="1024"/>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QE = ratio of collected charge carriers to incident photons at each wavelength</a:t>
            </a:r>
          </a:p>
          <a:p>
            <a:pPr algn="l">
              <a:lnSpc>
                <a:spcPts val="1024"/>
              </a:lnSpc>
              <a:spcAft>
                <a:spcPts val="169"/>
              </a:spcAft>
              <a:buSzPct val="100000"/>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a:t>
            </a:r>
            <a:endParaRPr lang="en-US" sz="1070" dirty="0">
              <a:latin typeface="Times New Roman" panose="02020603050405020304" pitchFamily="18" charset="0"/>
              <a:cs typeface="Times New Roman" panose="02020603050405020304" pitchFamily="18" charset="0"/>
            </a:endParaRPr>
          </a:p>
          <a:p>
            <a:pPr marL="100013" indent="-100013" algn="l">
              <a:lnSpc>
                <a:spcPts val="1024"/>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Indicates light absorption capability and carrier collection efficiency.</a:t>
            </a:r>
            <a:endParaRPr lang="en-US" sz="1070" dirty="0">
              <a:latin typeface="Times New Roman" panose="02020603050405020304" pitchFamily="18" charset="0"/>
              <a:cs typeface="Times New Roman" panose="02020603050405020304" pitchFamily="18" charset="0"/>
            </a:endParaRPr>
          </a:p>
        </p:txBody>
      </p:sp>
      <p:sp>
        <p:nvSpPr>
          <p:cNvPr id="7" name="Text 5"/>
          <p:cNvSpPr/>
          <p:nvPr/>
        </p:nvSpPr>
        <p:spPr>
          <a:xfrm>
            <a:off x="357188" y="1990309"/>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40" dirty="0">
              <a:latin typeface="Times New Roman" panose="02020603050405020304" pitchFamily="18" charset="0"/>
              <a:cs typeface="Times New Roman" panose="02020603050405020304" pitchFamily="18" charset="0"/>
            </a:endParaRPr>
          </a:p>
        </p:txBody>
      </p:sp>
      <p:sp>
        <p:nvSpPr>
          <p:cNvPr id="8" name="Text 6"/>
          <p:cNvSpPr/>
          <p:nvPr/>
        </p:nvSpPr>
        <p:spPr>
          <a:xfrm>
            <a:off x="357188" y="2226609"/>
            <a:ext cx="3716089" cy="1138002"/>
          </a:xfrm>
          <a:prstGeom prst="rect">
            <a:avLst/>
          </a:prstGeom>
          <a:noFill/>
          <a:ln/>
        </p:spPr>
        <p:txBody>
          <a:bodyPr wrap="square" lIns="100013" tIns="0" rIns="0" bIns="0" rtlCol="0" anchor="t"/>
          <a:lstStyle/>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QE rises from 34.5% (300 nm) to ~100% (400 nm).</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Broad plateau 99–100% between 400–650 nm (excellent visible absorption).</a:t>
            </a:r>
          </a:p>
          <a:p>
            <a:pPr algn="l">
              <a:lnSpc>
                <a:spcPts val="951"/>
              </a:lnSpc>
              <a:spcAft>
                <a:spcPts val="169"/>
              </a:spcAft>
              <a:buSzPct val="100000"/>
            </a:pPr>
            <a:endParaRPr lang="en-US" sz="1070" dirty="0">
              <a:solidFill>
                <a:srgbClr val="000000"/>
              </a:solidFill>
              <a:latin typeface="Times New Roman" panose="02020603050405020304" pitchFamily="18" charset="0"/>
              <a:ea typeface="Tinos" pitchFamily="34" charset="-122"/>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Gradual fall beyond 650 nm (98.53% → 76.17% at 850 nm).</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Sharp cutoff near 900 nm — matches RbGeI₃ bandgap.</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Lower UV QE due to surface recombination of high-energy photons.</a:t>
            </a:r>
            <a:endParaRPr lang="en-US" sz="1070" dirty="0">
              <a:latin typeface="Times New Roman" panose="02020603050405020304" pitchFamily="18" charset="0"/>
              <a:cs typeface="Times New Roman" panose="02020603050405020304" pitchFamily="18" charset="0"/>
            </a:endParaRPr>
          </a:p>
        </p:txBody>
      </p:sp>
      <p:sp>
        <p:nvSpPr>
          <p:cNvPr id="9" name="Text 7"/>
          <p:cNvSpPr/>
          <p:nvPr/>
        </p:nvSpPr>
        <p:spPr>
          <a:xfrm>
            <a:off x="360759" y="4298123"/>
            <a:ext cx="1193453" cy="370319"/>
          </a:xfrm>
          <a:prstGeom prst="roundRect">
            <a:avLst>
              <a:gd name="adj" fmla="val 13251"/>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23705" y="4369334"/>
            <a:ext cx="867562" cy="152330"/>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PEAK QE</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07194"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~100% (400–650 nm)</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1592074" y="4300752"/>
            <a:ext cx="1246316" cy="384062"/>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1874542" y="4382717"/>
            <a:ext cx="681270" cy="130840"/>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CUTOFF</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1664940"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~900 nm</a:t>
            </a:r>
            <a:endParaRPr lang="en-US" sz="1000" dirty="0">
              <a:latin typeface="Times New Roman" panose="02020603050405020304" pitchFamily="18" charset="0"/>
              <a:cs typeface="Times New Roman" panose="02020603050405020304" pitchFamily="18" charset="0"/>
            </a:endParaRPr>
          </a:p>
        </p:txBody>
      </p:sp>
      <p:sp>
        <p:nvSpPr>
          <p:cNvPr id="15" name="Text 13"/>
          <p:cNvSpPr/>
          <p:nvPr/>
        </p:nvSpPr>
        <p:spPr>
          <a:xfrm>
            <a:off x="2870922" y="4300752"/>
            <a:ext cx="1246316" cy="384062"/>
          </a:xfrm>
          <a:prstGeom prst="roundRect">
            <a:avLst>
              <a:gd name="adj" fmla="val 11896"/>
            </a:avLst>
          </a:prstGeom>
          <a:solidFill>
            <a:srgbClr val="FFFFFF"/>
          </a:solidFill>
          <a:ln w="7144">
            <a:solidFill>
              <a:srgbClr val="000000"/>
            </a:solidFill>
            <a:prstDash val="solid"/>
          </a:ln>
        </p:spPr>
        <p:txBody>
          <a:bodyPr wrap="square"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6" name="Text 14"/>
          <p:cNvSpPr/>
          <p:nvPr/>
        </p:nvSpPr>
        <p:spPr>
          <a:xfrm>
            <a:off x="3175817" y="4381644"/>
            <a:ext cx="636528" cy="104850"/>
          </a:xfrm>
          <a:prstGeom prst="rect">
            <a:avLst/>
          </a:prstGeom>
          <a:noFill/>
          <a:ln/>
        </p:spPr>
        <p:txBody>
          <a:bodyPr wrap="square" lIns="0" tIns="0" rIns="0" bIns="0" rtlCol="0" anchor="t"/>
          <a:lstStyle/>
          <a:p>
            <a:pPr marL="0" indent="0" algn="ctr">
              <a:lnSpc>
                <a:spcPts val="703"/>
              </a:lnSpc>
              <a:buNone/>
            </a:pPr>
            <a:r>
              <a:rPr lang="en-US" sz="1000" kern="0" spc="23" dirty="0">
                <a:solidFill>
                  <a:srgbClr val="333333"/>
                </a:solidFill>
                <a:latin typeface="Times New Roman" panose="02020603050405020304" pitchFamily="18" charset="0"/>
                <a:ea typeface="Tinos" pitchFamily="34" charset="-122"/>
                <a:cs typeface="Times New Roman" panose="02020603050405020304" pitchFamily="18" charset="0"/>
              </a:rPr>
              <a:t>UV QE</a:t>
            </a:r>
            <a:endParaRPr lang="en-US" sz="1000" dirty="0">
              <a:latin typeface="Times New Roman" panose="02020603050405020304" pitchFamily="18" charset="0"/>
              <a:cs typeface="Times New Roman" panose="02020603050405020304" pitchFamily="18" charset="0"/>
            </a:endParaRPr>
          </a:p>
        </p:txBody>
      </p:sp>
      <p:sp>
        <p:nvSpPr>
          <p:cNvPr id="17" name="Text 15"/>
          <p:cNvSpPr/>
          <p:nvPr/>
        </p:nvSpPr>
        <p:spPr>
          <a:xfrm>
            <a:off x="2943789" y="4520208"/>
            <a:ext cx="1100584" cy="116086"/>
          </a:xfrm>
          <a:prstGeom prst="rect">
            <a:avLst/>
          </a:prstGeom>
          <a:noFill/>
          <a:ln/>
        </p:spPr>
        <p:txBody>
          <a:bodyPr wrap="none" lIns="0" tIns="0" rIns="0" bIns="0" rtlCol="0" anchor="t"/>
          <a:lstStyle/>
          <a:p>
            <a:pPr marL="0" indent="0" algn="ctr">
              <a:lnSpc>
                <a:spcPts val="914"/>
              </a:lnSpc>
              <a:buNone/>
            </a:pPr>
            <a:r>
              <a:rPr lang="en-US" sz="1000" b="1" dirty="0">
                <a:solidFill>
                  <a:srgbClr val="000000"/>
                </a:solidFill>
                <a:latin typeface="Times New Roman" panose="02020603050405020304" pitchFamily="18" charset="0"/>
                <a:ea typeface="Liberation Sans Narrow" pitchFamily="34" charset="-122"/>
                <a:cs typeface="Times New Roman" panose="02020603050405020304" pitchFamily="18" charset="0"/>
              </a:rPr>
              <a:t>34.5–49%</a:t>
            </a:r>
            <a:endParaRPr lang="en-US" sz="1000" dirty="0">
              <a:latin typeface="Times New Roman" panose="02020603050405020304" pitchFamily="18" charset="0"/>
              <a:cs typeface="Times New Roman" panose="02020603050405020304" pitchFamily="18" charset="0"/>
            </a:endParaRPr>
          </a:p>
        </p:txBody>
      </p:sp>
      <p:sp>
        <p:nvSpPr>
          <p:cNvPr id="19" name="Text 16"/>
          <p:cNvSpPr/>
          <p:nvPr/>
        </p:nvSpPr>
        <p:spPr>
          <a:xfrm>
            <a:off x="4478238" y="4656720"/>
            <a:ext cx="4074951"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Variation of quantum efficiency (QE) with incident wavelength of the optimized solar cell.</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23</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7E5CC75-0E67-F66B-6AE7-BF0EAE521AED}"/>
              </a:ext>
            </a:extLst>
          </p:cNvPr>
          <p:cNvPicPr>
            <a:picLocks noChangeAspect="1"/>
          </p:cNvPicPr>
          <p:nvPr/>
        </p:nvPicPr>
        <p:blipFill>
          <a:blip r:embed="rId3">
            <a:extLst>
              <a:ext uri="{28A0092B-C50C-407E-A947-70E740481C1C}">
                <a14:useLocalDpi xmlns:a14="http://schemas.microsoft.com/office/drawing/2010/main" val="0"/>
              </a:ext>
            </a:extLst>
          </a:blip>
          <a:srcRect l="4482" t="6777" r="17392" b="2932"/>
          <a:stretch/>
        </p:blipFill>
        <p:spPr bwMode="auto">
          <a:xfrm>
            <a:off x="4296944" y="880467"/>
            <a:ext cx="4306782" cy="3821928"/>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spd="slow">
        <p15:prstTrans prst="fallOve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Results — Energy Band Diagram</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Parameter Varied</a:t>
            </a:r>
            <a:endParaRPr lang="en-US" sz="1240" dirty="0">
              <a:latin typeface="Times New Roman" panose="02020603050405020304" pitchFamily="18" charset="0"/>
              <a:cs typeface="Times New Roman" panose="02020603050405020304" pitchFamily="18" charset="0"/>
            </a:endParaRPr>
          </a:p>
        </p:txBody>
      </p:sp>
      <p:sp>
        <p:nvSpPr>
          <p:cNvPr id="6" name="Text 4"/>
          <p:cNvSpPr/>
          <p:nvPr/>
        </p:nvSpPr>
        <p:spPr>
          <a:xfrm>
            <a:off x="357188" y="1115095"/>
            <a:ext cx="3716089" cy="611744"/>
          </a:xfrm>
          <a:prstGeom prst="rect">
            <a:avLst/>
          </a:prstGeom>
          <a:noFill/>
          <a:ln/>
        </p:spPr>
        <p:txBody>
          <a:bodyPr wrap="square" lIns="100013" tIns="0" rIns="0" bIns="0" rtlCol="0" anchor="t"/>
          <a:lstStyle/>
          <a:p>
            <a:pPr marL="100013" indent="-100013" algn="l">
              <a:lnSpc>
                <a:spcPts val="1024"/>
              </a:lnSpc>
              <a:spcAft>
                <a:spcPts val="169"/>
              </a:spcAft>
              <a:buSzPct val="100000"/>
              <a:buChar char="•"/>
            </a:pPr>
            <a:r>
              <a:rPr lang="en-US" sz="1070" dirty="0">
                <a:solidFill>
                  <a:srgbClr val="000000"/>
                </a:solidFill>
                <a:latin typeface="Times New Roman" panose="02020603050405020304" pitchFamily="18" charset="0"/>
                <a:ea typeface="Liberation Sans Narrow" pitchFamily="34" charset="-122"/>
                <a:cs typeface="Times New Roman" panose="02020603050405020304" pitchFamily="18" charset="0"/>
              </a:rPr>
              <a:t>Total device thickness: 1310 nm.</a:t>
            </a:r>
          </a:p>
          <a:p>
            <a:pPr algn="l">
              <a:lnSpc>
                <a:spcPts val="1024"/>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1024"/>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CuI (100 nm) + RbGeI₃ (700 nm) + TiO₂ (10 nm) + FTO (500 nm).</a:t>
            </a:r>
            <a:endParaRPr lang="en-US" sz="1070" dirty="0">
              <a:latin typeface="Times New Roman" panose="02020603050405020304" pitchFamily="18" charset="0"/>
              <a:cs typeface="Times New Roman" panose="02020603050405020304" pitchFamily="18" charset="0"/>
            </a:endParaRPr>
          </a:p>
        </p:txBody>
      </p:sp>
      <p:sp>
        <p:nvSpPr>
          <p:cNvPr id="7" name="Text 5"/>
          <p:cNvSpPr/>
          <p:nvPr/>
        </p:nvSpPr>
        <p:spPr>
          <a:xfrm>
            <a:off x="357188" y="1863697"/>
            <a:ext cx="3901894" cy="201320"/>
          </a:xfrm>
          <a:prstGeom prst="rect">
            <a:avLst/>
          </a:prstGeom>
          <a:noFill/>
          <a:ln/>
        </p:spPr>
        <p:txBody>
          <a:bodyPr wrap="none" lIns="0" tIns="0" rIns="0" bIns="0" rtlCol="0" anchor="t"/>
          <a:lstStyle/>
          <a:p>
            <a:pPr marL="0" indent="0" algn="l">
              <a:lnSpc>
                <a:spcPts val="1468"/>
              </a:lnSpc>
              <a:buNone/>
            </a:pPr>
            <a:r>
              <a:rPr lang="en-US" sz="1240" b="1" dirty="0">
                <a:solidFill>
                  <a:srgbClr val="000000"/>
                </a:solidFill>
                <a:latin typeface="Times New Roman" panose="02020603050405020304" pitchFamily="18" charset="0"/>
                <a:ea typeface="Tinos" pitchFamily="34" charset="-122"/>
                <a:cs typeface="Times New Roman" panose="02020603050405020304" pitchFamily="18" charset="0"/>
              </a:rPr>
              <a:t>Key Observations</a:t>
            </a:r>
            <a:endParaRPr lang="en-US" sz="1240" dirty="0">
              <a:latin typeface="Times New Roman" panose="02020603050405020304" pitchFamily="18" charset="0"/>
              <a:cs typeface="Times New Roman" panose="02020603050405020304" pitchFamily="18" charset="0"/>
            </a:endParaRPr>
          </a:p>
        </p:txBody>
      </p:sp>
      <p:sp>
        <p:nvSpPr>
          <p:cNvPr id="8" name="Text 6"/>
          <p:cNvSpPr/>
          <p:nvPr/>
        </p:nvSpPr>
        <p:spPr>
          <a:xfrm>
            <a:off x="357188" y="2114068"/>
            <a:ext cx="3716089" cy="1981243"/>
          </a:xfrm>
          <a:prstGeom prst="rect">
            <a:avLst/>
          </a:prstGeom>
          <a:noFill/>
          <a:ln/>
        </p:spPr>
        <p:txBody>
          <a:bodyPr wrap="square" lIns="100013" tIns="0" rIns="0" bIns="0" rtlCol="0" anchor="t"/>
          <a:lstStyle/>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CuI/RbGeI₃ interface: ΔEc ≈ 1.8 eV (electron-blocking), ΔEv ≈ 0.01 eV (hole-friendly).</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RbGeI₃/TiO₂ interface: ΔEc ≈ 0.10 eV (slight spike — beneficial), ΔEv ≈ 1.99 eV (hole-blocking).</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Strong quasi-Fermi level splitting → high V</a:t>
            </a:r>
            <a:r>
              <a:rPr lang="en-US" sz="107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Slight band bending at heterojunctions → built-in electric field drives carrier separation.</a:t>
            </a:r>
          </a:p>
          <a:p>
            <a:pPr algn="l">
              <a:lnSpc>
                <a:spcPts val="951"/>
              </a:lnSpc>
              <a:spcAft>
                <a:spcPts val="169"/>
              </a:spcAft>
              <a:buSzPct val="100000"/>
            </a:pPr>
            <a:endParaRPr lang="en-US" sz="1070" dirty="0">
              <a:latin typeface="Times New Roman" panose="02020603050405020304" pitchFamily="18" charset="0"/>
              <a:cs typeface="Times New Roman" panose="02020603050405020304" pitchFamily="18" charset="0"/>
            </a:endParaRPr>
          </a:p>
          <a:p>
            <a:pPr marL="100013" indent="-100013" algn="l">
              <a:lnSpc>
                <a:spcPts val="951"/>
              </a:lnSpc>
              <a:spcAft>
                <a:spcPts val="169"/>
              </a:spcAft>
              <a:buSzPct val="100000"/>
              <a:buChar char="•"/>
            </a:pPr>
            <a:r>
              <a:rPr lang="en-US" sz="1070" dirty="0">
                <a:solidFill>
                  <a:srgbClr val="000000"/>
                </a:solidFill>
                <a:latin typeface="Times New Roman" panose="02020603050405020304" pitchFamily="18" charset="0"/>
                <a:ea typeface="Tinos" pitchFamily="34" charset="-122"/>
                <a:cs typeface="Times New Roman" panose="02020603050405020304" pitchFamily="18" charset="0"/>
              </a:rPr>
              <a:t>Favourable band alignment enables selective electron/hole collection.</a:t>
            </a:r>
            <a:endParaRPr lang="en-US" sz="1070" dirty="0">
              <a:latin typeface="Times New Roman" panose="02020603050405020304" pitchFamily="18" charset="0"/>
              <a:cs typeface="Times New Roman" panose="02020603050405020304" pitchFamily="18" charset="0"/>
            </a:endParaRPr>
          </a:p>
        </p:txBody>
      </p:sp>
      <p:sp>
        <p:nvSpPr>
          <p:cNvPr id="19" name="Text 16"/>
          <p:cNvSpPr/>
          <p:nvPr/>
        </p:nvSpPr>
        <p:spPr>
          <a:xfrm>
            <a:off x="4814106" y="4656720"/>
            <a:ext cx="3403327" cy="159081"/>
          </a:xfrm>
          <a:prstGeom prst="rect">
            <a:avLst/>
          </a:prstGeom>
          <a:noFill/>
          <a:ln/>
        </p:spPr>
        <p:txBody>
          <a:bodyPr wrap="square" lIns="0" tIns="0" rIns="0" bIns="0" rtlCol="0" anchor="t"/>
          <a:lstStyle/>
          <a:p>
            <a:pPr marL="0" indent="0" algn="ctr">
              <a:lnSpc>
                <a:spcPts val="1142"/>
              </a:lnSpc>
              <a:buNone/>
            </a:pPr>
            <a:r>
              <a:rPr lang="en-US" sz="800" i="1" dirty="0">
                <a:solidFill>
                  <a:srgbClr val="333333"/>
                </a:solidFill>
                <a:latin typeface="Times New Roman" panose="02020603050405020304" pitchFamily="18" charset="0"/>
                <a:ea typeface="Tinos" pitchFamily="34" charset="-122"/>
                <a:cs typeface="Times New Roman" panose="02020603050405020304" pitchFamily="18" charset="0"/>
              </a:rPr>
              <a:t>Fig — Energy band diagram</a:t>
            </a:r>
            <a:endParaRPr lang="en-US" sz="800" dirty="0">
              <a:latin typeface="Times New Roman" panose="02020603050405020304" pitchFamily="18" charset="0"/>
              <a:cs typeface="Times New Roman" panose="02020603050405020304" pitchFamily="18" charset="0"/>
            </a:endParaRPr>
          </a:p>
        </p:txBody>
      </p:sp>
      <p:sp>
        <p:nvSpPr>
          <p:cNvPr id="20" name="Text 17"/>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1" name="Shape 18"/>
          <p:cNvSpPr/>
          <p:nvPr/>
        </p:nvSpPr>
        <p:spPr>
          <a:xfrm>
            <a:off x="0" y="4822031"/>
            <a:ext cx="9144000" cy="0"/>
          </a:xfrm>
          <a:prstGeom prst="line">
            <a:avLst/>
          </a:prstGeom>
          <a:noFill/>
          <a:ln w="14288">
            <a:solidFill>
              <a:srgbClr val="C4D2B1"/>
            </a:solidFill>
            <a:prstDash val="solid"/>
          </a:ln>
        </p:spPr>
      </p:sp>
      <p:sp>
        <p:nvSpPr>
          <p:cNvPr id="22" name="Text 19"/>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3" name="Text 20"/>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4" name="Text 21"/>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24</a:t>
            </a:r>
            <a:endParaRPr lang="en-US" sz="8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42C6571-6C9A-D690-4AF6-895CD1CE6672}"/>
              </a:ext>
            </a:extLst>
          </p:cNvPr>
          <p:cNvPicPr>
            <a:picLocks noChangeAspect="1"/>
          </p:cNvPicPr>
          <p:nvPr/>
        </p:nvPicPr>
        <p:blipFill>
          <a:blip r:embed="rId3">
            <a:extLst>
              <a:ext uri="{28A0092B-C50C-407E-A947-70E740481C1C}">
                <a14:useLocalDpi xmlns:a14="http://schemas.microsoft.com/office/drawing/2010/main" val="0"/>
              </a:ext>
            </a:extLst>
          </a:blip>
          <a:srcRect l="9656" t="9703" r="12871" b="4028"/>
          <a:stretch/>
        </p:blipFill>
        <p:spPr bwMode="auto">
          <a:xfrm>
            <a:off x="4259082" y="943981"/>
            <a:ext cx="4362490" cy="3729341"/>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818"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Final Optimized Performance</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8429625" cy="176969"/>
          </a:xfrm>
          <a:prstGeom prst="rect">
            <a:avLst/>
          </a:prstGeom>
          <a:noFill/>
          <a:ln/>
        </p:spPr>
        <p:txBody>
          <a:bodyPr wrap="square" lIns="142875" tIns="0" rIns="142875" bIns="0" rtlCol="0" anchor="t"/>
          <a:lstStyle/>
          <a:p>
            <a:pPr marL="0" indent="0" algn="ctr">
              <a:lnSpc>
                <a:spcPts val="1291"/>
              </a:lnSpc>
              <a:buNone/>
            </a:pPr>
            <a:r>
              <a:rPr lang="en-US" sz="1050" dirty="0">
                <a:solidFill>
                  <a:srgbClr val="000000"/>
                </a:solidFill>
                <a:latin typeface="Times New Roman" panose="02020603050405020304" pitchFamily="18" charset="0"/>
                <a:ea typeface="Tinos" pitchFamily="34" charset="-122"/>
                <a:cs typeface="Times New Roman" panose="02020603050405020304" pitchFamily="18" charset="0"/>
              </a:rPr>
              <a:t>After sequential optimization of all device parameters, the proposed FTO/TiO₂/RbGeI₃/CuI/Au solar cell achieved:</a:t>
            </a:r>
            <a:endParaRPr lang="en-US" sz="1050" dirty="0">
              <a:latin typeface="Times New Roman" panose="02020603050405020304" pitchFamily="18" charset="0"/>
              <a:cs typeface="Times New Roman" panose="02020603050405020304" pitchFamily="18" charset="0"/>
            </a:endParaRPr>
          </a:p>
        </p:txBody>
      </p:sp>
      <p:sp>
        <p:nvSpPr>
          <p:cNvPr id="6" name="Text 4"/>
          <p:cNvSpPr/>
          <p:nvPr/>
        </p:nvSpPr>
        <p:spPr>
          <a:xfrm>
            <a:off x="364331" y="1128266"/>
            <a:ext cx="1985963" cy="644563"/>
          </a:xfrm>
          <a:prstGeom prst="roundRect">
            <a:avLst>
              <a:gd name="adj" fmla="val 4520"/>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471488" y="1192560"/>
            <a:ext cx="1771650" cy="156520"/>
          </a:xfrm>
          <a:prstGeom prst="rect">
            <a:avLst/>
          </a:prstGeom>
          <a:noFill/>
          <a:ln/>
        </p:spPr>
        <p:txBody>
          <a:bodyPr wrap="none" lIns="0" tIns="0" rIns="0" bIns="0" rtlCol="0" anchor="t">
            <a:normAutofit/>
          </a:bodyPr>
          <a:lstStyle/>
          <a:p>
            <a:pPr marL="0" indent="0" algn="ctr">
              <a:lnSpc>
                <a:spcPts val="1223"/>
              </a:lnSpc>
              <a:buNone/>
            </a:pPr>
            <a:r>
              <a:rPr lang="en-US" sz="1050" kern="0" spc="28" dirty="0">
                <a:solidFill>
                  <a:srgbClr val="000000"/>
                </a:solidFill>
                <a:latin typeface="Times New Roman" panose="02020603050405020304" pitchFamily="18" charset="0"/>
                <a:ea typeface="Tinos" pitchFamily="34" charset="-122"/>
                <a:cs typeface="Times New Roman" panose="02020603050405020304" pitchFamily="18" charset="0"/>
              </a:rPr>
              <a:t>PCE</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471488" y="1376511"/>
            <a:ext cx="1771650" cy="206861"/>
          </a:xfrm>
          <a:prstGeom prst="rect">
            <a:avLst/>
          </a:prstGeom>
          <a:noFill/>
          <a:ln/>
        </p:spPr>
        <p:txBody>
          <a:bodyPr wrap="none" lIns="0" tIns="0" rIns="0" bIns="0" rtlCol="0" anchor="t">
            <a:noAutofit/>
          </a:bodyPr>
          <a:lstStyle/>
          <a:p>
            <a:pPr marL="0" indent="0" algn="ctr">
              <a:lnSpc>
                <a:spcPts val="1733"/>
              </a:lnSpc>
              <a:buNone/>
            </a:pPr>
            <a:r>
              <a:rPr lang="en-US" b="1" dirty="0">
                <a:solidFill>
                  <a:srgbClr val="000000"/>
                </a:solidFill>
                <a:latin typeface="Times New Roman" panose="02020603050405020304" pitchFamily="18" charset="0"/>
                <a:ea typeface="Liberation Sans Narrow" pitchFamily="34" charset="-122"/>
                <a:cs typeface="Times New Roman" panose="02020603050405020304" pitchFamily="18" charset="0"/>
              </a:rPr>
              <a:t>26.69%</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471488" y="1610804"/>
            <a:ext cx="1842516" cy="158981"/>
          </a:xfrm>
          <a:prstGeom prst="rect">
            <a:avLst/>
          </a:prstGeom>
          <a:noFill/>
          <a:ln/>
        </p:spPr>
        <p:txBody>
          <a:bodyPr wrap="square" lIns="0" tIns="0" rIns="0" bIns="0" rtlCol="0" anchor="t"/>
          <a:lstStyle/>
          <a:p>
            <a:pPr marL="0" indent="0" algn="ctr">
              <a:lnSpc>
                <a:spcPts val="897"/>
              </a:lnSpc>
              <a:buNone/>
            </a:pPr>
            <a:r>
              <a:rPr lang="en-US" sz="1050" dirty="0">
                <a:solidFill>
                  <a:srgbClr val="333333"/>
                </a:solidFill>
                <a:latin typeface="Times New Roman" panose="02020603050405020304" pitchFamily="18" charset="0"/>
                <a:ea typeface="Tinos" pitchFamily="34" charset="-122"/>
                <a:cs typeface="Times New Roman" panose="02020603050405020304" pitchFamily="18" charset="0"/>
              </a:rPr>
              <a:t>Power Conversion Efficiency</a:t>
            </a:r>
            <a:endParaRPr lang="en-US" sz="1050" dirty="0">
              <a:latin typeface="Times New Roman" panose="02020603050405020304" pitchFamily="18" charset="0"/>
              <a:cs typeface="Times New Roman" panose="02020603050405020304" pitchFamily="18" charset="0"/>
            </a:endParaRPr>
          </a:p>
        </p:txBody>
      </p:sp>
      <p:sp>
        <p:nvSpPr>
          <p:cNvPr id="10" name="Text 8"/>
          <p:cNvSpPr/>
          <p:nvPr/>
        </p:nvSpPr>
        <p:spPr>
          <a:xfrm>
            <a:off x="2507456" y="1128266"/>
            <a:ext cx="1985963" cy="644563"/>
          </a:xfrm>
          <a:prstGeom prst="roundRect">
            <a:avLst>
              <a:gd name="adj" fmla="val 4520"/>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2586038" y="1178272"/>
            <a:ext cx="1828800" cy="156520"/>
          </a:xfrm>
          <a:prstGeom prst="rect">
            <a:avLst/>
          </a:prstGeom>
          <a:noFill/>
          <a:ln/>
        </p:spPr>
        <p:txBody>
          <a:bodyPr wrap="none" lIns="0" tIns="0" rIns="0" bIns="0" rtlCol="0" anchor="t">
            <a:normAutofit/>
          </a:bodyPr>
          <a:lstStyle/>
          <a:p>
            <a:pPr marL="0" indent="0" algn="ctr">
              <a:lnSpc>
                <a:spcPts val="1223"/>
              </a:lnSpc>
              <a:buNone/>
            </a:pPr>
            <a:r>
              <a:rPr lang="en-US" sz="1050" kern="0" spc="28"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050" kern="0" spc="28" baseline="-40000" dirty="0">
                <a:solidFill>
                  <a:srgbClr val="000000"/>
                </a:solidFill>
                <a:latin typeface="Times New Roman" panose="02020603050405020304" pitchFamily="18" charset="0"/>
                <a:ea typeface="Tinos" pitchFamily="34" charset="-122"/>
                <a:cs typeface="Times New Roman" panose="02020603050405020304" pitchFamily="18" charset="0"/>
              </a:rPr>
              <a:t>OC</a:t>
            </a:r>
            <a:endParaRPr lang="en-US" sz="1050" dirty="0">
              <a:latin typeface="Times New Roman" panose="02020603050405020304" pitchFamily="18" charset="0"/>
              <a:cs typeface="Times New Roman" panose="02020603050405020304" pitchFamily="18" charset="0"/>
            </a:endParaRPr>
          </a:p>
        </p:txBody>
      </p:sp>
      <p:sp>
        <p:nvSpPr>
          <p:cNvPr id="12" name="Text 10"/>
          <p:cNvSpPr/>
          <p:nvPr/>
        </p:nvSpPr>
        <p:spPr>
          <a:xfrm>
            <a:off x="2586038" y="1362224"/>
            <a:ext cx="1828800" cy="206861"/>
          </a:xfrm>
          <a:prstGeom prst="rect">
            <a:avLst/>
          </a:prstGeom>
          <a:noFill/>
          <a:ln/>
        </p:spPr>
        <p:txBody>
          <a:bodyPr wrap="none" lIns="0" tIns="0" rIns="0" bIns="0" rtlCol="0" anchor="t">
            <a:noAutofit/>
          </a:bodyPr>
          <a:lstStyle/>
          <a:p>
            <a:pPr marL="0" indent="0" algn="ctr">
              <a:lnSpc>
                <a:spcPts val="1733"/>
              </a:lnSpc>
              <a:buNone/>
            </a:pPr>
            <a:r>
              <a:rPr lang="en-US" b="1" dirty="0">
                <a:solidFill>
                  <a:srgbClr val="000000"/>
                </a:solidFill>
                <a:latin typeface="Times New Roman" panose="02020603050405020304" pitchFamily="18" charset="0"/>
                <a:ea typeface="Liberation Sans Narrow" pitchFamily="34" charset="-122"/>
                <a:cs typeface="Times New Roman" panose="02020603050405020304" pitchFamily="18" charset="0"/>
              </a:rPr>
              <a:t>1.1127</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2586038" y="1596517"/>
            <a:ext cx="1828800" cy="158981"/>
          </a:xfrm>
          <a:prstGeom prst="rect">
            <a:avLst/>
          </a:prstGeom>
          <a:noFill/>
          <a:ln/>
        </p:spPr>
        <p:txBody>
          <a:bodyPr wrap="none" lIns="0" tIns="0" rIns="0" bIns="0" rtlCol="0" anchor="t"/>
          <a:lstStyle/>
          <a:p>
            <a:pPr marL="0" indent="0" algn="ctr">
              <a:lnSpc>
                <a:spcPts val="897"/>
              </a:lnSpc>
              <a:buNone/>
            </a:pPr>
            <a:r>
              <a:rPr lang="en-US" sz="1050" dirty="0">
                <a:solidFill>
                  <a:srgbClr val="333333"/>
                </a:solidFill>
                <a:latin typeface="Times New Roman" panose="02020603050405020304" pitchFamily="18" charset="0"/>
                <a:ea typeface="Tinos" pitchFamily="34" charset="-122"/>
                <a:cs typeface="Times New Roman" panose="02020603050405020304" pitchFamily="18" charset="0"/>
              </a:rPr>
              <a:t>Volts</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4650581" y="1128266"/>
            <a:ext cx="1985963" cy="644563"/>
          </a:xfrm>
          <a:prstGeom prst="roundRect">
            <a:avLst>
              <a:gd name="adj" fmla="val 4520"/>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4729163" y="1178272"/>
            <a:ext cx="1828800" cy="156520"/>
          </a:xfrm>
          <a:prstGeom prst="rect">
            <a:avLst/>
          </a:prstGeom>
          <a:noFill/>
          <a:ln/>
        </p:spPr>
        <p:txBody>
          <a:bodyPr wrap="none" lIns="0" tIns="0" rIns="0" bIns="0" rtlCol="0" anchor="t">
            <a:normAutofit/>
          </a:bodyPr>
          <a:lstStyle/>
          <a:p>
            <a:pPr marL="0" indent="0" algn="ctr">
              <a:lnSpc>
                <a:spcPts val="1223"/>
              </a:lnSpc>
              <a:buNone/>
            </a:pPr>
            <a:r>
              <a:rPr lang="en-US" sz="1050" kern="0" spc="28"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050" kern="0" spc="28" baseline="-40000" dirty="0">
                <a:solidFill>
                  <a:srgbClr val="000000"/>
                </a:solidFill>
                <a:latin typeface="Times New Roman" panose="02020603050405020304" pitchFamily="18" charset="0"/>
                <a:ea typeface="Tinos" pitchFamily="34" charset="-122"/>
                <a:cs typeface="Times New Roman" panose="02020603050405020304" pitchFamily="18" charset="0"/>
              </a:rPr>
              <a:t>SC</a:t>
            </a:r>
            <a:endParaRPr lang="en-US" sz="1050" dirty="0">
              <a:latin typeface="Times New Roman" panose="02020603050405020304" pitchFamily="18" charset="0"/>
              <a:cs typeface="Times New Roman" panose="02020603050405020304" pitchFamily="18" charset="0"/>
            </a:endParaRPr>
          </a:p>
        </p:txBody>
      </p:sp>
      <p:sp>
        <p:nvSpPr>
          <p:cNvPr id="16" name="Text 14"/>
          <p:cNvSpPr/>
          <p:nvPr/>
        </p:nvSpPr>
        <p:spPr>
          <a:xfrm>
            <a:off x="4729163" y="1362224"/>
            <a:ext cx="1828800" cy="206861"/>
          </a:xfrm>
          <a:prstGeom prst="rect">
            <a:avLst/>
          </a:prstGeom>
          <a:noFill/>
          <a:ln/>
        </p:spPr>
        <p:txBody>
          <a:bodyPr wrap="none" lIns="0" tIns="0" rIns="0" bIns="0" rtlCol="0" anchor="t">
            <a:noAutofit/>
          </a:bodyPr>
          <a:lstStyle/>
          <a:p>
            <a:pPr marL="0" indent="0" algn="ctr">
              <a:lnSpc>
                <a:spcPts val="1733"/>
              </a:lnSpc>
              <a:buNone/>
            </a:pPr>
            <a:r>
              <a:rPr lang="en-US" b="1" dirty="0">
                <a:solidFill>
                  <a:srgbClr val="000000"/>
                </a:solidFill>
                <a:latin typeface="Times New Roman" panose="02020603050405020304" pitchFamily="18" charset="0"/>
                <a:ea typeface="Liberation Sans Narrow" pitchFamily="34" charset="-122"/>
                <a:cs typeface="Times New Roman" panose="02020603050405020304" pitchFamily="18" charset="0"/>
              </a:rPr>
              <a:t>30.32</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4729163" y="1596517"/>
            <a:ext cx="1828800" cy="158981"/>
          </a:xfrm>
          <a:prstGeom prst="rect">
            <a:avLst/>
          </a:prstGeom>
          <a:noFill/>
          <a:ln/>
        </p:spPr>
        <p:txBody>
          <a:bodyPr wrap="none" lIns="0" tIns="0" rIns="0" bIns="0" rtlCol="0" anchor="t"/>
          <a:lstStyle/>
          <a:p>
            <a:pPr marL="0" indent="0" algn="ctr">
              <a:lnSpc>
                <a:spcPts val="897"/>
              </a:lnSpc>
              <a:buNone/>
            </a:pPr>
            <a:r>
              <a:rPr lang="en-US" sz="1050" dirty="0">
                <a:solidFill>
                  <a:srgbClr val="333333"/>
                </a:solidFill>
                <a:latin typeface="Times New Roman" panose="02020603050405020304" pitchFamily="18" charset="0"/>
                <a:ea typeface="Tinos" pitchFamily="34" charset="-122"/>
                <a:cs typeface="Times New Roman" panose="02020603050405020304" pitchFamily="18" charset="0"/>
              </a:rPr>
              <a:t>mA/cm²</a:t>
            </a:r>
            <a:endParaRPr lang="en-US" sz="1050" dirty="0">
              <a:latin typeface="Times New Roman" panose="02020603050405020304" pitchFamily="18" charset="0"/>
              <a:cs typeface="Times New Roman" panose="02020603050405020304" pitchFamily="18" charset="0"/>
            </a:endParaRPr>
          </a:p>
        </p:txBody>
      </p:sp>
      <p:sp>
        <p:nvSpPr>
          <p:cNvPr id="18" name="Text 16"/>
          <p:cNvSpPr/>
          <p:nvPr/>
        </p:nvSpPr>
        <p:spPr>
          <a:xfrm>
            <a:off x="6793706" y="1128266"/>
            <a:ext cx="1985963" cy="644563"/>
          </a:xfrm>
          <a:prstGeom prst="roundRect">
            <a:avLst>
              <a:gd name="adj" fmla="val 4520"/>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872288" y="1178272"/>
            <a:ext cx="1828800" cy="156520"/>
          </a:xfrm>
          <a:prstGeom prst="rect">
            <a:avLst/>
          </a:prstGeom>
          <a:noFill/>
          <a:ln/>
        </p:spPr>
        <p:txBody>
          <a:bodyPr wrap="none" lIns="0" tIns="0" rIns="0" bIns="0" rtlCol="0" anchor="t">
            <a:normAutofit/>
          </a:bodyPr>
          <a:lstStyle/>
          <a:p>
            <a:pPr marL="0" indent="0" algn="ctr">
              <a:lnSpc>
                <a:spcPts val="1223"/>
              </a:lnSpc>
              <a:buNone/>
            </a:pPr>
            <a:r>
              <a:rPr lang="en-US" sz="1050" kern="0" spc="28" dirty="0">
                <a:solidFill>
                  <a:srgbClr val="000000"/>
                </a:solidFill>
                <a:latin typeface="Times New Roman" panose="02020603050405020304" pitchFamily="18" charset="0"/>
                <a:ea typeface="Tinos" pitchFamily="34" charset="-122"/>
                <a:cs typeface="Times New Roman" panose="02020603050405020304" pitchFamily="18" charset="0"/>
              </a:rPr>
              <a:t>FF</a:t>
            </a:r>
            <a:endParaRPr lang="en-US" sz="1050" dirty="0">
              <a:latin typeface="Times New Roman" panose="02020603050405020304" pitchFamily="18" charset="0"/>
              <a:cs typeface="Times New Roman" panose="02020603050405020304" pitchFamily="18" charset="0"/>
            </a:endParaRPr>
          </a:p>
        </p:txBody>
      </p:sp>
      <p:sp>
        <p:nvSpPr>
          <p:cNvPr id="20" name="Text 18"/>
          <p:cNvSpPr/>
          <p:nvPr/>
        </p:nvSpPr>
        <p:spPr>
          <a:xfrm>
            <a:off x="6872288" y="1362224"/>
            <a:ext cx="1828800" cy="206861"/>
          </a:xfrm>
          <a:prstGeom prst="rect">
            <a:avLst/>
          </a:prstGeom>
          <a:noFill/>
          <a:ln/>
        </p:spPr>
        <p:txBody>
          <a:bodyPr wrap="none" lIns="0" tIns="0" rIns="0" bIns="0" rtlCol="0" anchor="t">
            <a:noAutofit/>
          </a:bodyPr>
          <a:lstStyle/>
          <a:p>
            <a:pPr marL="0" indent="0" algn="ctr">
              <a:lnSpc>
                <a:spcPts val="1733"/>
              </a:lnSpc>
              <a:buNone/>
            </a:pPr>
            <a:r>
              <a:rPr lang="en-US" b="1" dirty="0">
                <a:solidFill>
                  <a:srgbClr val="000000"/>
                </a:solidFill>
                <a:latin typeface="Times New Roman" panose="02020603050405020304" pitchFamily="18" charset="0"/>
                <a:ea typeface="Liberation Sans Narrow" pitchFamily="34" charset="-122"/>
                <a:cs typeface="Times New Roman" panose="02020603050405020304" pitchFamily="18" charset="0"/>
              </a:rPr>
              <a:t>79.13%</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6872288" y="1596517"/>
            <a:ext cx="1828800" cy="158981"/>
          </a:xfrm>
          <a:prstGeom prst="rect">
            <a:avLst/>
          </a:prstGeom>
          <a:noFill/>
          <a:ln/>
        </p:spPr>
        <p:txBody>
          <a:bodyPr wrap="none" lIns="0" tIns="0" rIns="0" bIns="0" rtlCol="0" anchor="t"/>
          <a:lstStyle/>
          <a:p>
            <a:pPr marL="0" indent="0" algn="ctr">
              <a:lnSpc>
                <a:spcPts val="897"/>
              </a:lnSpc>
              <a:buNone/>
            </a:pPr>
            <a:r>
              <a:rPr lang="en-US" sz="1050" dirty="0">
                <a:solidFill>
                  <a:srgbClr val="333333"/>
                </a:solidFill>
                <a:latin typeface="Times New Roman" panose="02020603050405020304" pitchFamily="18" charset="0"/>
                <a:ea typeface="Tinos" pitchFamily="34" charset="-122"/>
                <a:cs typeface="Times New Roman" panose="02020603050405020304" pitchFamily="18" charset="0"/>
              </a:rPr>
              <a:t>Fill Factor</a:t>
            </a:r>
            <a:endParaRPr lang="en-US" sz="1050" dirty="0">
              <a:latin typeface="Times New Roman" panose="02020603050405020304" pitchFamily="18" charset="0"/>
              <a:cs typeface="Times New Roman" panose="02020603050405020304" pitchFamily="18" charset="0"/>
            </a:endParaRPr>
          </a:p>
        </p:txBody>
      </p:sp>
      <p:sp>
        <p:nvSpPr>
          <p:cNvPr id="22" name="Text 20"/>
          <p:cNvSpPr/>
          <p:nvPr/>
        </p:nvSpPr>
        <p:spPr>
          <a:xfrm>
            <a:off x="357188" y="1845824"/>
            <a:ext cx="8636000" cy="177169"/>
          </a:xfrm>
          <a:prstGeom prst="rect">
            <a:avLst/>
          </a:prstGeom>
          <a:noFill/>
          <a:ln/>
        </p:spPr>
        <p:txBody>
          <a:bodyPr wrap="square" lIns="0" tIns="0" rIns="0" bIns="0" rtlCol="0" anchor="t">
            <a:normAutofit/>
          </a:bodyPr>
          <a:lstStyle/>
          <a:p>
            <a:pPr marL="0" indent="0" algn="l">
              <a:lnSpc>
                <a:spcPts val="1387"/>
              </a:lnSpc>
              <a:buNone/>
            </a:pPr>
            <a:r>
              <a:rPr lang="en-US" sz="956" b="1" dirty="0">
                <a:solidFill>
                  <a:srgbClr val="000000"/>
                </a:solidFill>
                <a:latin typeface="Times New Roman" panose="02020603050405020304" pitchFamily="18" charset="0"/>
                <a:ea typeface="Tinos" pitchFamily="34" charset="-122"/>
                <a:cs typeface="Times New Roman" panose="02020603050405020304" pitchFamily="18" charset="0"/>
              </a:rPr>
              <a:t>Optimized Device Parameters</a:t>
            </a:r>
            <a:endParaRPr lang="en-US" sz="956" dirty="0">
              <a:latin typeface="Times New Roman" panose="02020603050405020304" pitchFamily="18" charset="0"/>
              <a:cs typeface="Times New Roman" panose="02020603050405020304" pitchFamily="18" charset="0"/>
            </a:endParaRPr>
          </a:p>
        </p:txBody>
      </p:sp>
      <p:graphicFrame>
        <p:nvGraphicFramePr>
          <p:cNvPr id="26" name="Table 0"/>
          <p:cNvGraphicFramePr>
            <a:graphicFrameLocks noGrp="1"/>
          </p:cNvGraphicFramePr>
          <p:nvPr>
            <p:extLst>
              <p:ext uri="{D42A27DB-BD31-4B8C-83A1-F6EECF244321}">
                <p14:modId xmlns:p14="http://schemas.microsoft.com/office/powerpoint/2010/main" val="617702512"/>
              </p:ext>
            </p:extLst>
          </p:nvPr>
        </p:nvGraphicFramePr>
        <p:xfrm>
          <a:off x="357188" y="2036357"/>
          <a:ext cx="8422481" cy="2797146"/>
        </p:xfrm>
        <a:graphic>
          <a:graphicData uri="http://schemas.openxmlformats.org/drawingml/2006/table">
            <a:tbl>
              <a:tblPr/>
              <a:tblGrid>
                <a:gridCol w="5053422">
                  <a:extLst>
                    <a:ext uri="{9D8B030D-6E8A-4147-A177-3AD203B41FA5}">
                      <a16:colId xmlns:a16="http://schemas.microsoft.com/office/drawing/2014/main" val="20000"/>
                    </a:ext>
                  </a:extLst>
                </a:gridCol>
                <a:gridCol w="3369059">
                  <a:extLst>
                    <a:ext uri="{9D8B030D-6E8A-4147-A177-3AD203B41FA5}">
                      <a16:colId xmlns:a16="http://schemas.microsoft.com/office/drawing/2014/main" val="20001"/>
                    </a:ext>
                  </a:extLst>
                </a:gridCol>
              </a:tblGrid>
              <a:tr h="0">
                <a:tc>
                  <a:txBody>
                    <a:bodyPr/>
                    <a:lstStyle/>
                    <a:p>
                      <a:pPr marL="0" indent="0" algn="l">
                        <a:buNone/>
                      </a:pPr>
                      <a:r>
                        <a:rPr lang="en-US" sz="900" b="1" dirty="0">
                          <a:solidFill>
                            <a:srgbClr val="000000"/>
                          </a:solidFill>
                          <a:latin typeface="Times New Roman" panose="02020603050405020304" pitchFamily="18" charset="0"/>
                          <a:ea typeface="Tinos" pitchFamily="34" charset="-122"/>
                          <a:cs typeface="Times New Roman" panose="02020603050405020304" pitchFamily="18" charset="0"/>
                        </a:rPr>
                        <a:t>Parameter</a:t>
                      </a:r>
                      <a:endParaRPr lang="en-US" sz="900" dirty="0">
                        <a:latin typeface="Times New Roman" panose="02020603050405020304" pitchFamily="18" charset="0"/>
                        <a:ea typeface="Tinos" charset="0"/>
                        <a:cs typeface="Times New Roman" panose="02020603050405020304" pitchFamily="18"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b="1" dirty="0">
                          <a:solidFill>
                            <a:srgbClr val="000000"/>
                          </a:solidFill>
                          <a:latin typeface="Times New Roman" panose="02020603050405020304" pitchFamily="18" charset="0"/>
                          <a:ea typeface="Tinos" pitchFamily="34" charset="-122"/>
                          <a:cs typeface="Times New Roman" panose="02020603050405020304" pitchFamily="18" charset="0"/>
                        </a:rPr>
                        <a:t>Optimized Value</a:t>
                      </a:r>
                      <a:endParaRPr lang="en-US" sz="900" dirty="0">
                        <a:latin typeface="Times New Roman" panose="02020603050405020304" pitchFamily="18" charset="0"/>
                        <a:ea typeface="Tinos" charset="0"/>
                        <a:cs typeface="Times New Roman" panose="02020603050405020304" pitchFamily="18" charset="0"/>
                      </a:endParaRPr>
                    </a:p>
                  </a:txBody>
                  <a:tcPr marL="28575" marR="71438" marT="71438" marB="2857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Absorber thickness</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700 nm</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Absorber bandgap</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1.4 eV</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Absorber defect density</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10¹⁴ cm⁻³</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Interfacial defect density (both interfaces)</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 × 10¹⁴ cm⁻²</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ETL (TiO₂) thickness</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10 nm</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HTL (CuI) thickness</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100 nm</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Electron affinity</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3.9 eV</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Conduction band DOS, N</a:t>
                      </a:r>
                      <a:r>
                        <a:rPr lang="en-US" sz="900" baseline="-25000" dirty="0">
                          <a:solidFill>
                            <a:srgbClr val="000000"/>
                          </a:solidFill>
                          <a:latin typeface="Times New Roman" panose="02020603050405020304" pitchFamily="18" charset="0"/>
                          <a:ea typeface="Tinos" pitchFamily="34" charset="-122"/>
                          <a:cs typeface="Times New Roman" panose="02020603050405020304" pitchFamily="18" charset="0"/>
                        </a:rPr>
                        <a:t>C</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 × 10¹⁷ cm⁻³</a:t>
                      </a:r>
                      <a:endParaRPr lang="en-US" sz="9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0" indent="0" algn="l">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Valence band DOS, N</a:t>
                      </a:r>
                      <a:r>
                        <a:rPr lang="en-US" sz="900" baseline="-25000" dirty="0">
                          <a:solidFill>
                            <a:srgbClr val="000000"/>
                          </a:solidFill>
                          <a:latin typeface="Times New Roman" panose="02020603050405020304" pitchFamily="18" charset="0"/>
                          <a:ea typeface="Tinos" pitchFamily="34" charset="-122"/>
                          <a:cs typeface="Times New Roman" panose="02020603050405020304" pitchFamily="18" charset="0"/>
                        </a:rPr>
                        <a:t>V</a:t>
                      </a:r>
                    </a:p>
                    <a:p>
                      <a:pPr marL="0" indent="0" algn="l">
                        <a:lnSpc>
                          <a:spcPct val="200000"/>
                        </a:lnSpc>
                        <a:buNone/>
                      </a:pPr>
                      <a:r>
                        <a:rPr lang="en-US" sz="900" baseline="0" dirty="0">
                          <a:solidFill>
                            <a:srgbClr val="000000"/>
                          </a:solidFill>
                          <a:latin typeface="Times New Roman" panose="02020603050405020304" pitchFamily="18" charset="0"/>
                          <a:ea typeface="Tinos" pitchFamily="34" charset="-122"/>
                          <a:cs typeface="Times New Roman" panose="02020603050405020304" pitchFamily="18" charset="0"/>
                        </a:rPr>
                        <a:t>Absorber Dielectric Constant</a:t>
                      </a: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r">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 × 10¹⁷ cm⁻³</a:t>
                      </a:r>
                    </a:p>
                    <a:p>
                      <a:pPr marL="0" indent="0" algn="r">
                        <a:lnSpc>
                          <a:spcPct val="200000"/>
                        </a:lnSpc>
                        <a:buNone/>
                      </a:pPr>
                      <a:r>
                        <a:rPr lang="en-US" sz="900" dirty="0">
                          <a:solidFill>
                            <a:srgbClr val="000000"/>
                          </a:solidFill>
                          <a:latin typeface="Times New Roman" panose="02020603050405020304" pitchFamily="18" charset="0"/>
                          <a:ea typeface="Tinos" pitchFamily="34" charset="-122"/>
                          <a:cs typeface="Times New Roman" panose="02020603050405020304" pitchFamily="18" charset="0"/>
                        </a:rPr>
                        <a:t>15 eV</a:t>
                      </a: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4" name="Text 21"/>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5" name="Shape 22"/>
          <p:cNvSpPr/>
          <p:nvPr/>
        </p:nvSpPr>
        <p:spPr>
          <a:xfrm>
            <a:off x="0" y="4822031"/>
            <a:ext cx="9144000" cy="0"/>
          </a:xfrm>
          <a:prstGeom prst="line">
            <a:avLst/>
          </a:prstGeom>
          <a:noFill/>
          <a:ln w="14288">
            <a:solidFill>
              <a:srgbClr val="C4D2B1"/>
            </a:solidFill>
            <a:prstDash val="solid"/>
          </a:ln>
        </p:spPr>
      </p:sp>
      <p:sp>
        <p:nvSpPr>
          <p:cNvPr id="23" name="Text 23"/>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7" name="Text 24"/>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8" name="Text 25"/>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25</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8393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Comparison with Literature</a:t>
            </a:r>
            <a:endParaRPr lang="en-US" sz="1800" dirty="0">
              <a:latin typeface="Times New Roman" panose="02020603050405020304" pitchFamily="18" charset="0"/>
              <a:cs typeface="Times New Roman" panose="02020603050405020304" pitchFamily="18" charset="0"/>
            </a:endParaRPr>
          </a:p>
        </p:txBody>
      </p:sp>
      <p:graphicFrame>
        <p:nvGraphicFramePr>
          <p:cNvPr id="27" name="Table 0"/>
          <p:cNvGraphicFramePr>
            <a:graphicFrameLocks noGrp="1"/>
          </p:cNvGraphicFramePr>
          <p:nvPr>
            <p:extLst>
              <p:ext uri="{D42A27DB-BD31-4B8C-83A1-F6EECF244321}">
                <p14:modId xmlns:p14="http://schemas.microsoft.com/office/powerpoint/2010/main" val="2634637375"/>
              </p:ext>
            </p:extLst>
          </p:nvPr>
        </p:nvGraphicFramePr>
        <p:xfrm>
          <a:off x="357188" y="885825"/>
          <a:ext cx="8415338" cy="2685576"/>
        </p:xfrm>
        <a:graphic>
          <a:graphicData uri="http://schemas.openxmlformats.org/drawingml/2006/table">
            <a:tbl>
              <a:tblPr/>
              <a:tblGrid>
                <a:gridCol w="2744093">
                  <a:extLst>
                    <a:ext uri="{9D8B030D-6E8A-4147-A177-3AD203B41FA5}">
                      <a16:colId xmlns:a16="http://schemas.microsoft.com/office/drawing/2014/main" val="20000"/>
                    </a:ext>
                  </a:extLst>
                </a:gridCol>
                <a:gridCol w="823206">
                  <a:extLst>
                    <a:ext uri="{9D8B030D-6E8A-4147-A177-3AD203B41FA5}">
                      <a16:colId xmlns:a16="http://schemas.microsoft.com/office/drawing/2014/main" val="20001"/>
                    </a:ext>
                  </a:extLst>
                </a:gridCol>
                <a:gridCol w="1097682">
                  <a:extLst>
                    <a:ext uri="{9D8B030D-6E8A-4147-A177-3AD203B41FA5}">
                      <a16:colId xmlns:a16="http://schemas.microsoft.com/office/drawing/2014/main" val="20002"/>
                    </a:ext>
                  </a:extLst>
                </a:gridCol>
                <a:gridCol w="731676">
                  <a:extLst>
                    <a:ext uri="{9D8B030D-6E8A-4147-A177-3AD203B41FA5}">
                      <a16:colId xmlns:a16="http://schemas.microsoft.com/office/drawing/2014/main" val="20003"/>
                    </a:ext>
                  </a:extLst>
                </a:gridCol>
                <a:gridCol w="823206">
                  <a:extLst>
                    <a:ext uri="{9D8B030D-6E8A-4147-A177-3AD203B41FA5}">
                      <a16:colId xmlns:a16="http://schemas.microsoft.com/office/drawing/2014/main" val="20004"/>
                    </a:ext>
                  </a:extLst>
                </a:gridCol>
                <a:gridCol w="1188988">
                  <a:extLst>
                    <a:ext uri="{9D8B030D-6E8A-4147-A177-3AD203B41FA5}">
                      <a16:colId xmlns:a16="http://schemas.microsoft.com/office/drawing/2014/main" val="20005"/>
                    </a:ext>
                  </a:extLst>
                </a:gridCol>
                <a:gridCol w="1006487">
                  <a:extLst>
                    <a:ext uri="{9D8B030D-6E8A-4147-A177-3AD203B41FA5}">
                      <a16:colId xmlns:a16="http://schemas.microsoft.com/office/drawing/2014/main" val="20006"/>
                    </a:ext>
                  </a:extLst>
                </a:gridCol>
              </a:tblGrid>
              <a:tr h="0">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Device Structure</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400" b="1"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 </a:t>
                      </a:r>
                    </a:p>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(V)</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400" b="1" baseline="-25000" dirty="0">
                          <a:solidFill>
                            <a:srgbClr val="000000"/>
                          </a:solidFill>
                          <a:latin typeface="Times New Roman" panose="02020603050405020304" pitchFamily="18" charset="0"/>
                          <a:ea typeface="Tinos" pitchFamily="34" charset="-122"/>
                          <a:cs typeface="Times New Roman" panose="02020603050405020304" pitchFamily="18" charset="0"/>
                        </a:rPr>
                        <a:t>SC</a:t>
                      </a: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 (mA/cm²)</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FF (%)</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PCE (%)</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Year/Ref.</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anose="02020603050405020304" pitchFamily="18" charset="0"/>
                          <a:ea typeface="Tinos" pitchFamily="34" charset="-122"/>
                          <a:cs typeface="Times New Roman" panose="02020603050405020304" pitchFamily="18" charset="0"/>
                        </a:rPr>
                        <a:t>Method</a:t>
                      </a:r>
                      <a:endParaRPr lang="en-US" sz="1400" dirty="0">
                        <a:latin typeface="Times New Roman" panose="02020603050405020304" pitchFamily="18" charset="0"/>
                        <a:ea typeface="Tinos" charset="0"/>
                        <a:cs typeface="Times New Roman" panose="02020603050405020304" pitchFamily="18" charset="0"/>
                      </a:endParaRPr>
                    </a:p>
                  </a:txBody>
                  <a:tcPr marL="57150" marR="71438" marT="71438"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/NiO/Ag</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0.5311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28.89</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63.68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10.11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2022 [13]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Experiment</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ITO/C</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60</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/CBTS/Au</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0.99</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33.20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82.8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24.62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2024 [72]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/PEDOT:PSS/Au</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0.813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30.84</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74.19</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18.44</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2025 [73]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/MASn</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/CBTS/Au</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1.03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30.24</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83.41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25.86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2026 [61]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/MASnI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/CZTS/Au</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0.96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31.66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67.00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20.28</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2025 [74]</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/CsSnI</a:t>
                      </a:r>
                      <a:r>
                        <a:rPr lang="en-US" sz="1200"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/P3HT/Au</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0.972</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34.70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78.21</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26.40</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2023 [15]</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FTO/TiO</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2</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/RbGeI</a:t>
                      </a:r>
                      <a:r>
                        <a:rPr lang="en-US" sz="1200" b="1" baseline="-25000" dirty="0">
                          <a:solidFill>
                            <a:srgbClr val="000000"/>
                          </a:solidFill>
                          <a:latin typeface="Times New Roman" panose="02020603050405020304" pitchFamily="18" charset="0"/>
                          <a:ea typeface="Tinos" pitchFamily="34" charset="-122"/>
                          <a:cs typeface="Times New Roman" panose="02020603050405020304" pitchFamily="18" charset="0"/>
                        </a:rPr>
                        <a:t>3</a:t>
                      </a: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/CuI/Au (This work)</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1.1127</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30.3156</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79.13</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26.69</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This work</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tc>
                  <a:txBody>
                    <a:bodyPr/>
                    <a:lstStyle/>
                    <a:p>
                      <a:pPr marL="0" indent="0" algn="ctr">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Simulation</a:t>
                      </a:r>
                      <a:endParaRPr lang="en-US" sz="1200" dirty="0">
                        <a:latin typeface="Times New Roman" panose="02020603050405020304" pitchFamily="18" charset="0"/>
                        <a:ea typeface="Tinos" charset="0"/>
                        <a:cs typeface="Times New Roman" panose="02020603050405020304" pitchFamily="18" charset="0"/>
                      </a:endParaRPr>
                    </a:p>
                  </a:txBody>
                  <a:tcPr marL="50006" marR="71438" marT="71438" marB="5000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5F5"/>
                    </a:solidFill>
                  </a:tcPr>
                </a:tc>
                <a:extLst>
                  <a:ext uri="{0D108BD9-81ED-4DB2-BD59-A6C34878D82A}">
                    <a16:rowId xmlns:a16="http://schemas.microsoft.com/office/drawing/2014/main" val="10007"/>
                  </a:ext>
                </a:extLst>
              </a:tr>
            </a:tbl>
          </a:graphicData>
        </a:graphic>
      </p:graphicFrame>
      <p:sp>
        <p:nvSpPr>
          <p:cNvPr id="6" name="Text 3"/>
          <p:cNvSpPr/>
          <p:nvPr/>
        </p:nvSpPr>
        <p:spPr>
          <a:xfrm>
            <a:off x="371475" y="3548526"/>
            <a:ext cx="8429625" cy="1148490"/>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7" name="Shape 4"/>
          <p:cNvSpPr/>
          <p:nvPr/>
        </p:nvSpPr>
        <p:spPr>
          <a:xfrm>
            <a:off x="357188" y="4000605"/>
            <a:ext cx="8429625" cy="0"/>
          </a:xfrm>
          <a:prstGeom prst="line">
            <a:avLst/>
          </a:prstGeom>
          <a:noFill/>
          <a:ln w="7144">
            <a:solidFill>
              <a:srgbClr val="000000"/>
            </a:solidFill>
            <a:prstDash val="solid"/>
          </a:ln>
        </p:spPr>
      </p:sp>
      <p:sp>
        <p:nvSpPr>
          <p:cNvPr id="8" name="Shape 5"/>
          <p:cNvSpPr/>
          <p:nvPr/>
        </p:nvSpPr>
        <p:spPr>
          <a:xfrm flipH="1">
            <a:off x="8783240" y="4007749"/>
            <a:ext cx="10715" cy="692838"/>
          </a:xfrm>
          <a:prstGeom prst="line">
            <a:avLst/>
          </a:prstGeom>
          <a:noFill/>
          <a:ln w="7144">
            <a:solidFill>
              <a:srgbClr val="000000"/>
            </a:solidFill>
            <a:prstDash val="solid"/>
          </a:ln>
        </p:spPr>
      </p:sp>
      <p:sp>
        <p:nvSpPr>
          <p:cNvPr id="9" name="Shape 6"/>
          <p:cNvSpPr/>
          <p:nvPr/>
        </p:nvSpPr>
        <p:spPr>
          <a:xfrm>
            <a:off x="357188" y="4697016"/>
            <a:ext cx="8429625" cy="0"/>
          </a:xfrm>
          <a:prstGeom prst="line">
            <a:avLst/>
          </a:prstGeom>
          <a:noFill/>
          <a:ln w="7144">
            <a:solidFill>
              <a:srgbClr val="000000"/>
            </a:solidFill>
            <a:prstDash val="solid"/>
          </a:ln>
        </p:spPr>
      </p:sp>
      <p:sp>
        <p:nvSpPr>
          <p:cNvPr id="10" name="Shape 7"/>
          <p:cNvSpPr/>
          <p:nvPr/>
        </p:nvSpPr>
        <p:spPr>
          <a:xfrm>
            <a:off x="371475" y="4000605"/>
            <a:ext cx="0" cy="699982"/>
          </a:xfrm>
          <a:prstGeom prst="line">
            <a:avLst/>
          </a:prstGeom>
          <a:noFill/>
          <a:ln w="28575">
            <a:solidFill>
              <a:srgbClr val="000000"/>
            </a:solidFill>
            <a:prstDash val="solid"/>
          </a:ln>
        </p:spPr>
      </p:sp>
      <p:sp>
        <p:nvSpPr>
          <p:cNvPr id="11" name="Text 8"/>
          <p:cNvSpPr/>
          <p:nvPr/>
        </p:nvSpPr>
        <p:spPr>
          <a:xfrm>
            <a:off x="528638" y="4059209"/>
            <a:ext cx="8108156" cy="201320"/>
          </a:xfrm>
          <a:prstGeom prst="rect">
            <a:avLst/>
          </a:prstGeom>
          <a:noFill/>
          <a:ln/>
        </p:spPr>
        <p:txBody>
          <a:bodyPr wrap="none" lIns="0" tIns="0" rIns="0" bIns="0" rtlCol="0" anchor="t"/>
          <a:lstStyle/>
          <a:p>
            <a:pPr marL="0" indent="0" algn="l">
              <a:lnSpc>
                <a:spcPts val="1468"/>
              </a:lnSpc>
              <a:buNone/>
            </a:pPr>
            <a:r>
              <a:rPr lang="en-US" sz="1200" b="1" dirty="0">
                <a:solidFill>
                  <a:srgbClr val="000000"/>
                </a:solidFill>
                <a:latin typeface="Times New Roman" panose="02020603050405020304" pitchFamily="18" charset="0"/>
                <a:ea typeface="Tinos" pitchFamily="34" charset="-122"/>
                <a:cs typeface="Times New Roman" panose="02020603050405020304" pitchFamily="18" charset="0"/>
              </a:rPr>
              <a:t>Key Takeaway</a:t>
            </a:r>
            <a:endParaRPr lang="en-US" sz="1200" dirty="0">
              <a:latin typeface="Times New Roman" panose="02020603050405020304" pitchFamily="18" charset="0"/>
              <a:cs typeface="Times New Roman" panose="02020603050405020304" pitchFamily="18" charset="0"/>
            </a:endParaRPr>
          </a:p>
        </p:txBody>
      </p:sp>
      <p:sp>
        <p:nvSpPr>
          <p:cNvPr id="12" name="Text 9"/>
          <p:cNvSpPr/>
          <p:nvPr/>
        </p:nvSpPr>
        <p:spPr>
          <a:xfrm>
            <a:off x="528638" y="4295516"/>
            <a:ext cx="8108156" cy="370332"/>
          </a:xfrm>
          <a:prstGeom prst="rect">
            <a:avLst/>
          </a:prstGeom>
          <a:noFill/>
          <a:ln/>
        </p:spPr>
        <p:txBody>
          <a:bodyPr wrap="square" lIns="0" tIns="0" rIns="0" bIns="0" rtlCol="0" anchor="t"/>
          <a:lstStyle/>
          <a:p>
            <a:pPr marL="0" indent="0" algn="l">
              <a:lnSpc>
                <a:spcPts val="1350"/>
              </a:lnSpc>
              <a:buNone/>
            </a:pPr>
            <a:r>
              <a:rPr lang="en-US" sz="1100" dirty="0">
                <a:solidFill>
                  <a:srgbClr val="000000"/>
                </a:solidFill>
                <a:latin typeface="Times New Roman" panose="02020603050405020304" pitchFamily="18" charset="0"/>
                <a:ea typeface="Tinos" pitchFamily="34" charset="-122"/>
                <a:cs typeface="Times New Roman" panose="02020603050405020304" pitchFamily="18" charset="0"/>
              </a:rPr>
              <a:t>The proposed device achieves the highest reported PCE among comparable RbGeI₃ simulation studies, with the highest V</a:t>
            </a:r>
            <a:r>
              <a:rPr lang="en-US" sz="1100" baseline="-25000" dirty="0">
                <a:solidFill>
                  <a:srgbClr val="000000"/>
                </a:solidFill>
                <a:latin typeface="Times New Roman" panose="02020603050405020304" pitchFamily="18" charset="0"/>
                <a:ea typeface="Tinos" pitchFamily="34" charset="-122"/>
                <a:cs typeface="Times New Roman" panose="02020603050405020304" pitchFamily="18" charset="0"/>
              </a:rPr>
              <a:t>OC</a:t>
            </a:r>
            <a:r>
              <a:rPr lang="en-US" sz="1100" dirty="0">
                <a:solidFill>
                  <a:srgbClr val="000000"/>
                </a:solidFill>
                <a:latin typeface="Times New Roman" panose="02020603050405020304" pitchFamily="18" charset="0"/>
                <a:ea typeface="Tinos" pitchFamily="34" charset="-122"/>
                <a:cs typeface="Times New Roman" panose="02020603050405020304" pitchFamily="18" charset="0"/>
              </a:rPr>
              <a:t> (1.1127 V) — demonstrating the benefit of CuI as HTL.</a:t>
            </a:r>
            <a:endParaRPr lang="en-US" sz="1100" dirty="0">
              <a:latin typeface="Times New Roman" panose="02020603050405020304" pitchFamily="18" charset="0"/>
              <a:cs typeface="Times New Roman" panose="02020603050405020304" pitchFamily="18" charset="0"/>
            </a:endParaRPr>
          </a:p>
        </p:txBody>
      </p:sp>
      <p:sp>
        <p:nvSpPr>
          <p:cNvPr id="13" name="Text 10"/>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4" name="Shape 11"/>
          <p:cNvSpPr/>
          <p:nvPr/>
        </p:nvSpPr>
        <p:spPr>
          <a:xfrm>
            <a:off x="0" y="4822031"/>
            <a:ext cx="9144000" cy="0"/>
          </a:xfrm>
          <a:prstGeom prst="line">
            <a:avLst/>
          </a:prstGeom>
          <a:noFill/>
          <a:ln w="14288">
            <a:solidFill>
              <a:srgbClr val="C4D2B1"/>
            </a:solidFill>
            <a:prstDash val="solid"/>
          </a:ln>
        </p:spPr>
      </p:sp>
      <p:sp>
        <p:nvSpPr>
          <p:cNvPr id="15" name="Text 12"/>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16" name="Text 13"/>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17" name="Text 14"/>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26</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Conclusion</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4769073" cy="268467"/>
          </a:xfrm>
          <a:prstGeom prst="rect">
            <a:avLst/>
          </a:prstGeom>
          <a:noFill/>
          <a:ln/>
        </p:spPr>
        <p:txBody>
          <a:bodyPr wrap="none" lIns="0" tIns="0" rIns="0" bIns="0" rtlCol="0" anchor="t"/>
          <a:lstStyle/>
          <a:p>
            <a:pPr marL="0" indent="0" algn="l">
              <a:lnSpc>
                <a:spcPts val="1958"/>
              </a:lnSpc>
              <a:buNone/>
            </a:pPr>
            <a:r>
              <a:rPr lang="en-US" sz="1350" b="1" dirty="0">
                <a:solidFill>
                  <a:srgbClr val="000000"/>
                </a:solidFill>
                <a:latin typeface="Times New Roman" panose="02020603050405020304" pitchFamily="18" charset="0"/>
                <a:ea typeface="Tinos" pitchFamily="34" charset="-122"/>
                <a:cs typeface="Times New Roman" panose="02020603050405020304" pitchFamily="18" charset="0"/>
              </a:rPr>
              <a:t>Summary of Findings</a:t>
            </a:r>
            <a:endParaRPr lang="en-US" sz="1350" dirty="0">
              <a:latin typeface="Times New Roman" panose="02020603050405020304" pitchFamily="18" charset="0"/>
              <a:cs typeface="Times New Roman" panose="02020603050405020304" pitchFamily="18" charset="0"/>
            </a:endParaRPr>
          </a:p>
        </p:txBody>
      </p:sp>
      <p:sp>
        <p:nvSpPr>
          <p:cNvPr id="6" name="Text 4"/>
          <p:cNvSpPr/>
          <p:nvPr/>
        </p:nvSpPr>
        <p:spPr>
          <a:xfrm>
            <a:off x="357188" y="1262993"/>
            <a:ext cx="4541974" cy="3120649"/>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 lead-free RbGeI₃ perovskite solar cell was numerically optimized using SCAPS-1D under AM 1.5G.</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Among 8 ETL× HTL configurations, FTO/TiO₂/RbGeI₃/CuI/Au (D4) gave the best initial performance.</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Sequential optimization of absorber thickness, defect density, bandgap, electron affinity, DOS, and interface defects yielded a final PCE of 26.69%.</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TiO₂/CuI transport layers provide excellent band alignment — ΔEc ≈ 0.10 eV spike at absorber/ETL and ΔEv ≈ 0.01 eV at HTL/absorber.</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The proposed device outperforms prior RbGeI₃ simulation studies (24.62%, 18.44%) and the experimental baseline (10.11%).</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Lead-free RbGeI₃ is a viable absorber for next-generation environmentally friendly photovoltaics.</a:t>
            </a:r>
            <a:endParaRPr lang="en-US" sz="1069" dirty="0">
              <a:latin typeface="Times New Roman" panose="02020603050405020304" pitchFamily="18" charset="0"/>
              <a:cs typeface="Times New Roman" panose="02020603050405020304" pitchFamily="18" charset="0"/>
            </a:endParaRPr>
          </a:p>
        </p:txBody>
      </p:sp>
      <p:sp>
        <p:nvSpPr>
          <p:cNvPr id="7" name="Text 5"/>
          <p:cNvSpPr/>
          <p:nvPr/>
        </p:nvSpPr>
        <p:spPr>
          <a:xfrm>
            <a:off x="5077755" y="892969"/>
            <a:ext cx="3701914" cy="864394"/>
          </a:xfrm>
          <a:prstGeom prst="roundRect">
            <a:avLst>
              <a:gd name="adj" fmla="val 4408"/>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5199199" y="1012068"/>
            <a:ext cx="3459026" cy="156520"/>
          </a:xfrm>
          <a:prstGeom prst="rect">
            <a:avLst/>
          </a:prstGeom>
          <a:noFill/>
          <a:ln/>
        </p:spPr>
        <p:txBody>
          <a:bodyPr wrap="none" lIns="0" tIns="0" rIns="0" bIns="0" rtlCol="0" anchor="t">
            <a:normAutofit/>
          </a:bodyPr>
          <a:lstStyle/>
          <a:p>
            <a:pPr marL="0" indent="0" algn="ctr">
              <a:lnSpc>
                <a:spcPts val="1223"/>
              </a:lnSpc>
              <a:buNone/>
            </a:pPr>
            <a:r>
              <a:rPr lang="en-US" sz="1200" kern="0" spc="28" dirty="0">
                <a:solidFill>
                  <a:srgbClr val="000000"/>
                </a:solidFill>
                <a:latin typeface="Times New Roman" panose="02020603050405020304" pitchFamily="18" charset="0"/>
                <a:ea typeface="Tinos" pitchFamily="34" charset="-122"/>
                <a:cs typeface="Times New Roman" panose="02020603050405020304" pitchFamily="18" charset="0"/>
              </a:rPr>
              <a:t>PCE</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5199199" y="1196020"/>
            <a:ext cx="3459026" cy="269703"/>
          </a:xfrm>
          <a:prstGeom prst="rect">
            <a:avLst/>
          </a:prstGeom>
          <a:noFill/>
          <a:ln/>
        </p:spPr>
        <p:txBody>
          <a:bodyPr wrap="none" lIns="0" tIns="0" rIns="0" bIns="0" rtlCol="0" anchor="t">
            <a:normAutofit fontScale="85000" lnSpcReduction="10000"/>
          </a:bodyPr>
          <a:lstStyle/>
          <a:p>
            <a:pPr marL="0" indent="0" algn="ctr">
              <a:lnSpc>
                <a:spcPts val="2228"/>
              </a:lnSpc>
              <a:buNone/>
            </a:pPr>
            <a:r>
              <a:rPr lang="en-US" sz="20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26.69%</a:t>
            </a:r>
            <a:endParaRPr lang="en-US" sz="2025" dirty="0">
              <a:latin typeface="Times New Roman" panose="02020603050405020304" pitchFamily="18" charset="0"/>
              <a:cs typeface="Times New Roman" panose="02020603050405020304" pitchFamily="18" charset="0"/>
            </a:endParaRPr>
          </a:p>
        </p:txBody>
      </p:sp>
      <p:sp>
        <p:nvSpPr>
          <p:cNvPr id="10" name="Text 8"/>
          <p:cNvSpPr/>
          <p:nvPr/>
        </p:nvSpPr>
        <p:spPr>
          <a:xfrm>
            <a:off x="5199199" y="1493155"/>
            <a:ext cx="3568754" cy="157051"/>
          </a:xfrm>
          <a:prstGeom prst="rect">
            <a:avLst/>
          </a:prstGeom>
          <a:noFill/>
          <a:ln/>
        </p:spPr>
        <p:txBody>
          <a:bodyPr wrap="square" lIns="0" tIns="0" rIns="0" bIns="0" rtlCol="0" anchor="t"/>
          <a:lstStyle/>
          <a:p>
            <a:pPr marL="0" indent="0" algn="ctr">
              <a:lnSpc>
                <a:spcPts val="1142"/>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Power Conversion Efficiency</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5077755" y="1871663"/>
            <a:ext cx="3701914" cy="864394"/>
          </a:xfrm>
          <a:prstGeom prst="roundRect">
            <a:avLst>
              <a:gd name="adj" fmla="val 4408"/>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5199199" y="1990762"/>
            <a:ext cx="3459026" cy="156520"/>
          </a:xfrm>
          <a:prstGeom prst="rect">
            <a:avLst/>
          </a:prstGeom>
          <a:noFill/>
          <a:ln/>
        </p:spPr>
        <p:txBody>
          <a:bodyPr wrap="none" lIns="0" tIns="0" rIns="0" bIns="0" rtlCol="0" anchor="t">
            <a:normAutofit/>
          </a:bodyPr>
          <a:lstStyle/>
          <a:p>
            <a:pPr marL="0" indent="0" algn="ctr">
              <a:lnSpc>
                <a:spcPts val="1223"/>
              </a:lnSpc>
              <a:buNone/>
            </a:pPr>
            <a:r>
              <a:rPr lang="en-US" sz="1200" kern="0" spc="28" dirty="0">
                <a:solidFill>
                  <a:srgbClr val="000000"/>
                </a:solidFill>
                <a:latin typeface="Times New Roman" panose="02020603050405020304" pitchFamily="18" charset="0"/>
                <a:ea typeface="Tinos" pitchFamily="34" charset="-122"/>
                <a:cs typeface="Times New Roman" panose="02020603050405020304" pitchFamily="18" charset="0"/>
              </a:rPr>
              <a:t>V</a:t>
            </a:r>
            <a:r>
              <a:rPr lang="en-US" sz="1200" kern="0" spc="28" baseline="-40000" dirty="0">
                <a:solidFill>
                  <a:srgbClr val="000000"/>
                </a:solidFill>
                <a:latin typeface="Times New Roman" panose="02020603050405020304" pitchFamily="18" charset="0"/>
                <a:ea typeface="Tinos" pitchFamily="34" charset="-122"/>
                <a:cs typeface="Times New Roman" panose="02020603050405020304" pitchFamily="18" charset="0"/>
              </a:rPr>
              <a:t>OC</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5199199" y="2174714"/>
            <a:ext cx="3459026" cy="269703"/>
          </a:xfrm>
          <a:prstGeom prst="rect">
            <a:avLst/>
          </a:prstGeom>
          <a:noFill/>
          <a:ln/>
        </p:spPr>
        <p:txBody>
          <a:bodyPr wrap="none" lIns="0" tIns="0" rIns="0" bIns="0" rtlCol="0" anchor="t">
            <a:normAutofit fontScale="85000" lnSpcReduction="10000"/>
          </a:bodyPr>
          <a:lstStyle/>
          <a:p>
            <a:pPr marL="0" indent="0" algn="ctr">
              <a:lnSpc>
                <a:spcPts val="2228"/>
              </a:lnSpc>
              <a:buNone/>
            </a:pPr>
            <a:r>
              <a:rPr lang="en-US" sz="20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1.1127</a:t>
            </a:r>
            <a:endParaRPr lang="en-US" sz="2025" dirty="0">
              <a:latin typeface="Times New Roman" panose="02020603050405020304" pitchFamily="18" charset="0"/>
              <a:cs typeface="Times New Roman" panose="02020603050405020304" pitchFamily="18" charset="0"/>
            </a:endParaRPr>
          </a:p>
        </p:txBody>
      </p:sp>
      <p:sp>
        <p:nvSpPr>
          <p:cNvPr id="14" name="Text 12"/>
          <p:cNvSpPr/>
          <p:nvPr/>
        </p:nvSpPr>
        <p:spPr>
          <a:xfrm>
            <a:off x="5199199" y="2471849"/>
            <a:ext cx="3459026" cy="157051"/>
          </a:xfrm>
          <a:prstGeom prst="rect">
            <a:avLst/>
          </a:prstGeom>
          <a:noFill/>
          <a:ln/>
        </p:spPr>
        <p:txBody>
          <a:bodyPr wrap="none" lIns="0" tIns="0" rIns="0" bIns="0" rtlCol="0" anchor="t"/>
          <a:lstStyle/>
          <a:p>
            <a:pPr marL="0" indent="0" algn="ctr">
              <a:lnSpc>
                <a:spcPts val="1142"/>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Volts</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5077755" y="2850356"/>
            <a:ext cx="3701914" cy="864394"/>
          </a:xfrm>
          <a:prstGeom prst="roundRect">
            <a:avLst>
              <a:gd name="adj" fmla="val 4408"/>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5199199" y="2969456"/>
            <a:ext cx="3459026" cy="156520"/>
          </a:xfrm>
          <a:prstGeom prst="rect">
            <a:avLst/>
          </a:prstGeom>
          <a:noFill/>
          <a:ln/>
        </p:spPr>
        <p:txBody>
          <a:bodyPr wrap="none" lIns="0" tIns="0" rIns="0" bIns="0" rtlCol="0" anchor="t">
            <a:normAutofit/>
          </a:bodyPr>
          <a:lstStyle/>
          <a:p>
            <a:pPr marL="0" indent="0" algn="ctr">
              <a:lnSpc>
                <a:spcPts val="1223"/>
              </a:lnSpc>
              <a:buNone/>
            </a:pPr>
            <a:r>
              <a:rPr lang="en-US" sz="1200" kern="0" spc="28" dirty="0">
                <a:solidFill>
                  <a:srgbClr val="000000"/>
                </a:solidFill>
                <a:latin typeface="Times New Roman" panose="02020603050405020304" pitchFamily="18" charset="0"/>
                <a:ea typeface="Tinos" pitchFamily="34" charset="-122"/>
                <a:cs typeface="Times New Roman" panose="02020603050405020304" pitchFamily="18" charset="0"/>
              </a:rPr>
              <a:t>J</a:t>
            </a:r>
            <a:r>
              <a:rPr lang="en-US" sz="1200" kern="0" spc="28" baseline="-40000" dirty="0">
                <a:solidFill>
                  <a:srgbClr val="000000"/>
                </a:solidFill>
                <a:latin typeface="Times New Roman" panose="02020603050405020304" pitchFamily="18" charset="0"/>
                <a:ea typeface="Tinos" pitchFamily="34" charset="-122"/>
                <a:cs typeface="Times New Roman" panose="02020603050405020304" pitchFamily="18" charset="0"/>
              </a:rPr>
              <a:t>SC</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5199199" y="3153408"/>
            <a:ext cx="3459026" cy="269703"/>
          </a:xfrm>
          <a:prstGeom prst="rect">
            <a:avLst/>
          </a:prstGeom>
          <a:noFill/>
          <a:ln/>
        </p:spPr>
        <p:txBody>
          <a:bodyPr wrap="none" lIns="0" tIns="0" rIns="0" bIns="0" rtlCol="0" anchor="t">
            <a:normAutofit fontScale="85000" lnSpcReduction="10000"/>
          </a:bodyPr>
          <a:lstStyle/>
          <a:p>
            <a:pPr marL="0" indent="0" algn="ctr">
              <a:lnSpc>
                <a:spcPts val="2228"/>
              </a:lnSpc>
              <a:buNone/>
            </a:pPr>
            <a:r>
              <a:rPr lang="en-US" sz="20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30.32</a:t>
            </a:r>
            <a:endParaRPr lang="en-US" sz="2025" dirty="0">
              <a:latin typeface="Times New Roman" panose="02020603050405020304" pitchFamily="18" charset="0"/>
              <a:cs typeface="Times New Roman" panose="02020603050405020304" pitchFamily="18" charset="0"/>
            </a:endParaRPr>
          </a:p>
        </p:txBody>
      </p:sp>
      <p:sp>
        <p:nvSpPr>
          <p:cNvPr id="18" name="Text 16"/>
          <p:cNvSpPr/>
          <p:nvPr/>
        </p:nvSpPr>
        <p:spPr>
          <a:xfrm>
            <a:off x="5199199" y="3450543"/>
            <a:ext cx="3459026" cy="157051"/>
          </a:xfrm>
          <a:prstGeom prst="rect">
            <a:avLst/>
          </a:prstGeom>
          <a:noFill/>
          <a:ln/>
        </p:spPr>
        <p:txBody>
          <a:bodyPr wrap="none" lIns="0" tIns="0" rIns="0" bIns="0" rtlCol="0" anchor="t"/>
          <a:lstStyle/>
          <a:p>
            <a:pPr marL="0" indent="0" algn="ctr">
              <a:lnSpc>
                <a:spcPts val="1142"/>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mA/cm²</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5077755" y="3829050"/>
            <a:ext cx="3701914" cy="864394"/>
          </a:xfrm>
          <a:prstGeom prst="roundRect">
            <a:avLst>
              <a:gd name="adj" fmla="val 4408"/>
            </a:avLst>
          </a:prstGeom>
          <a:solidFill>
            <a:srgbClr val="FFFFFF"/>
          </a:solidFill>
          <a:ln w="14288">
            <a:solidFill>
              <a:srgbClr val="000000"/>
            </a:solidFill>
            <a:prstDash val="solid"/>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5199199" y="3948150"/>
            <a:ext cx="3459026" cy="156520"/>
          </a:xfrm>
          <a:prstGeom prst="rect">
            <a:avLst/>
          </a:prstGeom>
          <a:noFill/>
          <a:ln/>
        </p:spPr>
        <p:txBody>
          <a:bodyPr wrap="none" lIns="0" tIns="0" rIns="0" bIns="0" rtlCol="0" anchor="t">
            <a:normAutofit/>
          </a:bodyPr>
          <a:lstStyle/>
          <a:p>
            <a:pPr marL="0" indent="0" algn="ctr">
              <a:lnSpc>
                <a:spcPts val="1223"/>
              </a:lnSpc>
              <a:buNone/>
            </a:pPr>
            <a:r>
              <a:rPr lang="en-US" sz="1200" kern="0" spc="28" dirty="0">
                <a:solidFill>
                  <a:srgbClr val="000000"/>
                </a:solidFill>
                <a:latin typeface="Times New Roman" panose="02020603050405020304" pitchFamily="18" charset="0"/>
                <a:ea typeface="Tinos" pitchFamily="34" charset="-122"/>
                <a:cs typeface="Times New Roman" panose="02020603050405020304" pitchFamily="18" charset="0"/>
              </a:rPr>
              <a:t>FF</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5199199" y="4132101"/>
            <a:ext cx="3459026" cy="269703"/>
          </a:xfrm>
          <a:prstGeom prst="rect">
            <a:avLst/>
          </a:prstGeom>
          <a:noFill/>
          <a:ln/>
        </p:spPr>
        <p:txBody>
          <a:bodyPr wrap="none" lIns="0" tIns="0" rIns="0" bIns="0" rtlCol="0" anchor="t">
            <a:normAutofit fontScale="85000" lnSpcReduction="10000"/>
          </a:bodyPr>
          <a:lstStyle/>
          <a:p>
            <a:pPr marL="0" indent="0" algn="ctr">
              <a:lnSpc>
                <a:spcPts val="2228"/>
              </a:lnSpc>
              <a:buNone/>
            </a:pPr>
            <a:r>
              <a:rPr lang="en-US" sz="2025" b="1" dirty="0">
                <a:solidFill>
                  <a:srgbClr val="000000"/>
                </a:solidFill>
                <a:latin typeface="Times New Roman" panose="02020603050405020304" pitchFamily="18" charset="0"/>
                <a:ea typeface="Liberation Sans Narrow" pitchFamily="34" charset="-122"/>
                <a:cs typeface="Times New Roman" panose="02020603050405020304" pitchFamily="18" charset="0"/>
              </a:rPr>
              <a:t>79.13%</a:t>
            </a:r>
            <a:endParaRPr lang="en-US" sz="2025" dirty="0">
              <a:latin typeface="Times New Roman" panose="02020603050405020304" pitchFamily="18" charset="0"/>
              <a:cs typeface="Times New Roman" panose="02020603050405020304" pitchFamily="18" charset="0"/>
            </a:endParaRPr>
          </a:p>
        </p:txBody>
      </p:sp>
      <p:sp>
        <p:nvSpPr>
          <p:cNvPr id="22" name="Text 20"/>
          <p:cNvSpPr/>
          <p:nvPr/>
        </p:nvSpPr>
        <p:spPr>
          <a:xfrm>
            <a:off x="5199199" y="4429237"/>
            <a:ext cx="3459026" cy="157051"/>
          </a:xfrm>
          <a:prstGeom prst="rect">
            <a:avLst/>
          </a:prstGeom>
          <a:noFill/>
          <a:ln/>
        </p:spPr>
        <p:txBody>
          <a:bodyPr wrap="none" lIns="0" tIns="0" rIns="0" bIns="0" rtlCol="0" anchor="t"/>
          <a:lstStyle/>
          <a:p>
            <a:pPr marL="0" indent="0" algn="ctr">
              <a:lnSpc>
                <a:spcPts val="1142"/>
              </a:lnSpc>
              <a:buNone/>
            </a:pPr>
            <a:r>
              <a:rPr lang="en-US" sz="1200" dirty="0">
                <a:solidFill>
                  <a:srgbClr val="333333"/>
                </a:solidFill>
                <a:latin typeface="Times New Roman" panose="02020603050405020304" pitchFamily="18" charset="0"/>
                <a:ea typeface="Tinos" pitchFamily="34" charset="-122"/>
                <a:cs typeface="Times New Roman" panose="02020603050405020304" pitchFamily="18" charset="0"/>
              </a:rPr>
              <a:t>Fill Factor</a:t>
            </a:r>
            <a:endParaRPr lang="en-US" sz="1200" dirty="0">
              <a:latin typeface="Times New Roman" panose="02020603050405020304" pitchFamily="18" charset="0"/>
              <a:cs typeface="Times New Roman" panose="02020603050405020304" pitchFamily="18" charset="0"/>
            </a:endParaRPr>
          </a:p>
        </p:txBody>
      </p:sp>
      <p:sp>
        <p:nvSpPr>
          <p:cNvPr id="23" name="Text 21"/>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4" name="Shape 22"/>
          <p:cNvSpPr/>
          <p:nvPr/>
        </p:nvSpPr>
        <p:spPr>
          <a:xfrm>
            <a:off x="0" y="4822031"/>
            <a:ext cx="9144000" cy="0"/>
          </a:xfrm>
          <a:prstGeom prst="line">
            <a:avLst/>
          </a:prstGeom>
          <a:noFill/>
          <a:ln w="14288">
            <a:solidFill>
              <a:srgbClr val="C4D2B1"/>
            </a:solidFill>
            <a:prstDash val="solid"/>
          </a:ln>
        </p:spPr>
      </p:sp>
      <p:sp>
        <p:nvSpPr>
          <p:cNvPr id="25" name="Text 23"/>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26" name="Text 24"/>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27" name="Text 25"/>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27</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Future Scope</a:t>
            </a:r>
            <a:endParaRPr lang="en-US" sz="1800" dirty="0">
              <a:latin typeface="Times New Roman" panose="02020603050405020304" pitchFamily="18" charset="0"/>
              <a:cs typeface="Times New Roman" panose="02020603050405020304" pitchFamily="18" charset="0"/>
            </a:endParaRPr>
          </a:p>
        </p:txBody>
      </p:sp>
      <p:sp>
        <p:nvSpPr>
          <p:cNvPr id="5" name="Text 3"/>
          <p:cNvSpPr/>
          <p:nvPr/>
        </p:nvSpPr>
        <p:spPr>
          <a:xfrm>
            <a:off x="357188" y="885825"/>
            <a:ext cx="4150519" cy="1843088"/>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357188" y="900113"/>
            <a:ext cx="4150519" cy="0"/>
          </a:xfrm>
          <a:prstGeom prst="line">
            <a:avLst/>
          </a:prstGeom>
          <a:noFill/>
          <a:ln w="28575">
            <a:solidFill>
              <a:srgbClr val="000000"/>
            </a:solidFill>
            <a:prstDash val="solid"/>
          </a:ln>
        </p:spPr>
      </p:sp>
      <p:sp>
        <p:nvSpPr>
          <p:cNvPr id="7" name="Shape 5"/>
          <p:cNvSpPr/>
          <p:nvPr/>
        </p:nvSpPr>
        <p:spPr>
          <a:xfrm>
            <a:off x="4504134" y="885825"/>
            <a:ext cx="0" cy="1843088"/>
          </a:xfrm>
          <a:prstGeom prst="line">
            <a:avLst/>
          </a:prstGeom>
          <a:noFill/>
          <a:ln w="7144">
            <a:solidFill>
              <a:srgbClr val="000000"/>
            </a:solidFill>
            <a:prstDash val="solid"/>
          </a:ln>
        </p:spPr>
      </p:sp>
      <p:sp>
        <p:nvSpPr>
          <p:cNvPr id="8" name="Shape 6"/>
          <p:cNvSpPr/>
          <p:nvPr/>
        </p:nvSpPr>
        <p:spPr>
          <a:xfrm>
            <a:off x="357188" y="2725341"/>
            <a:ext cx="4150519" cy="0"/>
          </a:xfrm>
          <a:prstGeom prst="line">
            <a:avLst/>
          </a:prstGeom>
          <a:noFill/>
          <a:ln w="7144">
            <a:solidFill>
              <a:srgbClr val="000000"/>
            </a:solidFill>
            <a:prstDash val="solid"/>
          </a:ln>
        </p:spPr>
      </p:sp>
      <p:sp>
        <p:nvSpPr>
          <p:cNvPr id="9" name="Shape 7"/>
          <p:cNvSpPr/>
          <p:nvPr/>
        </p:nvSpPr>
        <p:spPr>
          <a:xfrm>
            <a:off x="360759" y="885825"/>
            <a:ext cx="0" cy="1843088"/>
          </a:xfrm>
          <a:prstGeom prst="line">
            <a:avLst/>
          </a:prstGeom>
          <a:noFill/>
          <a:ln w="7144">
            <a:solidFill>
              <a:srgbClr val="000000"/>
            </a:solidFill>
            <a:prstDash val="solid"/>
          </a:ln>
        </p:spPr>
      </p:sp>
      <p:sp>
        <p:nvSpPr>
          <p:cNvPr id="10" name="Text 8"/>
          <p:cNvSpPr/>
          <p:nvPr/>
        </p:nvSpPr>
        <p:spPr>
          <a:xfrm>
            <a:off x="507206" y="1071116"/>
            <a:ext cx="200025" cy="200025"/>
          </a:xfrm>
          <a:prstGeom prst="rect">
            <a:avLst/>
          </a:prstGeom>
          <a:noFill/>
          <a:ln/>
        </p:spPr>
        <p:txBody>
          <a:bodyPr wrap="none" lIns="0" tIns="0" rIns="0" bIns="0" rtlCol="0" anchor="ctr"/>
          <a:lstStyle/>
          <a:p>
            <a:pPr marL="0" indent="0" algn="ctr">
              <a:buNone/>
            </a:pPr>
            <a:r>
              <a:rPr lang="en-US" sz="1969" dirty="0">
                <a:solidFill>
                  <a:srgbClr val="000000"/>
                </a:solidFill>
                <a:latin typeface="Times New Roman" panose="02020603050405020304" pitchFamily="18" charset="0"/>
                <a:ea typeface="Segoe UI Symbol" pitchFamily="34" charset="-122"/>
                <a:cs typeface="Times New Roman" panose="02020603050405020304" pitchFamily="18" charset="0"/>
              </a:rPr>
              <a:t>⚗</a:t>
            </a:r>
            <a:endParaRPr lang="en-US" sz="1969" dirty="0">
              <a:latin typeface="Times New Roman" panose="02020603050405020304" pitchFamily="18" charset="0"/>
              <a:cs typeface="Times New Roman" panose="02020603050405020304" pitchFamily="18" charset="0"/>
            </a:endParaRPr>
          </a:p>
        </p:txBody>
      </p:sp>
      <p:sp>
        <p:nvSpPr>
          <p:cNvPr id="11" name="Text 9"/>
          <p:cNvSpPr/>
          <p:nvPr/>
        </p:nvSpPr>
        <p:spPr>
          <a:xfrm>
            <a:off x="778669" y="1057275"/>
            <a:ext cx="3579019"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Experimental Validation</a:t>
            </a:r>
            <a:endParaRPr lang="en-US" sz="1238" dirty="0">
              <a:latin typeface="Times New Roman" panose="02020603050405020304" pitchFamily="18" charset="0"/>
              <a:cs typeface="Times New Roman" panose="02020603050405020304" pitchFamily="18" charset="0"/>
            </a:endParaRPr>
          </a:p>
        </p:txBody>
      </p:sp>
      <p:sp>
        <p:nvSpPr>
          <p:cNvPr id="12" name="Text 10"/>
          <p:cNvSpPr/>
          <p:nvPr/>
        </p:nvSpPr>
        <p:spPr>
          <a:xfrm>
            <a:off x="507206" y="1342244"/>
            <a:ext cx="3850481" cy="1201998"/>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Fabricate the optimized FTO/TiO₂/RbGeI₃/CuI/Au device.</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Characterize under real AM 1.5G conditions.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Identify practical limitations of material synthesis and interface quality.</a:t>
            </a:r>
            <a:endParaRPr lang="en-US" sz="1069" dirty="0">
              <a:latin typeface="Times New Roman" panose="02020603050405020304" pitchFamily="18" charset="0"/>
              <a:cs typeface="Times New Roman" panose="02020603050405020304" pitchFamily="18" charset="0"/>
            </a:endParaRPr>
          </a:p>
        </p:txBody>
      </p:sp>
      <p:sp>
        <p:nvSpPr>
          <p:cNvPr id="13" name="Text 11"/>
          <p:cNvSpPr/>
          <p:nvPr/>
        </p:nvSpPr>
        <p:spPr>
          <a:xfrm>
            <a:off x="4636294" y="885825"/>
            <a:ext cx="4150519" cy="1843088"/>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4636294" y="900113"/>
            <a:ext cx="4150519" cy="0"/>
          </a:xfrm>
          <a:prstGeom prst="line">
            <a:avLst/>
          </a:prstGeom>
          <a:noFill/>
          <a:ln w="28575">
            <a:solidFill>
              <a:srgbClr val="000000"/>
            </a:solidFill>
            <a:prstDash val="solid"/>
          </a:ln>
        </p:spPr>
      </p:sp>
      <p:sp>
        <p:nvSpPr>
          <p:cNvPr id="15" name="Shape 13"/>
          <p:cNvSpPr/>
          <p:nvPr/>
        </p:nvSpPr>
        <p:spPr>
          <a:xfrm>
            <a:off x="8783241" y="885825"/>
            <a:ext cx="0" cy="1843088"/>
          </a:xfrm>
          <a:prstGeom prst="line">
            <a:avLst/>
          </a:prstGeom>
          <a:noFill/>
          <a:ln w="7144">
            <a:solidFill>
              <a:srgbClr val="000000"/>
            </a:solidFill>
            <a:prstDash val="solid"/>
          </a:ln>
        </p:spPr>
      </p:sp>
      <p:sp>
        <p:nvSpPr>
          <p:cNvPr id="16" name="Shape 14"/>
          <p:cNvSpPr/>
          <p:nvPr/>
        </p:nvSpPr>
        <p:spPr>
          <a:xfrm>
            <a:off x="4636294" y="2725341"/>
            <a:ext cx="4150519" cy="0"/>
          </a:xfrm>
          <a:prstGeom prst="line">
            <a:avLst/>
          </a:prstGeom>
          <a:noFill/>
          <a:ln w="7144">
            <a:solidFill>
              <a:srgbClr val="000000"/>
            </a:solidFill>
            <a:prstDash val="solid"/>
          </a:ln>
        </p:spPr>
      </p:sp>
      <p:sp>
        <p:nvSpPr>
          <p:cNvPr id="17" name="Shape 15"/>
          <p:cNvSpPr/>
          <p:nvPr/>
        </p:nvSpPr>
        <p:spPr>
          <a:xfrm>
            <a:off x="4639866" y="885825"/>
            <a:ext cx="0" cy="1843088"/>
          </a:xfrm>
          <a:prstGeom prst="line">
            <a:avLst/>
          </a:prstGeom>
          <a:noFill/>
          <a:ln w="7144">
            <a:solidFill>
              <a:srgbClr val="000000"/>
            </a:solidFill>
            <a:prstDash val="solid"/>
          </a:ln>
        </p:spPr>
      </p:sp>
      <p:sp>
        <p:nvSpPr>
          <p:cNvPr id="18" name="Text 16"/>
          <p:cNvSpPr/>
          <p:nvPr/>
        </p:nvSpPr>
        <p:spPr>
          <a:xfrm>
            <a:off x="4786313" y="1071116"/>
            <a:ext cx="200025" cy="200025"/>
          </a:xfrm>
          <a:prstGeom prst="rect">
            <a:avLst/>
          </a:prstGeom>
          <a:noFill/>
          <a:ln/>
        </p:spPr>
        <p:txBody>
          <a:bodyPr wrap="none" lIns="0" tIns="0" rIns="0" bIns="0" rtlCol="0" anchor="ctr"/>
          <a:lstStyle/>
          <a:p>
            <a:pPr marL="0" indent="0" algn="ctr">
              <a:buNone/>
            </a:pPr>
            <a:r>
              <a:rPr lang="en-US" sz="1969" dirty="0">
                <a:solidFill>
                  <a:srgbClr val="000000"/>
                </a:solidFill>
                <a:latin typeface="Times New Roman" panose="02020603050405020304" pitchFamily="18" charset="0"/>
                <a:ea typeface="Segoe UI Symbol" pitchFamily="34" charset="-122"/>
                <a:cs typeface="Times New Roman" panose="02020603050405020304" pitchFamily="18" charset="0"/>
              </a:rPr>
              <a:t>⛨</a:t>
            </a:r>
            <a:endParaRPr lang="en-US" sz="1969" dirty="0">
              <a:latin typeface="Times New Roman" panose="02020603050405020304" pitchFamily="18" charset="0"/>
              <a:cs typeface="Times New Roman" panose="02020603050405020304" pitchFamily="18" charset="0"/>
            </a:endParaRPr>
          </a:p>
        </p:txBody>
      </p:sp>
      <p:sp>
        <p:nvSpPr>
          <p:cNvPr id="19" name="Text 17"/>
          <p:cNvSpPr/>
          <p:nvPr/>
        </p:nvSpPr>
        <p:spPr>
          <a:xfrm>
            <a:off x="5057775" y="1057275"/>
            <a:ext cx="3579019"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Stability Analysis</a:t>
            </a:r>
            <a:endParaRPr lang="en-US" sz="1238" dirty="0">
              <a:latin typeface="Times New Roman" panose="02020603050405020304" pitchFamily="18" charset="0"/>
              <a:cs typeface="Times New Roman" panose="02020603050405020304" pitchFamily="18" charset="0"/>
            </a:endParaRPr>
          </a:p>
        </p:txBody>
      </p:sp>
      <p:sp>
        <p:nvSpPr>
          <p:cNvPr id="20" name="Text 18"/>
          <p:cNvSpPr/>
          <p:nvPr/>
        </p:nvSpPr>
        <p:spPr>
          <a:xfrm>
            <a:off x="4786313" y="1342244"/>
            <a:ext cx="3850481" cy="993403"/>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Long-term thermal and moisture stability of RbGeI₃.</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Mitigate Ge²⁺ → Ge⁴⁺ oxidation.</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Encapsulation and storage stability studies.</a:t>
            </a:r>
            <a:endParaRPr lang="en-US" sz="1069" dirty="0">
              <a:latin typeface="Times New Roman" panose="02020603050405020304" pitchFamily="18" charset="0"/>
              <a:cs typeface="Times New Roman" panose="02020603050405020304" pitchFamily="18" charset="0"/>
            </a:endParaRPr>
          </a:p>
        </p:txBody>
      </p:sp>
      <p:sp>
        <p:nvSpPr>
          <p:cNvPr id="21" name="Text 19"/>
          <p:cNvSpPr/>
          <p:nvPr/>
        </p:nvSpPr>
        <p:spPr>
          <a:xfrm>
            <a:off x="357188" y="2857500"/>
            <a:ext cx="4150519" cy="1843088"/>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2" name="Shape 20"/>
          <p:cNvSpPr/>
          <p:nvPr/>
        </p:nvSpPr>
        <p:spPr>
          <a:xfrm>
            <a:off x="357188" y="2871788"/>
            <a:ext cx="4150519" cy="0"/>
          </a:xfrm>
          <a:prstGeom prst="line">
            <a:avLst/>
          </a:prstGeom>
          <a:noFill/>
          <a:ln w="28575">
            <a:solidFill>
              <a:srgbClr val="000000"/>
            </a:solidFill>
            <a:prstDash val="solid"/>
          </a:ln>
        </p:spPr>
      </p:sp>
      <p:sp>
        <p:nvSpPr>
          <p:cNvPr id="23" name="Shape 21"/>
          <p:cNvSpPr/>
          <p:nvPr/>
        </p:nvSpPr>
        <p:spPr>
          <a:xfrm>
            <a:off x="4504134" y="2857500"/>
            <a:ext cx="0" cy="1843088"/>
          </a:xfrm>
          <a:prstGeom prst="line">
            <a:avLst/>
          </a:prstGeom>
          <a:noFill/>
          <a:ln w="7144">
            <a:solidFill>
              <a:srgbClr val="000000"/>
            </a:solidFill>
            <a:prstDash val="solid"/>
          </a:ln>
        </p:spPr>
      </p:sp>
      <p:sp>
        <p:nvSpPr>
          <p:cNvPr id="24" name="Shape 22"/>
          <p:cNvSpPr/>
          <p:nvPr/>
        </p:nvSpPr>
        <p:spPr>
          <a:xfrm>
            <a:off x="357188" y="4697016"/>
            <a:ext cx="4150519" cy="0"/>
          </a:xfrm>
          <a:prstGeom prst="line">
            <a:avLst/>
          </a:prstGeom>
          <a:noFill/>
          <a:ln w="7144">
            <a:solidFill>
              <a:srgbClr val="000000"/>
            </a:solidFill>
            <a:prstDash val="solid"/>
          </a:ln>
        </p:spPr>
      </p:sp>
      <p:sp>
        <p:nvSpPr>
          <p:cNvPr id="25" name="Shape 23"/>
          <p:cNvSpPr/>
          <p:nvPr/>
        </p:nvSpPr>
        <p:spPr>
          <a:xfrm>
            <a:off x="360759" y="2857500"/>
            <a:ext cx="0" cy="1843088"/>
          </a:xfrm>
          <a:prstGeom prst="line">
            <a:avLst/>
          </a:prstGeom>
          <a:noFill/>
          <a:ln w="7144">
            <a:solidFill>
              <a:srgbClr val="000000"/>
            </a:solidFill>
            <a:prstDash val="solid"/>
          </a:ln>
        </p:spPr>
      </p:sp>
      <p:sp>
        <p:nvSpPr>
          <p:cNvPr id="26" name="Text 24"/>
          <p:cNvSpPr/>
          <p:nvPr/>
        </p:nvSpPr>
        <p:spPr>
          <a:xfrm>
            <a:off x="507206" y="3042791"/>
            <a:ext cx="200025" cy="200025"/>
          </a:xfrm>
          <a:prstGeom prst="rect">
            <a:avLst/>
          </a:prstGeom>
          <a:noFill/>
          <a:ln/>
        </p:spPr>
        <p:txBody>
          <a:bodyPr wrap="none" lIns="0" tIns="0" rIns="0" bIns="0" rtlCol="0" anchor="ctr"/>
          <a:lstStyle/>
          <a:p>
            <a:pPr marL="0" indent="0" algn="ctr">
              <a:buNone/>
            </a:pPr>
            <a:r>
              <a:rPr lang="en-US" sz="1969" dirty="0">
                <a:solidFill>
                  <a:srgbClr val="000000"/>
                </a:solidFill>
                <a:latin typeface="Times New Roman" panose="02020603050405020304" pitchFamily="18" charset="0"/>
                <a:ea typeface="Segoe UI Symbol" pitchFamily="34" charset="-122"/>
                <a:cs typeface="Times New Roman" panose="02020603050405020304" pitchFamily="18" charset="0"/>
              </a:rPr>
              <a:t>⚙</a:t>
            </a:r>
            <a:endParaRPr lang="en-US" sz="1969" dirty="0">
              <a:latin typeface="Times New Roman" panose="02020603050405020304" pitchFamily="18" charset="0"/>
              <a:cs typeface="Times New Roman" panose="02020603050405020304" pitchFamily="18" charset="0"/>
            </a:endParaRPr>
          </a:p>
        </p:txBody>
      </p:sp>
      <p:sp>
        <p:nvSpPr>
          <p:cNvPr id="27" name="Text 25"/>
          <p:cNvSpPr/>
          <p:nvPr/>
        </p:nvSpPr>
        <p:spPr>
          <a:xfrm>
            <a:off x="778669" y="3028950"/>
            <a:ext cx="3579019"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Interface Defect Engineering</a:t>
            </a:r>
            <a:endParaRPr lang="en-US" sz="1238" dirty="0">
              <a:latin typeface="Times New Roman" panose="02020603050405020304" pitchFamily="18" charset="0"/>
              <a:cs typeface="Times New Roman" panose="02020603050405020304" pitchFamily="18" charset="0"/>
            </a:endParaRPr>
          </a:p>
        </p:txBody>
      </p:sp>
      <p:sp>
        <p:nvSpPr>
          <p:cNvPr id="28" name="Text 26"/>
          <p:cNvSpPr/>
          <p:nvPr/>
        </p:nvSpPr>
        <p:spPr>
          <a:xfrm>
            <a:off x="507206" y="3313919"/>
            <a:ext cx="3850481" cy="1201998"/>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Passivation techniques for TiO₂/RbGeI₃ and RbGeI₃/CuI interfaces.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Reduce interfacial recombination further.</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Explore self-assembled monolayers (SAMs).</a:t>
            </a:r>
            <a:endParaRPr lang="en-US" sz="1069" dirty="0">
              <a:latin typeface="Times New Roman" panose="02020603050405020304" pitchFamily="18" charset="0"/>
              <a:cs typeface="Times New Roman" panose="02020603050405020304" pitchFamily="18" charset="0"/>
            </a:endParaRPr>
          </a:p>
        </p:txBody>
      </p:sp>
      <p:sp>
        <p:nvSpPr>
          <p:cNvPr id="29" name="Text 27"/>
          <p:cNvSpPr/>
          <p:nvPr/>
        </p:nvSpPr>
        <p:spPr>
          <a:xfrm>
            <a:off x="4636294" y="2857500"/>
            <a:ext cx="4150519" cy="1843088"/>
          </a:xfrm>
          <a:prstGeom prst="rect">
            <a:avLst/>
          </a:prstGeom>
          <a:solidFill>
            <a:srgbClr val="FFFFFF"/>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0" name="Shape 28"/>
          <p:cNvSpPr/>
          <p:nvPr/>
        </p:nvSpPr>
        <p:spPr>
          <a:xfrm>
            <a:off x="4636294" y="2871788"/>
            <a:ext cx="4150519" cy="0"/>
          </a:xfrm>
          <a:prstGeom prst="line">
            <a:avLst/>
          </a:prstGeom>
          <a:noFill/>
          <a:ln w="28575">
            <a:solidFill>
              <a:srgbClr val="000000"/>
            </a:solidFill>
            <a:prstDash val="solid"/>
          </a:ln>
        </p:spPr>
      </p:sp>
      <p:sp>
        <p:nvSpPr>
          <p:cNvPr id="31" name="Shape 29"/>
          <p:cNvSpPr/>
          <p:nvPr/>
        </p:nvSpPr>
        <p:spPr>
          <a:xfrm>
            <a:off x="8783241" y="2857500"/>
            <a:ext cx="0" cy="1843088"/>
          </a:xfrm>
          <a:prstGeom prst="line">
            <a:avLst/>
          </a:prstGeom>
          <a:noFill/>
          <a:ln w="7144">
            <a:solidFill>
              <a:srgbClr val="000000"/>
            </a:solidFill>
            <a:prstDash val="solid"/>
          </a:ln>
        </p:spPr>
      </p:sp>
      <p:sp>
        <p:nvSpPr>
          <p:cNvPr id="32" name="Shape 30"/>
          <p:cNvSpPr/>
          <p:nvPr/>
        </p:nvSpPr>
        <p:spPr>
          <a:xfrm>
            <a:off x="4636294" y="4697016"/>
            <a:ext cx="4150519" cy="0"/>
          </a:xfrm>
          <a:prstGeom prst="line">
            <a:avLst/>
          </a:prstGeom>
          <a:noFill/>
          <a:ln w="7144">
            <a:solidFill>
              <a:srgbClr val="000000"/>
            </a:solidFill>
            <a:prstDash val="solid"/>
          </a:ln>
        </p:spPr>
      </p:sp>
      <p:sp>
        <p:nvSpPr>
          <p:cNvPr id="33" name="Shape 31"/>
          <p:cNvSpPr/>
          <p:nvPr/>
        </p:nvSpPr>
        <p:spPr>
          <a:xfrm>
            <a:off x="4639866" y="2857500"/>
            <a:ext cx="0" cy="1843088"/>
          </a:xfrm>
          <a:prstGeom prst="line">
            <a:avLst/>
          </a:prstGeom>
          <a:noFill/>
          <a:ln w="7144">
            <a:solidFill>
              <a:srgbClr val="000000"/>
            </a:solidFill>
            <a:prstDash val="solid"/>
          </a:ln>
        </p:spPr>
      </p:sp>
      <p:sp>
        <p:nvSpPr>
          <p:cNvPr id="34" name="Text 32"/>
          <p:cNvSpPr/>
          <p:nvPr/>
        </p:nvSpPr>
        <p:spPr>
          <a:xfrm>
            <a:off x="4786313" y="3042791"/>
            <a:ext cx="200025" cy="200025"/>
          </a:xfrm>
          <a:prstGeom prst="rect">
            <a:avLst/>
          </a:prstGeom>
          <a:noFill/>
          <a:ln/>
        </p:spPr>
        <p:txBody>
          <a:bodyPr wrap="none" lIns="0" tIns="0" rIns="0" bIns="0" rtlCol="0" anchor="ctr"/>
          <a:lstStyle/>
          <a:p>
            <a:pPr marL="0" indent="0" algn="ctr">
              <a:buNone/>
            </a:pPr>
            <a:r>
              <a:rPr lang="en-US" sz="1969" dirty="0">
                <a:solidFill>
                  <a:srgbClr val="000000"/>
                </a:solidFill>
                <a:latin typeface="Times New Roman" panose="02020603050405020304" pitchFamily="18" charset="0"/>
                <a:ea typeface="Segoe UI Symbol" pitchFamily="34" charset="-122"/>
                <a:cs typeface="Times New Roman" panose="02020603050405020304" pitchFamily="18" charset="0"/>
              </a:rPr>
              <a:t>✦</a:t>
            </a:r>
            <a:endParaRPr lang="en-US" sz="1969" dirty="0">
              <a:latin typeface="Times New Roman" panose="02020603050405020304" pitchFamily="18" charset="0"/>
              <a:cs typeface="Times New Roman" panose="02020603050405020304" pitchFamily="18" charset="0"/>
            </a:endParaRPr>
          </a:p>
        </p:txBody>
      </p:sp>
      <p:sp>
        <p:nvSpPr>
          <p:cNvPr id="35" name="Text 33"/>
          <p:cNvSpPr/>
          <p:nvPr/>
        </p:nvSpPr>
        <p:spPr>
          <a:xfrm>
            <a:off x="5057775" y="3028950"/>
            <a:ext cx="3579019" cy="246044"/>
          </a:xfrm>
          <a:prstGeom prst="rect">
            <a:avLst/>
          </a:prstGeom>
          <a:noFill/>
          <a:ln/>
        </p:spPr>
        <p:txBody>
          <a:bodyPr wrap="none" lIns="0" tIns="0" rIns="0" bIns="0" rtlCol="0" anchor="t"/>
          <a:lstStyle/>
          <a:p>
            <a:pPr marL="0" indent="0" algn="l">
              <a:lnSpc>
                <a:spcPts val="1794"/>
              </a:lnSpc>
              <a:buNone/>
            </a:pPr>
            <a:r>
              <a:rPr lang="en-US" sz="1238" b="1" dirty="0">
                <a:solidFill>
                  <a:srgbClr val="000000"/>
                </a:solidFill>
                <a:latin typeface="Times New Roman" panose="02020603050405020304" pitchFamily="18" charset="0"/>
                <a:ea typeface="Tinos" pitchFamily="34" charset="-122"/>
                <a:cs typeface="Times New Roman" panose="02020603050405020304" pitchFamily="18" charset="0"/>
              </a:rPr>
              <a:t>Advanced Transport Materials</a:t>
            </a:r>
            <a:endParaRPr lang="en-US" sz="1238" dirty="0">
              <a:latin typeface="Times New Roman" panose="02020603050405020304" pitchFamily="18" charset="0"/>
              <a:cs typeface="Times New Roman" panose="02020603050405020304" pitchFamily="18" charset="0"/>
            </a:endParaRPr>
          </a:p>
        </p:txBody>
      </p:sp>
      <p:sp>
        <p:nvSpPr>
          <p:cNvPr id="36" name="Text 34"/>
          <p:cNvSpPr/>
          <p:nvPr/>
        </p:nvSpPr>
        <p:spPr>
          <a:xfrm>
            <a:off x="4786313" y="3313919"/>
            <a:ext cx="3850481" cy="993403"/>
          </a:xfrm>
          <a:prstGeom prst="rect">
            <a:avLst/>
          </a:prstGeom>
          <a:noFill/>
          <a:ln/>
        </p:spPr>
        <p:txBody>
          <a:bodyPr wrap="square" lIns="100013" tIns="0" rIns="0" bIns="0" rtlCol="0" anchor="t"/>
          <a:lstStyle/>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Higher-mobility ETL alternatives (e.g., SnO₂, ZnO).</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Organic HTLs.</a:t>
            </a:r>
            <a:endParaRPr lang="en-US" sz="1069" dirty="0">
              <a:latin typeface="Times New Roman" panose="02020603050405020304" pitchFamily="18" charset="0"/>
              <a:cs typeface="Times New Roman" panose="02020603050405020304" pitchFamily="18" charset="0"/>
            </a:endParaRPr>
          </a:p>
          <a:p>
            <a:pPr marL="100013" indent="-100013" algn="l">
              <a:lnSpc>
                <a:spcPts val="1550"/>
              </a:lnSpc>
              <a:spcAft>
                <a:spcPts val="450"/>
              </a:spcAft>
              <a:buSzPct val="100000"/>
              <a:buChar char="•"/>
            </a:pPr>
            <a:r>
              <a:rPr lang="en-US" sz="1069" dirty="0">
                <a:solidFill>
                  <a:srgbClr val="000000"/>
                </a:solidFill>
                <a:latin typeface="Times New Roman" panose="02020603050405020304" pitchFamily="18" charset="0"/>
                <a:ea typeface="Tinos" pitchFamily="34" charset="-122"/>
                <a:cs typeface="Times New Roman" panose="02020603050405020304" pitchFamily="18" charset="0"/>
              </a:rPr>
              <a:t>Tandem-junction architectures with Si bottom cell.</a:t>
            </a:r>
            <a:endParaRPr lang="en-US" sz="1069"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28</a:t>
            </a:r>
            <a:endParaRPr lang="en-US" sz="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29</a:t>
            </a:r>
            <a:endParaRPr lang="en-US" sz="8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AF195F5-AFBD-262B-216E-F61A8175B91D}"/>
              </a:ext>
            </a:extLst>
          </p:cNvPr>
          <p:cNvSpPr txBox="1"/>
          <p:nvPr/>
        </p:nvSpPr>
        <p:spPr>
          <a:xfrm>
            <a:off x="618976" y="900329"/>
            <a:ext cx="7870874" cy="3908762"/>
          </a:xfrm>
          <a:prstGeom prst="rect">
            <a:avLst/>
          </a:prstGeom>
          <a:noFill/>
        </p:spPr>
        <p:txBody>
          <a:bodyPr wrap="square" rtlCol="0">
            <a:spAutoFit/>
          </a:bodyPr>
          <a:lstStyle/>
          <a:p>
            <a:pPr algn="just"/>
            <a:r>
              <a:rPr lang="en-US" sz="800" dirty="0">
                <a:latin typeface="Times New Roman" panose="02020603050405020304" pitchFamily="18" charset="0"/>
                <a:cs typeface="Times New Roman" panose="02020603050405020304" pitchFamily="18" charset="0"/>
              </a:rPr>
              <a:t>[1] “RENEWABLES 2024 GLOBAL STATUS REPORT.” Accessed: Jun. 13, 2026. [Online]. Available: https://www.ren21.net/gsr-2024/</a:t>
            </a:r>
          </a:p>
          <a:p>
            <a:pPr algn="just"/>
            <a:r>
              <a:rPr lang="en-US" sz="800" dirty="0">
                <a:latin typeface="Times New Roman" panose="02020603050405020304" pitchFamily="18" charset="0"/>
                <a:cs typeface="Times New Roman" panose="02020603050405020304" pitchFamily="18" charset="0"/>
              </a:rPr>
              <a:t>[2] “World Energy Outlook 2024 – Analysis,” IEA. Accessed: Jun. 13, 2026. [Online]. Available: https://www.iea.org/reports/world-energy-outlook-2024</a:t>
            </a:r>
          </a:p>
          <a:p>
            <a:pPr algn="just"/>
            <a:r>
              <a:rPr lang="en-US" sz="800" dirty="0">
                <a:latin typeface="Times New Roman" panose="02020603050405020304" pitchFamily="18" charset="0"/>
                <a:cs typeface="Times New Roman" panose="02020603050405020304" pitchFamily="18" charset="0"/>
              </a:rPr>
              <a:t>[3] M. A. Green et al., “Solar cell efficiency tables (Version 64)”,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10.1002/pip.3831.</a:t>
            </a:r>
          </a:p>
          <a:p>
            <a:pPr algn="just"/>
            <a:r>
              <a:rPr lang="en-US" sz="800" dirty="0">
                <a:latin typeface="Times New Roman" panose="02020603050405020304" pitchFamily="18" charset="0"/>
                <a:cs typeface="Times New Roman" panose="02020603050405020304" pitchFamily="18" charset="0"/>
              </a:rPr>
              <a:t>[4] R. A. </a:t>
            </a:r>
            <a:r>
              <a:rPr lang="en-US" sz="800" dirty="0" err="1">
                <a:latin typeface="Times New Roman" panose="02020603050405020304" pitchFamily="18" charset="0"/>
                <a:cs typeface="Times New Roman" panose="02020603050405020304" pitchFamily="18" charset="0"/>
              </a:rPr>
              <a:t>Afre</a:t>
            </a:r>
            <a:r>
              <a:rPr lang="en-US" sz="800" dirty="0">
                <a:latin typeface="Times New Roman" panose="02020603050405020304" pitchFamily="18" charset="0"/>
                <a:cs typeface="Times New Roman" panose="02020603050405020304" pitchFamily="18" charset="0"/>
              </a:rPr>
              <a:t> and D. Pugliese, “Perovskite Solar Cells: A Review of the Latest Advances in Materials, Fabrication Techniques, and Stability Enhancement Strategies,” Micromachines, vol. 15, no. 2, p. 192, Feb.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10.3390/mi15020192.</a:t>
            </a:r>
          </a:p>
          <a:p>
            <a:pPr algn="just"/>
            <a:r>
              <a:rPr lang="en-US" sz="800" dirty="0">
                <a:latin typeface="Times New Roman" panose="02020603050405020304" pitchFamily="18" charset="0"/>
                <a:cs typeface="Times New Roman" panose="02020603050405020304" pitchFamily="18" charset="0"/>
              </a:rPr>
              <a:t>[5] N.-G. Park, M. </a:t>
            </a:r>
            <a:r>
              <a:rPr lang="en-US" sz="800" dirty="0" err="1">
                <a:latin typeface="Times New Roman" panose="02020603050405020304" pitchFamily="18" charset="0"/>
                <a:cs typeface="Times New Roman" panose="02020603050405020304" pitchFamily="18" charset="0"/>
              </a:rPr>
              <a:t>Grätzel</a:t>
            </a:r>
            <a:r>
              <a:rPr lang="en-US" sz="800" dirty="0">
                <a:latin typeface="Times New Roman" panose="02020603050405020304" pitchFamily="18" charset="0"/>
                <a:cs typeface="Times New Roman" panose="02020603050405020304" pitchFamily="18" charset="0"/>
              </a:rPr>
              <a:t>, T. </a:t>
            </a:r>
            <a:r>
              <a:rPr lang="en-US" sz="800" dirty="0" err="1">
                <a:latin typeface="Times New Roman" panose="02020603050405020304" pitchFamily="18" charset="0"/>
                <a:cs typeface="Times New Roman" panose="02020603050405020304" pitchFamily="18" charset="0"/>
              </a:rPr>
              <a:t>Miyasaka</a:t>
            </a:r>
            <a:r>
              <a:rPr lang="en-US" sz="800" dirty="0">
                <a:latin typeface="Times New Roman" panose="02020603050405020304" pitchFamily="18" charset="0"/>
                <a:cs typeface="Times New Roman" panose="02020603050405020304" pitchFamily="18" charset="0"/>
              </a:rPr>
              <a:t>, K. Zhu, and K. Emery, “Towards stable and commercially available perovskite solar cells,” Nat Energy, vol. 1, no. 11, p. 16152, Oct. 2016,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10.1038/nenergy.2016.152.</a:t>
            </a:r>
          </a:p>
          <a:p>
            <a:pPr algn="just"/>
            <a:r>
              <a:rPr lang="en-US" sz="800" dirty="0">
                <a:latin typeface="Times New Roman" panose="02020603050405020304" pitchFamily="18" charset="0"/>
                <a:cs typeface="Times New Roman" panose="02020603050405020304" pitchFamily="18" charset="0"/>
              </a:rPr>
              <a:t>[6] S. Samaki, F. </a:t>
            </a:r>
            <a:r>
              <a:rPr lang="en-US" sz="800" dirty="0" err="1">
                <a:latin typeface="Times New Roman" panose="02020603050405020304" pitchFamily="18" charset="0"/>
                <a:cs typeface="Times New Roman" panose="02020603050405020304" pitchFamily="18" charset="0"/>
              </a:rPr>
              <a:t>Tchangnwa</a:t>
            </a:r>
            <a:r>
              <a:rPr lang="en-US" sz="800" dirty="0">
                <a:latin typeface="Times New Roman" panose="02020603050405020304" pitchFamily="18" charset="0"/>
                <a:cs typeface="Times New Roman" panose="02020603050405020304" pitchFamily="18" charset="0"/>
              </a:rPr>
              <a:t> Nya, G. M. </a:t>
            </a:r>
            <a:r>
              <a:rPr lang="en-US" sz="800" dirty="0" err="1">
                <a:latin typeface="Times New Roman" panose="02020603050405020304" pitchFamily="18" charset="0"/>
                <a:cs typeface="Times New Roman" panose="02020603050405020304" pitchFamily="18" charset="0"/>
              </a:rPr>
              <a:t>Dzifack</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Kenfack</a:t>
            </a:r>
            <a:r>
              <a:rPr lang="en-US" sz="800" dirty="0">
                <a:latin typeface="Times New Roman" panose="02020603050405020304" pitchFamily="18" charset="0"/>
                <a:cs typeface="Times New Roman" panose="02020603050405020304" pitchFamily="18" charset="0"/>
              </a:rPr>
              <a:t>, and A. </a:t>
            </a:r>
            <a:r>
              <a:rPr lang="en-US" sz="800" dirty="0" err="1">
                <a:latin typeface="Times New Roman" panose="02020603050405020304" pitchFamily="18" charset="0"/>
                <a:cs typeface="Times New Roman" panose="02020603050405020304" pitchFamily="18" charset="0"/>
              </a:rPr>
              <a:t>Laref</a:t>
            </a:r>
            <a:r>
              <a:rPr lang="en-US" sz="800" dirty="0">
                <a:latin typeface="Times New Roman" panose="02020603050405020304" pitchFamily="18" charset="0"/>
                <a:cs typeface="Times New Roman" panose="02020603050405020304" pitchFamily="18" charset="0"/>
              </a:rPr>
              <a:t>, “Materials and interfaces properties optimization for high-efficient and more stable RbGeI3 perovskite solar cells: optoelectrical modelling,” Sci Rep, vol. 13, no. 1, p. 15517, Sep.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10.1038/s41598-023-42471-w.</a:t>
            </a:r>
          </a:p>
          <a:p>
            <a:pPr algn="just"/>
            <a:r>
              <a:rPr lang="en-US" sz="800" dirty="0">
                <a:latin typeface="Times New Roman" panose="02020603050405020304" pitchFamily="18" charset="0"/>
                <a:cs typeface="Times New Roman" panose="02020603050405020304" pitchFamily="18" charset="0"/>
              </a:rPr>
              <a:t>[7] “Rethinking the A cation in halide perovskites,” Science, vol. 375, no. 6583, Feb.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10.1126/science.abj1186.</a:t>
            </a:r>
          </a:p>
          <a:p>
            <a:pPr algn="just"/>
            <a:r>
              <a:rPr lang="en-US" sz="800" dirty="0">
                <a:latin typeface="Times New Roman" panose="02020603050405020304" pitchFamily="18" charset="0"/>
                <a:cs typeface="Times New Roman" panose="02020603050405020304" pitchFamily="18" charset="0"/>
              </a:rPr>
              <a:t>[8] “Compositional engineering of perovskite materials for high-performance solar cells,” Nature, vol. 517, no. 7535, pp. 476–480, Jan. 2015,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10.1038/NATURE14133.</a:t>
            </a:r>
          </a:p>
          <a:p>
            <a:pPr algn="just"/>
            <a:r>
              <a:rPr lang="en-US" sz="800" dirty="0">
                <a:latin typeface="Times New Roman" panose="02020603050405020304" pitchFamily="18" charset="0"/>
                <a:cs typeface="Times New Roman" panose="02020603050405020304" pitchFamily="18" charset="0"/>
              </a:rPr>
              <a:t>[9] I. Ahmed, K. Prakash, and S. M. </a:t>
            </a:r>
            <a:r>
              <a:rPr lang="en-US" sz="800" dirty="0" err="1">
                <a:latin typeface="Times New Roman" panose="02020603050405020304" pitchFamily="18" charset="0"/>
                <a:cs typeface="Times New Roman" panose="02020603050405020304" pitchFamily="18" charset="0"/>
              </a:rPr>
              <a:t>Mobin</a:t>
            </a:r>
            <a:r>
              <a:rPr lang="en-US" sz="800" dirty="0">
                <a:latin typeface="Times New Roman" panose="02020603050405020304" pitchFamily="18" charset="0"/>
                <a:cs typeface="Times New Roman" panose="02020603050405020304" pitchFamily="18" charset="0"/>
              </a:rPr>
              <a:t>, “Lead-free perovskites for solar cell applications: recent progress, ongoing challenges, and strategic approaches,” Chem. </a:t>
            </a:r>
            <a:r>
              <a:rPr lang="en-US" sz="800" dirty="0" err="1">
                <a:latin typeface="Times New Roman" panose="02020603050405020304" pitchFamily="18" charset="0"/>
                <a:cs typeface="Times New Roman" panose="02020603050405020304" pitchFamily="18" charset="0"/>
              </a:rPr>
              <a:t>Commun</a:t>
            </a:r>
            <a:r>
              <a:rPr lang="en-US" sz="800" dirty="0">
                <a:latin typeface="Times New Roman" panose="02020603050405020304" pitchFamily="18" charset="0"/>
                <a:cs typeface="Times New Roman" panose="02020603050405020304" pitchFamily="18" charset="0"/>
              </a:rPr>
              <a:t>., vol. 61, no. 37, pp. 6691–6721, May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10.1039/D4CC06835A.</a:t>
            </a:r>
          </a:p>
          <a:p>
            <a:pPr algn="just"/>
            <a:r>
              <a:rPr lang="en-US" sz="800" dirty="0">
                <a:latin typeface="Times New Roman" panose="02020603050405020304" pitchFamily="18" charset="0"/>
                <a:cs typeface="Times New Roman" panose="02020603050405020304" pitchFamily="18" charset="0"/>
              </a:rPr>
              <a:t>[10] I. Ahmed, K. Prakash, and S. M. </a:t>
            </a:r>
            <a:r>
              <a:rPr lang="en-US" sz="800" dirty="0" err="1">
                <a:latin typeface="Times New Roman" panose="02020603050405020304" pitchFamily="18" charset="0"/>
                <a:cs typeface="Times New Roman" panose="02020603050405020304" pitchFamily="18" charset="0"/>
              </a:rPr>
              <a:t>Mobin</a:t>
            </a:r>
            <a:r>
              <a:rPr lang="en-US" sz="800" dirty="0">
                <a:latin typeface="Times New Roman" panose="02020603050405020304" pitchFamily="18" charset="0"/>
                <a:cs typeface="Times New Roman" panose="02020603050405020304" pitchFamily="18" charset="0"/>
              </a:rPr>
              <a:t>, “Lead-free perovskites for solar cell applications: recent progress, ongoing challenges, and strategic approaches,” Chem. </a:t>
            </a:r>
            <a:r>
              <a:rPr lang="en-US" sz="800" dirty="0" err="1">
                <a:latin typeface="Times New Roman" panose="02020603050405020304" pitchFamily="18" charset="0"/>
                <a:cs typeface="Times New Roman" panose="02020603050405020304" pitchFamily="18" charset="0"/>
              </a:rPr>
              <a:t>Commun</a:t>
            </a:r>
            <a:r>
              <a:rPr lang="en-US" sz="800" dirty="0">
                <a:latin typeface="Times New Roman" panose="02020603050405020304" pitchFamily="18" charset="0"/>
                <a:cs typeface="Times New Roman" panose="02020603050405020304" pitchFamily="18" charset="0"/>
              </a:rPr>
              <a:t>., vol. 61, no. 37, pp. 6691–6721, May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10.1039/D4CC06835A.</a:t>
            </a:r>
          </a:p>
          <a:p>
            <a:pPr algn="just"/>
            <a:r>
              <a:rPr lang="en-US" sz="800" dirty="0">
                <a:latin typeface="Times New Roman" panose="02020603050405020304" pitchFamily="18" charset="0"/>
                <a:cs typeface="Times New Roman" panose="02020603050405020304" pitchFamily="18" charset="0"/>
              </a:rPr>
              <a:t>[11] “The Promise of Lead-free Perovskites: Can They Replace Toxic Alternatives in Solar Cells and Lead the Future?,” </a:t>
            </a:r>
            <a:r>
              <a:rPr lang="en-US" sz="800" dirty="0" err="1">
                <a:latin typeface="Times New Roman" panose="02020603050405020304" pitchFamily="18" charset="0"/>
                <a:cs typeface="Times New Roman" panose="02020603050405020304" pitchFamily="18" charset="0"/>
              </a:rPr>
              <a:t>SciSpace</a:t>
            </a:r>
            <a:r>
              <a:rPr lang="en-US" sz="800" dirty="0">
                <a:latin typeface="Times New Roman" panose="02020603050405020304" pitchFamily="18" charset="0"/>
                <a:cs typeface="Times New Roman" panose="02020603050405020304" pitchFamily="18" charset="0"/>
              </a:rPr>
              <a:t> - Paper. Accessed: Jun. 13, 2026. [Online]. Available: https://scispace.com/papers/the-promise-of-lead-free-perovskites-can-they-replace-toxic-cr9xlq9fncpu</a:t>
            </a:r>
          </a:p>
          <a:p>
            <a:pPr algn="just"/>
            <a:r>
              <a:rPr lang="en-US" sz="800" dirty="0">
                <a:latin typeface="Times New Roman" panose="02020603050405020304" pitchFamily="18" charset="0"/>
                <a:cs typeface="Times New Roman" panose="02020603050405020304" pitchFamily="18" charset="0"/>
              </a:rPr>
              <a:t>[12] S. Samaki, F. </a:t>
            </a:r>
            <a:r>
              <a:rPr lang="en-US" sz="800" dirty="0" err="1">
                <a:latin typeface="Times New Roman" panose="02020603050405020304" pitchFamily="18" charset="0"/>
                <a:cs typeface="Times New Roman" panose="02020603050405020304" pitchFamily="18" charset="0"/>
              </a:rPr>
              <a:t>Tchangnwa</a:t>
            </a:r>
            <a:r>
              <a:rPr lang="en-US" sz="800" dirty="0">
                <a:latin typeface="Times New Roman" panose="02020603050405020304" pitchFamily="18" charset="0"/>
                <a:cs typeface="Times New Roman" panose="02020603050405020304" pitchFamily="18" charset="0"/>
              </a:rPr>
              <a:t> Nya, G. M. </a:t>
            </a:r>
            <a:r>
              <a:rPr lang="en-US" sz="800" dirty="0" err="1">
                <a:latin typeface="Times New Roman" panose="02020603050405020304" pitchFamily="18" charset="0"/>
                <a:cs typeface="Times New Roman" panose="02020603050405020304" pitchFamily="18" charset="0"/>
              </a:rPr>
              <a:t>Dzifack</a:t>
            </a:r>
            <a:r>
              <a:rPr lang="en-US" sz="800" dirty="0">
                <a:latin typeface="Times New Roman" panose="02020603050405020304" pitchFamily="18" charset="0"/>
                <a:cs typeface="Times New Roman" panose="02020603050405020304" pitchFamily="18" charset="0"/>
              </a:rPr>
              <a:t> </a:t>
            </a:r>
            <a:r>
              <a:rPr lang="en-US" sz="800" dirty="0" err="1">
                <a:latin typeface="Times New Roman" panose="02020603050405020304" pitchFamily="18" charset="0"/>
                <a:cs typeface="Times New Roman" panose="02020603050405020304" pitchFamily="18" charset="0"/>
              </a:rPr>
              <a:t>Kenfack</a:t>
            </a:r>
            <a:r>
              <a:rPr lang="en-US" sz="800" dirty="0">
                <a:latin typeface="Times New Roman" panose="02020603050405020304" pitchFamily="18" charset="0"/>
                <a:cs typeface="Times New Roman" panose="02020603050405020304" pitchFamily="18" charset="0"/>
              </a:rPr>
              <a:t>, and A. </a:t>
            </a:r>
            <a:r>
              <a:rPr lang="en-US" sz="800" dirty="0" err="1">
                <a:latin typeface="Times New Roman" panose="02020603050405020304" pitchFamily="18" charset="0"/>
                <a:cs typeface="Times New Roman" panose="02020603050405020304" pitchFamily="18" charset="0"/>
              </a:rPr>
              <a:t>Laref</a:t>
            </a:r>
            <a:r>
              <a:rPr lang="en-US" sz="800" dirty="0">
                <a:latin typeface="Times New Roman" panose="02020603050405020304" pitchFamily="18" charset="0"/>
                <a:cs typeface="Times New Roman" panose="02020603050405020304" pitchFamily="18" charset="0"/>
              </a:rPr>
              <a:t>, “Materials and interfaces properties optimization for high-efficient and more stable RbGeI3 perovskite solar cells: optoelectrical modelling,” Sci Rep, vol. 13, no. 1, p. 15517, Sep.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10.1038/s41598-023-42471-w.</a:t>
            </a:r>
          </a:p>
          <a:p>
            <a:pPr algn="just"/>
            <a:r>
              <a:rPr lang="en-US" sz="800" dirty="0">
                <a:latin typeface="Times New Roman" panose="02020603050405020304" pitchFamily="18" charset="0"/>
                <a:cs typeface="Times New Roman" panose="02020603050405020304" pitchFamily="18" charset="0"/>
              </a:rPr>
              <a:t>[13] “Optimization of an inorganic lead free RbGeI3 based perovskite solar cell by SCAPS-1D simulation,” Solar Energy, vol. 236, pp. 802–821, Apr.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10.1016/j.solener.2022.03.053.</a:t>
            </a:r>
          </a:p>
          <a:p>
            <a:pPr algn="just"/>
            <a:r>
              <a:rPr lang="en-US" sz="800" dirty="0">
                <a:latin typeface="Times New Roman" panose="02020603050405020304" pitchFamily="18" charset="0"/>
                <a:cs typeface="Times New Roman" panose="02020603050405020304" pitchFamily="18" charset="0"/>
              </a:rPr>
              <a:t>[14] “RETRACTED: Performance optimization of lead-free MASnBr3 based perovskite solar cells by SCAPS-1D device simulation,” Solar Energy, vol. 249, pp. 401–413, Jan.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10.1016/j.solener.2022.11.050.</a:t>
            </a:r>
          </a:p>
          <a:p>
            <a:pPr algn="just"/>
            <a:r>
              <a:rPr lang="en-US" sz="800" dirty="0">
                <a:latin typeface="Times New Roman" panose="02020603050405020304" pitchFamily="18" charset="0"/>
                <a:cs typeface="Times New Roman" panose="02020603050405020304" pitchFamily="18" charset="0"/>
              </a:rPr>
              <a:t>[15] “Investigation of photovoltaic performance of lead-free CsSnI3-based perovskite solar cell with different hole transport layers: First Principle Calculations and SCAPS-1D Analysis,” Solar Energy, vol. 249, pp. 163–173, Jan.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10.1016/j.solener.2022.11.025.</a:t>
            </a:r>
          </a:p>
          <a:p>
            <a:pPr algn="just"/>
            <a:r>
              <a:rPr lang="en-US" sz="800" dirty="0">
                <a:latin typeface="Times New Roman" panose="02020603050405020304" pitchFamily="18" charset="0"/>
                <a:cs typeface="Times New Roman" panose="02020603050405020304" pitchFamily="18" charset="0"/>
              </a:rPr>
              <a:t>[16] “Performance evaluation of an all inorganic CsGeI3 based perovskite solar cell by numerical simulation,” Optical Materials, vol. 123, p. 111839, Jan.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10.1016/j.optmat.2021.111839.</a:t>
            </a:r>
          </a:p>
          <a:p>
            <a:pPr algn="just"/>
            <a:r>
              <a:rPr lang="en-US" sz="800" dirty="0">
                <a:latin typeface="Times New Roman" panose="02020603050405020304" pitchFamily="18" charset="0"/>
                <a:cs typeface="Times New Roman" panose="02020603050405020304" pitchFamily="18" charset="0"/>
              </a:rPr>
              <a:t>[17] M. K. Hossain et al., “Numerical simulation and optimization of a CsPbI3-based perovskite solar cell to enhance the power conversion efficiency,” New J. Chem., vol. 47, no. 10, pp. 4801–4817, Mar.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10.1039/D2NJ06206B.</a:t>
            </a:r>
          </a:p>
          <a:p>
            <a:pPr algn="just"/>
            <a:endParaRPr lang="en-US" sz="800" dirty="0">
              <a:latin typeface="Times New Roman" panose="02020603050405020304" pitchFamily="18" charset="0"/>
              <a:cs typeface="Times New Roman" panose="02020603050405020304" pitchFamily="18" charset="0"/>
            </a:endParaRPr>
          </a:p>
          <a:p>
            <a:pPr algn="just"/>
            <a:endParaRPr lang="en-US"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164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30</a:t>
            </a:r>
            <a:endParaRPr lang="en-US" sz="8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AF195F5-AFBD-262B-216E-F61A8175B91D}"/>
              </a:ext>
            </a:extLst>
          </p:cNvPr>
          <p:cNvSpPr txBox="1"/>
          <p:nvPr/>
        </p:nvSpPr>
        <p:spPr>
          <a:xfrm>
            <a:off x="618976" y="844057"/>
            <a:ext cx="7870874" cy="4154984"/>
          </a:xfrm>
          <a:prstGeom prst="rect">
            <a:avLst/>
          </a:prstGeom>
          <a:noFill/>
        </p:spPr>
        <p:txBody>
          <a:bodyPr wrap="square" rtlCol="0">
            <a:spAutoFit/>
          </a:bodyPr>
          <a:lstStyle/>
          <a:p>
            <a:pPr algn="just"/>
            <a:r>
              <a:rPr lang="en-US" sz="800" dirty="0">
                <a:latin typeface="Times New Roman" panose="02020603050405020304" pitchFamily="18" charset="0"/>
                <a:cs typeface="Times New Roman" panose="02020603050405020304" pitchFamily="18" charset="0"/>
              </a:rPr>
              <a:t>[18] S. Bouazizi, W. </a:t>
            </a:r>
            <a:r>
              <a:rPr lang="en-US" sz="800" dirty="0" err="1">
                <a:latin typeface="Times New Roman" panose="02020603050405020304" pitchFamily="18" charset="0"/>
                <a:cs typeface="Times New Roman" panose="02020603050405020304" pitchFamily="18" charset="0"/>
              </a:rPr>
              <a:t>Tlili</a:t>
            </a:r>
            <a:r>
              <a:rPr lang="en-US" sz="800" dirty="0">
                <a:latin typeface="Times New Roman" panose="02020603050405020304" pitchFamily="18" charset="0"/>
                <a:cs typeface="Times New Roman" panose="02020603050405020304" pitchFamily="18" charset="0"/>
              </a:rPr>
              <a:t>, A. </a:t>
            </a:r>
            <a:r>
              <a:rPr lang="en-US" sz="800" dirty="0" err="1">
                <a:latin typeface="Times New Roman" panose="02020603050405020304" pitchFamily="18" charset="0"/>
                <a:cs typeface="Times New Roman" panose="02020603050405020304" pitchFamily="18" charset="0"/>
              </a:rPr>
              <a:t>Bouich</a:t>
            </a:r>
            <a:r>
              <a:rPr lang="en-US" sz="800" dirty="0">
                <a:latin typeface="Times New Roman" panose="02020603050405020304" pitchFamily="18" charset="0"/>
                <a:cs typeface="Times New Roman" panose="02020603050405020304" pitchFamily="18" charset="0"/>
              </a:rPr>
              <a:t>, B. M. </a:t>
            </a:r>
            <a:r>
              <a:rPr lang="en-US" sz="800" dirty="0" err="1">
                <a:latin typeface="Times New Roman" panose="02020603050405020304" pitchFamily="18" charset="0"/>
                <a:cs typeface="Times New Roman" panose="02020603050405020304" pitchFamily="18" charset="0"/>
              </a:rPr>
              <a:t>Soucase</a:t>
            </a:r>
            <a:r>
              <a:rPr lang="en-US" sz="800" dirty="0">
                <a:latin typeface="Times New Roman" panose="02020603050405020304" pitchFamily="18" charset="0"/>
                <a:cs typeface="Times New Roman" panose="02020603050405020304" pitchFamily="18" charset="0"/>
              </a:rPr>
              <a:t>, and A. </a:t>
            </a:r>
            <a:r>
              <a:rPr lang="en-US" sz="800" dirty="0" err="1">
                <a:latin typeface="Times New Roman" panose="02020603050405020304" pitchFamily="18" charset="0"/>
                <a:cs typeface="Times New Roman" panose="02020603050405020304" pitchFamily="18" charset="0"/>
              </a:rPr>
              <a:t>Omri</a:t>
            </a:r>
            <a:r>
              <a:rPr lang="en-US" sz="800" dirty="0">
                <a:latin typeface="Times New Roman" panose="02020603050405020304" pitchFamily="18" charset="0"/>
                <a:cs typeface="Times New Roman" panose="02020603050405020304" pitchFamily="18" charset="0"/>
              </a:rPr>
              <a:t>, “Design and efficiency enhancement of FTO/PC60BM/CsSn0.5Ge0.5I3/Spiro-</a:t>
            </a:r>
            <a:r>
              <a:rPr lang="en-US" sz="800" dirty="0" err="1">
                <a:latin typeface="Times New Roman" panose="02020603050405020304" pitchFamily="18" charset="0"/>
                <a:cs typeface="Times New Roman" panose="02020603050405020304" pitchFamily="18" charset="0"/>
              </a:rPr>
              <a:t>OMeTAD</a:t>
            </a:r>
            <a:r>
              <a:rPr lang="en-US" sz="800" dirty="0">
                <a:latin typeface="Times New Roman" panose="02020603050405020304" pitchFamily="18" charset="0"/>
                <a:cs typeface="Times New Roman" panose="02020603050405020304" pitchFamily="18" charset="0"/>
              </a:rPr>
              <a:t>/Au perovskite solar cell utilizing SCAPS-1D Simulator,” Mater. Res. Express, vol. 9, no. 9, p. 096402, Sep.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10.1088/2053-1591/ac8d52.</a:t>
            </a:r>
          </a:p>
          <a:p>
            <a:pPr algn="just"/>
            <a:r>
              <a:rPr lang="en-US" sz="800" dirty="0">
                <a:latin typeface="Times New Roman" panose="02020603050405020304" pitchFamily="18" charset="0"/>
                <a:cs typeface="Times New Roman" panose="02020603050405020304" pitchFamily="18" charset="0"/>
              </a:rPr>
              <a:t>[19] “Deep Insights into the Coupled Optoelectronic and Photovoltaic Analysis of Lead-Free CsSnI3 Perovskite-Based Solar Cell Using DFT Calculations and SCAPS-1D Simulations,” ACS Omega, Jun. 2023, Accessed: Jun. 04, 2026. [Online]. Available: https://pubs.acs.org/doi/full/10.1021/acsomega.3c00306</a:t>
            </a:r>
          </a:p>
          <a:p>
            <a:pPr algn="just"/>
            <a:r>
              <a:rPr lang="en-US" sz="800" dirty="0">
                <a:latin typeface="Times New Roman" panose="02020603050405020304" pitchFamily="18" charset="0"/>
                <a:cs typeface="Times New Roman" panose="02020603050405020304" pitchFamily="18" charset="0"/>
              </a:rPr>
              <a:t>[20] “Computational Analysis of Germanium-Based Perovskites (</a:t>
            </a:r>
            <a:r>
              <a:rPr lang="en-US" sz="800" dirty="0" err="1">
                <a:latin typeface="Times New Roman" panose="02020603050405020304" pitchFamily="18" charset="0"/>
                <a:cs typeface="Times New Roman" panose="02020603050405020304" pitchFamily="18" charset="0"/>
              </a:rPr>
              <a:t>MAGeI</a:t>
            </a:r>
            <a:r>
              <a:rPr lang="en-US" sz="800" dirty="0">
                <a:latin typeface="Times New Roman" panose="02020603050405020304" pitchFamily="18" charset="0"/>
                <a:cs typeface="Times New Roman" panose="02020603050405020304" pitchFamily="18" charset="0"/>
              </a:rPr>
              <a:t>₃, </a:t>
            </a:r>
            <a:r>
              <a:rPr lang="en-US" sz="800" dirty="0" err="1">
                <a:latin typeface="Times New Roman" panose="02020603050405020304" pitchFamily="18" charset="0"/>
                <a:cs typeface="Times New Roman" panose="02020603050405020304" pitchFamily="18" charset="0"/>
              </a:rPr>
              <a:t>FAGeI</a:t>
            </a:r>
            <a:r>
              <a:rPr lang="en-US" sz="800" dirty="0">
                <a:latin typeface="Times New Roman" panose="02020603050405020304" pitchFamily="18" charset="0"/>
                <a:cs typeface="Times New Roman" panose="02020603050405020304" pitchFamily="18" charset="0"/>
              </a:rPr>
              <a:t>₃, </a:t>
            </a:r>
            <a:r>
              <a:rPr lang="en-US" sz="800" dirty="0" err="1">
                <a:latin typeface="Times New Roman" panose="02020603050405020304" pitchFamily="18" charset="0"/>
                <a:cs typeface="Times New Roman" panose="02020603050405020304" pitchFamily="18" charset="0"/>
              </a:rPr>
              <a:t>CsGeI</a:t>
            </a:r>
            <a:r>
              <a:rPr lang="en-US" sz="800" dirty="0">
                <a:latin typeface="Times New Roman" panose="02020603050405020304" pitchFamily="18" charset="0"/>
                <a:cs typeface="Times New Roman" panose="02020603050405020304" pitchFamily="18" charset="0"/>
              </a:rPr>
              <a:t>₃, </a:t>
            </a:r>
            <a:r>
              <a:rPr lang="en-US" sz="800" dirty="0" err="1">
                <a:latin typeface="Times New Roman" panose="02020603050405020304" pitchFamily="18" charset="0"/>
                <a:cs typeface="Times New Roman" panose="02020603050405020304" pitchFamily="18" charset="0"/>
              </a:rPr>
              <a:t>RbGeI</a:t>
            </a:r>
            <a:r>
              <a:rPr lang="en-US" sz="800" dirty="0">
                <a:latin typeface="Times New Roman" panose="02020603050405020304" pitchFamily="18" charset="0"/>
                <a:cs typeface="Times New Roman" panose="02020603050405020304" pitchFamily="18" charset="0"/>
              </a:rPr>
              <a:t>₃) for High-Efficiency Solar Cells Using SCAPS-1D.” Accessed: Jun. 04, 2026. [Online]. Available: https://www.researchsquare.com</a:t>
            </a:r>
          </a:p>
          <a:p>
            <a:pPr algn="just"/>
            <a:r>
              <a:rPr lang="en-US" sz="800" dirty="0">
                <a:latin typeface="Times New Roman" panose="02020603050405020304" pitchFamily="18" charset="0"/>
                <a:cs typeface="Times New Roman" panose="02020603050405020304" pitchFamily="18" charset="0"/>
              </a:rPr>
              <a:t>[21] “(1) Numerical Investigation of RbGeI3-Based Lead-Free Perovskite Solar Cell with Various Cu-Based Hole Transport Layers Using SCAPS-1D | Request PDF,” ResearchGate. Accessed: Jun. 14, 2026. [Online]. Available: https://www.researchgate.net/publication/388620396_Numerical_Investigation_of_RbGeI3-Based_Lead-Free_Perovskite_Solar_Cell_with_Various_Cu-Based_Hole_Transport_Layers_Using_SCAPS-1D</a:t>
            </a:r>
          </a:p>
          <a:p>
            <a:pPr algn="just"/>
            <a:r>
              <a:rPr lang="en-US" sz="800" dirty="0">
                <a:latin typeface="Times New Roman" panose="02020603050405020304" pitchFamily="18" charset="0"/>
                <a:cs typeface="Times New Roman" panose="02020603050405020304" pitchFamily="18" charset="0"/>
              </a:rPr>
              <a:t>[22] S. Chen, W. Fan, W. Fang, M. Zhang, and J. Wu, “SCAPS-1D simulation of RbGeI3-based solar cells with gradient doping and no hole transport layer,” in International Conference on Power Electronics Technology and Grid Systems (PETGS 2025), SPIE, May 2025, p. 13.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10.1117/12.3067927.</a:t>
            </a:r>
          </a:p>
          <a:p>
            <a:pPr algn="just"/>
            <a:r>
              <a:rPr lang="en-US" sz="800" dirty="0">
                <a:latin typeface="Times New Roman" panose="02020603050405020304" pitchFamily="18" charset="0"/>
                <a:cs typeface="Times New Roman" panose="02020603050405020304" pitchFamily="18" charset="0"/>
              </a:rPr>
              <a:t>[23] P. K. Dash, P. </a:t>
            </a:r>
            <a:r>
              <a:rPr lang="en-US" sz="800" dirty="0" err="1">
                <a:latin typeface="Times New Roman" panose="02020603050405020304" pitchFamily="18" charset="0"/>
                <a:cs typeface="Times New Roman" panose="02020603050405020304" pitchFamily="18" charset="0"/>
              </a:rPr>
              <a:t>Banarjee</a:t>
            </a:r>
            <a:r>
              <a:rPr lang="en-US" sz="800" dirty="0">
                <a:latin typeface="Times New Roman" panose="02020603050405020304" pitchFamily="18" charset="0"/>
                <a:cs typeface="Times New Roman" panose="02020603050405020304" pitchFamily="18" charset="0"/>
              </a:rPr>
              <a:t>, A. </a:t>
            </a:r>
            <a:r>
              <a:rPr lang="en-US" sz="800" dirty="0" err="1">
                <a:latin typeface="Times New Roman" panose="02020603050405020304" pitchFamily="18" charset="0"/>
                <a:cs typeface="Times New Roman" panose="02020603050405020304" pitchFamily="18" charset="0"/>
              </a:rPr>
              <a:t>Nyayban</a:t>
            </a:r>
            <a:r>
              <a:rPr lang="en-US" sz="800" dirty="0">
                <a:latin typeface="Times New Roman" panose="02020603050405020304" pitchFamily="18" charset="0"/>
                <a:cs typeface="Times New Roman" panose="02020603050405020304" pitchFamily="18" charset="0"/>
              </a:rPr>
              <a:t>, and S. Panda, “Optoelectronic properties and performance optimization for photovoltaic applications of R3m-RbGeX$_3$ (X = Cl, Br, I) perovskites: A combined DFT and SCAPS-1D study,” arXiv.org. Accessed: Jun. 14, 2026. [Online]. Available: https://arxiv.org/abs/2505.09362v1</a:t>
            </a:r>
          </a:p>
          <a:p>
            <a:pPr algn="just"/>
            <a:r>
              <a:rPr lang="en-US" sz="800" dirty="0">
                <a:latin typeface="Times New Roman" panose="02020603050405020304" pitchFamily="18" charset="0"/>
                <a:cs typeface="Times New Roman" panose="02020603050405020304" pitchFamily="18" charset="0"/>
              </a:rPr>
              <a:t>[24] “Modelling polycrystalline semiconductor solar cells,” Thin Solid Films, vol. 361–362, pp. 527–532, Feb. 2000,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10.1016/S0040-6090(99)00825-1.</a:t>
            </a:r>
          </a:p>
          <a:p>
            <a:pPr algn="just"/>
            <a:r>
              <a:rPr lang="en-US" sz="800" dirty="0">
                <a:latin typeface="Times New Roman" panose="02020603050405020304" pitchFamily="18" charset="0"/>
                <a:cs typeface="Times New Roman" panose="02020603050405020304" pitchFamily="18" charset="0"/>
              </a:rPr>
              <a:t>[25] “Modelling polycrystalline semiconductor solar cells,” Thin Solid Films, vol. 361–362, pp. 527–532, Feb. 2000,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10.1016/S0040-6090(99)00825-1.</a:t>
            </a:r>
          </a:p>
          <a:p>
            <a:pPr algn="just"/>
            <a:r>
              <a:rPr lang="en-US" sz="800" dirty="0">
                <a:latin typeface="Times New Roman" panose="02020603050405020304" pitchFamily="18" charset="0"/>
                <a:cs typeface="Times New Roman" panose="02020603050405020304" pitchFamily="18" charset="0"/>
              </a:rPr>
              <a:t>[26] M. K. Hossain et al., “Combined DFT, SCAPS-1D, and </a:t>
            </a:r>
            <a:r>
              <a:rPr lang="en-US" sz="800" dirty="0" err="1">
                <a:latin typeface="Times New Roman" panose="02020603050405020304" pitchFamily="18" charset="0"/>
                <a:cs typeface="Times New Roman" panose="02020603050405020304" pitchFamily="18" charset="0"/>
              </a:rPr>
              <a:t>wxAMPS</a:t>
            </a:r>
            <a:r>
              <a:rPr lang="en-US" sz="800" dirty="0">
                <a:latin typeface="Times New Roman" panose="02020603050405020304" pitchFamily="18" charset="0"/>
                <a:cs typeface="Times New Roman" panose="02020603050405020304" pitchFamily="18" charset="0"/>
              </a:rPr>
              <a:t> frameworks for design optimization of efficient Cs2BiAgI6-based perovskite solar cells with different charge transport layers,” arXiv.org. Accessed: Jun. 11, 2026. [Online]. Available: https://arxiv.org/abs/2212.13237v1</a:t>
            </a:r>
          </a:p>
          <a:p>
            <a:pPr algn="just"/>
            <a:r>
              <a:rPr lang="en-US" sz="800" dirty="0">
                <a:latin typeface="Times New Roman" panose="02020603050405020304" pitchFamily="18" charset="0"/>
                <a:cs typeface="Times New Roman" panose="02020603050405020304" pitchFamily="18" charset="0"/>
              </a:rPr>
              <a:t>[27] W. Shockley and H. J. </a:t>
            </a:r>
            <a:r>
              <a:rPr lang="en-US" sz="800" dirty="0" err="1">
                <a:latin typeface="Times New Roman" panose="02020603050405020304" pitchFamily="18" charset="0"/>
                <a:cs typeface="Times New Roman" panose="02020603050405020304" pitchFamily="18" charset="0"/>
              </a:rPr>
              <a:t>Queisser</a:t>
            </a:r>
            <a:r>
              <a:rPr lang="en-US" sz="800" dirty="0">
                <a:latin typeface="Times New Roman" panose="02020603050405020304" pitchFamily="18" charset="0"/>
                <a:cs typeface="Times New Roman" panose="02020603050405020304" pitchFamily="18" charset="0"/>
              </a:rPr>
              <a:t>, “Detailed Balance Limit of Efficiency of p‐n Junction Solar Cells,” J. Appl. Phys., vol. 32, no. 3, pp. 510–519, Mar. 1961,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10.1063/1.1736034.</a:t>
            </a:r>
          </a:p>
          <a:p>
            <a:pPr algn="just"/>
            <a:r>
              <a:rPr lang="en-US" sz="800" dirty="0">
                <a:latin typeface="Times New Roman" panose="02020603050405020304" pitchFamily="18" charset="0"/>
                <a:cs typeface="Times New Roman" panose="02020603050405020304" pitchFamily="18" charset="0"/>
              </a:rPr>
              <a:t>[28] H. Zhang, H. Wang, M. Ma, Y. Wu, S. Dong, and Q. Xu, “Application of compact TiO$_2$ layer fabricated by pulsed laser deposition in organometal trihalide perovskite solar cells,” arXiv.org. Accessed: Jun. 12, 2026. [Online]. Available: https://arxiv.org/abs/1807.00287v1</a:t>
            </a:r>
          </a:p>
          <a:p>
            <a:pPr algn="just"/>
            <a:r>
              <a:rPr lang="en-US" sz="800" dirty="0">
                <a:latin typeface="Times New Roman" panose="02020603050405020304" pitchFamily="18" charset="0"/>
                <a:cs typeface="Times New Roman" panose="02020603050405020304" pitchFamily="18" charset="0"/>
              </a:rPr>
              <a:t>[29] A. J. </a:t>
            </a:r>
            <a:r>
              <a:rPr lang="en-US" sz="800" dirty="0" err="1">
                <a:latin typeface="Times New Roman" panose="02020603050405020304" pitchFamily="18" charset="0"/>
                <a:cs typeface="Times New Roman" panose="02020603050405020304" pitchFamily="18" charset="0"/>
              </a:rPr>
              <a:t>Olasoji</a:t>
            </a:r>
            <a:r>
              <a:rPr lang="en-US" sz="800" dirty="0">
                <a:latin typeface="Times New Roman" panose="02020603050405020304" pitchFamily="18" charset="0"/>
                <a:cs typeface="Times New Roman" panose="02020603050405020304" pitchFamily="18" charset="0"/>
              </a:rPr>
              <a:t> and S. H. </a:t>
            </a:r>
            <a:r>
              <a:rPr lang="en-US" sz="800" dirty="0" err="1">
                <a:latin typeface="Times New Roman" panose="02020603050405020304" pitchFamily="18" charset="0"/>
                <a:cs typeface="Times New Roman" panose="02020603050405020304" pitchFamily="18" charset="0"/>
              </a:rPr>
              <a:t>Im</a:t>
            </a:r>
            <a:r>
              <a:rPr lang="en-US" sz="800" dirty="0">
                <a:latin typeface="Times New Roman" panose="02020603050405020304" pitchFamily="18" charset="0"/>
                <a:cs typeface="Times New Roman" panose="02020603050405020304" pitchFamily="18" charset="0"/>
              </a:rPr>
              <a:t>, “Perspective Chapter: TiO2 Electron Transporting Layers for Perovskite Solar Cells,” in Titanium Dioxide - Uses, Applications, and Advances, </a:t>
            </a:r>
            <a:r>
              <a:rPr lang="en-US" sz="800" dirty="0" err="1">
                <a:latin typeface="Times New Roman" panose="02020603050405020304" pitchFamily="18" charset="0"/>
                <a:cs typeface="Times New Roman" panose="02020603050405020304" pitchFamily="18" charset="0"/>
              </a:rPr>
              <a:t>IntechOpen</a:t>
            </a:r>
            <a:r>
              <a:rPr lang="en-US" sz="800" dirty="0">
                <a:latin typeface="Times New Roman" panose="02020603050405020304" pitchFamily="18" charset="0"/>
                <a:cs typeface="Times New Roman" panose="02020603050405020304" pitchFamily="18" charset="0"/>
              </a:rPr>
              <a:t>,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10.5772/intechopen.1007266.</a:t>
            </a:r>
          </a:p>
          <a:p>
            <a:pPr algn="just"/>
            <a:r>
              <a:rPr lang="en-US" sz="800" dirty="0">
                <a:latin typeface="Times New Roman" panose="02020603050405020304" pitchFamily="18" charset="0"/>
                <a:cs typeface="Times New Roman" panose="02020603050405020304" pitchFamily="18" charset="0"/>
              </a:rPr>
              <a:t>[30] “Effect of Single-Crystal TiO2/Perovskite Band Alignment on the Kinetics of Electron Extraction,” The Journal of Physical Chemistry Letters, Feb. 2024, Accessed: Jun. 12, 2026. [Online]. Available: https://pubs.acs.org/doi/full/10.1021/acs.jpclett.3c03536</a:t>
            </a:r>
          </a:p>
          <a:p>
            <a:pPr algn="just"/>
            <a:r>
              <a:rPr lang="en-US" sz="800" dirty="0">
                <a:latin typeface="Times New Roman" panose="02020603050405020304" pitchFamily="18" charset="0"/>
                <a:cs typeface="Times New Roman" panose="02020603050405020304" pitchFamily="18" charset="0"/>
              </a:rPr>
              <a:t>[31] K. </a:t>
            </a:r>
            <a:r>
              <a:rPr lang="en-US" sz="800" dirty="0" err="1">
                <a:latin typeface="Times New Roman" panose="02020603050405020304" pitchFamily="18" charset="0"/>
                <a:cs typeface="Times New Roman" panose="02020603050405020304" pitchFamily="18" charset="0"/>
              </a:rPr>
              <a:t>Valadi</a:t>
            </a:r>
            <a:r>
              <a:rPr lang="en-US" sz="800" dirty="0">
                <a:latin typeface="Times New Roman" panose="02020603050405020304" pitchFamily="18" charset="0"/>
                <a:cs typeface="Times New Roman" panose="02020603050405020304" pitchFamily="18" charset="0"/>
              </a:rPr>
              <a:t>, S. </a:t>
            </a:r>
            <a:r>
              <a:rPr lang="en-US" sz="800" dirty="0" err="1">
                <a:latin typeface="Times New Roman" panose="02020603050405020304" pitchFamily="18" charset="0"/>
                <a:cs typeface="Times New Roman" panose="02020603050405020304" pitchFamily="18" charset="0"/>
              </a:rPr>
              <a:t>Gharibi</a:t>
            </a:r>
            <a:r>
              <a:rPr lang="en-US" sz="800" dirty="0">
                <a:latin typeface="Times New Roman" panose="02020603050405020304" pitchFamily="18" charset="0"/>
                <a:cs typeface="Times New Roman" panose="02020603050405020304" pitchFamily="18" charset="0"/>
              </a:rPr>
              <a:t>, R. Taheri-</a:t>
            </a:r>
            <a:r>
              <a:rPr lang="en-US" sz="800" dirty="0" err="1">
                <a:latin typeface="Times New Roman" panose="02020603050405020304" pitchFamily="18" charset="0"/>
                <a:cs typeface="Times New Roman" panose="02020603050405020304" pitchFamily="18" charset="0"/>
              </a:rPr>
              <a:t>Ledari</a:t>
            </a:r>
            <a:r>
              <a:rPr lang="en-US" sz="800" dirty="0">
                <a:latin typeface="Times New Roman" panose="02020603050405020304" pitchFamily="18" charset="0"/>
                <a:cs typeface="Times New Roman" panose="02020603050405020304" pitchFamily="18" charset="0"/>
              </a:rPr>
              <a:t>, S. Akin, A. Maleki, and A. E. </a:t>
            </a:r>
            <a:r>
              <a:rPr lang="en-US" sz="800" dirty="0" err="1">
                <a:latin typeface="Times New Roman" panose="02020603050405020304" pitchFamily="18" charset="0"/>
                <a:cs typeface="Times New Roman" panose="02020603050405020304" pitchFamily="18" charset="0"/>
              </a:rPr>
              <a:t>Shalan</a:t>
            </a:r>
            <a:r>
              <a:rPr lang="en-US" sz="800" dirty="0">
                <a:latin typeface="Times New Roman" panose="02020603050405020304" pitchFamily="18" charset="0"/>
                <a:cs typeface="Times New Roman" panose="02020603050405020304" pitchFamily="18" charset="0"/>
              </a:rPr>
              <a:t>, “Metal oxide electron transport materials for perovskite solar cells: a review,” Environ Chem Lett, vol. 19, no. 3, pp. 2185–2207, Jun. 2021,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10.1007/s10311-020-01171-x.</a:t>
            </a:r>
          </a:p>
          <a:p>
            <a:pPr algn="just"/>
            <a:r>
              <a:rPr lang="en-US" sz="800" dirty="0">
                <a:latin typeface="Times New Roman" panose="02020603050405020304" pitchFamily="18" charset="0"/>
                <a:cs typeface="Times New Roman" panose="02020603050405020304" pitchFamily="18" charset="0"/>
              </a:rPr>
              <a:t>[32] ACS, “SnO2–TiO2 Hybrid Electron Transport Layer for Efficient and Flexible Perovskite Solar Cells,” ACS Energy Letters, May 2022, Accessed: Jun. 12, 2026. [Online]. Available: https://pubs.acs.org/doi/abs/10.1021/acsenergylett.2c00637</a:t>
            </a:r>
          </a:p>
          <a:p>
            <a:pPr algn="just"/>
            <a:r>
              <a:rPr lang="en-US" sz="800" dirty="0">
                <a:latin typeface="Times New Roman" panose="02020603050405020304" pitchFamily="18" charset="0"/>
                <a:cs typeface="Times New Roman" panose="02020603050405020304" pitchFamily="18" charset="0"/>
              </a:rPr>
              <a:t>[33] L. Ji, T. Zhang, and S. Li, “Band alignment of TiO2 by </a:t>
            </a:r>
            <a:r>
              <a:rPr lang="en-US" sz="800" dirty="0" err="1">
                <a:latin typeface="Times New Roman" panose="02020603050405020304" pitchFamily="18" charset="0"/>
                <a:cs typeface="Times New Roman" panose="02020603050405020304" pitchFamily="18" charset="0"/>
              </a:rPr>
              <a:t>controling</a:t>
            </a:r>
            <a:r>
              <a:rPr lang="en-US" sz="800" dirty="0">
                <a:latin typeface="Times New Roman" panose="02020603050405020304" pitchFamily="18" charset="0"/>
                <a:cs typeface="Times New Roman" panose="02020603050405020304" pitchFamily="18" charset="0"/>
              </a:rPr>
              <a:t> Cl content for high-efficiency perovskite solar cells,” J. Mater. Chem. C, vol. 12, no. 36, pp. 14597–14604, Sep.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10.1039/D4TC01495B.</a:t>
            </a:r>
          </a:p>
          <a:p>
            <a:pPr algn="just"/>
            <a:r>
              <a:rPr lang="en-US" sz="800" dirty="0">
                <a:latin typeface="Times New Roman" panose="02020603050405020304" pitchFamily="18" charset="0"/>
                <a:cs typeface="Times New Roman" panose="02020603050405020304" pitchFamily="18" charset="0"/>
              </a:rPr>
              <a:t>[34] S. </a:t>
            </a:r>
            <a:r>
              <a:rPr lang="en-US" sz="800" dirty="0" err="1">
                <a:latin typeface="Times New Roman" panose="02020603050405020304" pitchFamily="18" charset="0"/>
                <a:cs typeface="Times New Roman" panose="02020603050405020304" pitchFamily="18" charset="0"/>
              </a:rPr>
              <a:t>Kinza</a:t>
            </a:r>
            <a:r>
              <a:rPr lang="en-US" sz="800" dirty="0">
                <a:latin typeface="Times New Roman" panose="02020603050405020304" pitchFamily="18" charset="0"/>
                <a:cs typeface="Times New Roman" panose="02020603050405020304" pitchFamily="18" charset="0"/>
              </a:rPr>
              <a:t> Fatima, R. H. </a:t>
            </a:r>
            <a:r>
              <a:rPr lang="en-US" sz="800" dirty="0" err="1">
                <a:latin typeface="Times New Roman" panose="02020603050405020304" pitchFamily="18" charset="0"/>
                <a:cs typeface="Times New Roman" panose="02020603050405020304" pitchFamily="18" charset="0"/>
              </a:rPr>
              <a:t>Alzard</a:t>
            </a:r>
            <a:r>
              <a:rPr lang="en-US" sz="800" dirty="0">
                <a:latin typeface="Times New Roman" panose="02020603050405020304" pitchFamily="18" charset="0"/>
                <a:cs typeface="Times New Roman" panose="02020603050405020304" pitchFamily="18" charset="0"/>
              </a:rPr>
              <a:t>, R. Amna, M. H. </a:t>
            </a:r>
            <a:r>
              <a:rPr lang="en-US" sz="800" dirty="0" err="1">
                <a:latin typeface="Times New Roman" panose="02020603050405020304" pitchFamily="18" charset="0"/>
                <a:cs typeface="Times New Roman" panose="02020603050405020304" pitchFamily="18" charset="0"/>
              </a:rPr>
              <a:t>Alzard</a:t>
            </a:r>
            <a:r>
              <a:rPr lang="en-US" sz="800" dirty="0">
                <a:latin typeface="Times New Roman" panose="02020603050405020304" pitchFamily="18" charset="0"/>
                <a:cs typeface="Times New Roman" panose="02020603050405020304" pitchFamily="18" charset="0"/>
              </a:rPr>
              <a:t>, K. Zheng, and M. </a:t>
            </a:r>
            <a:r>
              <a:rPr lang="en-US" sz="800" dirty="0" err="1">
                <a:latin typeface="Times New Roman" panose="02020603050405020304" pitchFamily="18" charset="0"/>
                <a:cs typeface="Times New Roman" panose="02020603050405020304" pitchFamily="18" charset="0"/>
              </a:rPr>
              <a:t>Abdellah</a:t>
            </a:r>
            <a:r>
              <a:rPr lang="en-US" sz="800" dirty="0">
                <a:latin typeface="Times New Roman" panose="02020603050405020304" pitchFamily="18" charset="0"/>
                <a:cs typeface="Times New Roman" panose="02020603050405020304" pitchFamily="18" charset="0"/>
              </a:rPr>
              <a:t>, “Lead-free perovskites for next-generation applications: a comprehensive computational and data-driven review,” Materials Advances, vol. 6, no. 21, pp. 7634–7661,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10.1039/D5MA00681C.</a:t>
            </a:r>
          </a:p>
        </p:txBody>
      </p:sp>
    </p:spTree>
    <p:extLst>
      <p:ext uri="{BB962C8B-B14F-4D97-AF65-F5344CB8AC3E}">
        <p14:creationId xmlns:p14="http://schemas.microsoft.com/office/powerpoint/2010/main" val="4189310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31</a:t>
            </a:r>
            <a:endParaRPr lang="en-US" sz="8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AF195F5-AFBD-262B-216E-F61A8175B91D}"/>
              </a:ext>
            </a:extLst>
          </p:cNvPr>
          <p:cNvSpPr txBox="1"/>
          <p:nvPr/>
        </p:nvSpPr>
        <p:spPr>
          <a:xfrm>
            <a:off x="618976" y="900329"/>
            <a:ext cx="7870874" cy="4154984"/>
          </a:xfrm>
          <a:prstGeom prst="rect">
            <a:avLst/>
          </a:prstGeom>
          <a:noFill/>
        </p:spPr>
        <p:txBody>
          <a:bodyPr wrap="square" rtlCol="0">
            <a:spAutoFit/>
          </a:bodyPr>
          <a:lstStyle/>
          <a:p>
            <a:pPr algn="just"/>
            <a:r>
              <a:rPr lang="en-US" sz="800" dirty="0">
                <a:latin typeface="Times New Roman" panose="02020603050405020304" pitchFamily="18" charset="0"/>
                <a:cs typeface="Times New Roman" panose="02020603050405020304" pitchFamily="18" charset="0"/>
              </a:rPr>
              <a:t>[35] S. Ali, K. Ahmad, R. A. Khan, and P. Kumar, “Simulation-Based Studies on FAGeI3-Based Lead (Pb2+)-Free Perovskite Solar Cells,” Crystals, vol. 15, no. 2, p. 135, Feb.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10.3390/cryst15020135.</a:t>
            </a:r>
          </a:p>
          <a:p>
            <a:r>
              <a:rPr lang="en-US" sz="800" dirty="0">
                <a:latin typeface="Times New Roman" panose="02020603050405020304" pitchFamily="18" charset="0"/>
                <a:cs typeface="Times New Roman" panose="02020603050405020304" pitchFamily="18" charset="0"/>
              </a:rPr>
              <a:t>[36] “(1) Exploring </a:t>
            </a:r>
            <a:r>
              <a:rPr lang="en-US" sz="800" dirty="0" err="1">
                <a:latin typeface="Times New Roman" panose="02020603050405020304" pitchFamily="18" charset="0"/>
                <a:cs typeface="Times New Roman" panose="02020603050405020304" pitchFamily="18" charset="0"/>
              </a:rPr>
              <a:t>RbGeI</a:t>
            </a:r>
            <a:r>
              <a:rPr lang="en-US" sz="800" dirty="0">
                <a:latin typeface="Times New Roman" panose="02020603050405020304" pitchFamily="18" charset="0"/>
                <a:cs typeface="Times New Roman" panose="02020603050405020304" pitchFamily="18" charset="0"/>
              </a:rPr>
              <a:t>₃ based perovskite solar cells: a comprehensive DFT study and SCAPS analysis with copper-based hole transport layers | Request PDF,” ResearchGate. Accessed: Jun. 12, 2026. [Online]. Available: https://www.researchgate.net/publication/393796290_Exploring_RbGeI_based_perovskite_solar_cells_a_comprehensive_DFT_study_and_SCAPS_analysis_with_copper-based_hole_transport_layers</a:t>
            </a:r>
          </a:p>
          <a:p>
            <a:pPr algn="just"/>
            <a:r>
              <a:rPr lang="en-US" sz="800" dirty="0">
                <a:latin typeface="Times New Roman" panose="02020603050405020304" pitchFamily="18" charset="0"/>
                <a:cs typeface="Times New Roman" panose="02020603050405020304" pitchFamily="18" charset="0"/>
              </a:rPr>
              <a:t>[37] “Unveiling the role of band offset in inorganic RbGeI3-based perovskite solar cells: a numerical study in SCAPS-1D.” Accessed: Jun. 12, 2026. [Online]. Available: http://ouci.dntb.gov.ua/en/works/lxNmAz27/</a:t>
            </a:r>
          </a:p>
          <a:p>
            <a:pPr algn="just"/>
            <a:r>
              <a:rPr lang="en-US" sz="800" dirty="0">
                <a:latin typeface="Times New Roman" panose="02020603050405020304" pitchFamily="18" charset="0"/>
                <a:cs typeface="Times New Roman" panose="02020603050405020304" pitchFamily="18" charset="0"/>
              </a:rPr>
              <a:t>[38] “(1) Integration of SCAPS-1D and density functional theory for the performance evaluation of RbGeI3-based perovskite solar cell | Request PDF,” ResearchGate. Accessed: Jun. 12, 2026. [Online]. Available: https://www.researchgate.net/publication/383862270_Integration_of_SCAPS-1D_and_density_functional_theory_for_the_performance_evaluation_of_RbGeI3-based_perovskite_solar_cell</a:t>
            </a:r>
          </a:p>
          <a:p>
            <a:pPr algn="just"/>
            <a:r>
              <a:rPr lang="en-US" sz="800" dirty="0">
                <a:latin typeface="Times New Roman" panose="02020603050405020304" pitchFamily="18" charset="0"/>
                <a:cs typeface="Times New Roman" panose="02020603050405020304" pitchFamily="18" charset="0"/>
              </a:rPr>
              <a:t>[39] N. A. </a:t>
            </a:r>
            <a:r>
              <a:rPr lang="en-US" sz="800" dirty="0" err="1">
                <a:latin typeface="Times New Roman" panose="02020603050405020304" pitchFamily="18" charset="0"/>
                <a:cs typeface="Times New Roman" panose="02020603050405020304" pitchFamily="18" charset="0"/>
              </a:rPr>
              <a:t>Abdulkareem</a:t>
            </a:r>
            <a:r>
              <a:rPr lang="en-US" sz="800" dirty="0">
                <a:latin typeface="Times New Roman" panose="02020603050405020304" pitchFamily="18" charset="0"/>
                <a:cs typeface="Times New Roman" panose="02020603050405020304" pitchFamily="18" charset="0"/>
              </a:rPr>
              <a:t>, “A DFT study of structural, electronic and optical properties of Lead-free and Ge based cubic perovskite RbGeX3 (X= I, Br and Cl),” Passer Journal of Basic and Applied Sciences, vol. 5, no. 1, pp. 46–51, Jun. 2023,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10.24271/psr.2023.371069.1187.</a:t>
            </a:r>
          </a:p>
          <a:p>
            <a:pPr algn="just"/>
            <a:r>
              <a:rPr lang="en-US" sz="800" dirty="0">
                <a:latin typeface="Times New Roman" panose="02020603050405020304" pitchFamily="18" charset="0"/>
                <a:cs typeface="Times New Roman" panose="02020603050405020304" pitchFamily="18" charset="0"/>
              </a:rPr>
              <a:t>[40] Q. Sun, A. Sadhu, S. Lie, and L. H. Wong, “Critical Review of Cu‐Based Hole Transport Materials for Perovskite Solar Cells: From Theoretical Insights to Experimental Validation”,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10.1002/adma.202402412.</a:t>
            </a:r>
          </a:p>
          <a:p>
            <a:pPr algn="just"/>
            <a:r>
              <a:rPr lang="en-US" sz="800" dirty="0">
                <a:latin typeface="Times New Roman" panose="02020603050405020304" pitchFamily="18" charset="0"/>
                <a:cs typeface="Times New Roman" panose="02020603050405020304" pitchFamily="18" charset="0"/>
              </a:rPr>
              <a:t>[41] A. Ghosh et al., “Solar power conversion: </a:t>
            </a:r>
            <a:r>
              <a:rPr lang="en-US" sz="800" dirty="0" err="1">
                <a:latin typeface="Times New Roman" panose="02020603050405020304" pitchFamily="18" charset="0"/>
                <a:cs typeface="Times New Roman" panose="02020603050405020304" pitchFamily="18" charset="0"/>
              </a:rPr>
              <a:t>CuI</a:t>
            </a:r>
            <a:r>
              <a:rPr lang="en-US" sz="800" dirty="0">
                <a:latin typeface="Times New Roman" panose="02020603050405020304" pitchFamily="18" charset="0"/>
                <a:cs typeface="Times New Roman" panose="02020603050405020304" pitchFamily="18" charset="0"/>
              </a:rPr>
              <a:t> hole transport layer and Ba3NCl3 absorber enable advanced solar cell technology boosting efficiency over 30%,” RSC Adv., vol. 14, no. 33, pp. 24066–24081, Jul.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10.1039/D4RA03695F.</a:t>
            </a:r>
          </a:p>
          <a:p>
            <a:pPr algn="just"/>
            <a:r>
              <a:rPr lang="en-US" sz="800" dirty="0">
                <a:latin typeface="Times New Roman" panose="02020603050405020304" pitchFamily="18" charset="0"/>
                <a:cs typeface="Times New Roman" panose="02020603050405020304" pitchFamily="18" charset="0"/>
              </a:rPr>
              <a:t>[42] M. </a:t>
            </a:r>
            <a:r>
              <a:rPr lang="en-US" sz="800" dirty="0" err="1">
                <a:latin typeface="Times New Roman" panose="02020603050405020304" pitchFamily="18" charset="0"/>
                <a:cs typeface="Times New Roman" panose="02020603050405020304" pitchFamily="18" charset="0"/>
              </a:rPr>
              <a:t>Stolterfoht</a:t>
            </a:r>
            <a:r>
              <a:rPr lang="en-US" sz="800" dirty="0">
                <a:latin typeface="Times New Roman" panose="02020603050405020304" pitchFamily="18" charset="0"/>
                <a:cs typeface="Times New Roman" panose="02020603050405020304" pitchFamily="18" charset="0"/>
              </a:rPr>
              <a:t> et al., “The perovskite/transport layer interfaces dominate non-radiative recombination in efficient perovskite solar cells,” arXiv.org. Accessed: Jun. 07, 2026. [Online]. Available: https://arxiv.org/abs/1810.01333v2</a:t>
            </a:r>
          </a:p>
          <a:p>
            <a:pPr algn="just"/>
            <a:r>
              <a:rPr lang="en-US" sz="800" dirty="0">
                <a:latin typeface="Times New Roman" panose="02020603050405020304" pitchFamily="18" charset="0"/>
                <a:cs typeface="Times New Roman" panose="02020603050405020304" pitchFamily="18" charset="0"/>
              </a:rPr>
              <a:t>[43] J. Z. </a:t>
            </a:r>
            <a:r>
              <a:rPr lang="en-US" sz="800" dirty="0" err="1">
                <a:latin typeface="Times New Roman" panose="02020603050405020304" pitchFamily="18" charset="0"/>
                <a:cs typeface="Times New Roman" panose="02020603050405020304" pitchFamily="18" charset="0"/>
              </a:rPr>
              <a:t>Mbese</a:t>
            </a:r>
            <a:r>
              <a:rPr lang="en-US" sz="800" dirty="0">
                <a:latin typeface="Times New Roman" panose="02020603050405020304" pitchFamily="18" charset="0"/>
                <a:cs typeface="Times New Roman" panose="02020603050405020304" pitchFamily="18" charset="0"/>
              </a:rPr>
              <a:t>, “Advancements in Inorganic Hole-Transport Materials for Perovskite Solar Cells: A Comparative Review,” Energies, vol. 18, no. 9, p. 2374, Jan.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10.3390/en18092374.</a:t>
            </a:r>
          </a:p>
          <a:p>
            <a:pPr algn="just"/>
            <a:r>
              <a:rPr lang="en-US" sz="800" dirty="0">
                <a:latin typeface="Times New Roman" panose="02020603050405020304" pitchFamily="18" charset="0"/>
                <a:cs typeface="Times New Roman" panose="02020603050405020304" pitchFamily="18" charset="0"/>
              </a:rPr>
              <a:t>[44] R. Pau et al., “Solution-processed </a:t>
            </a:r>
            <a:r>
              <a:rPr lang="en-US" sz="800" dirty="0" err="1">
                <a:latin typeface="Times New Roman" panose="02020603050405020304" pitchFamily="18" charset="0"/>
                <a:cs typeface="Times New Roman" panose="02020603050405020304" pitchFamily="18" charset="0"/>
              </a:rPr>
              <a:t>CuI</a:t>
            </a:r>
            <a:r>
              <a:rPr lang="en-US" sz="800" dirty="0">
                <a:latin typeface="Times New Roman" panose="02020603050405020304" pitchFamily="18" charset="0"/>
                <a:cs typeface="Times New Roman" panose="02020603050405020304" pitchFamily="18" charset="0"/>
              </a:rPr>
              <a:t> as a hole transport layer for Sn–Pb perovskite solar cells,” Journal of Materials Chemistry A, vol. 13, no. 48, pp. 42118–42127,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10.1039/D5TA06770G.</a:t>
            </a:r>
          </a:p>
          <a:p>
            <a:pPr algn="just"/>
            <a:r>
              <a:rPr lang="en-US" sz="800" dirty="0">
                <a:latin typeface="Times New Roman" panose="02020603050405020304" pitchFamily="18" charset="0"/>
                <a:cs typeface="Times New Roman" panose="02020603050405020304" pitchFamily="18" charset="0"/>
              </a:rPr>
              <a:t>[45] “Recent Progress In The Development Of High- Efficiency Perovskite Solar Cell Using Copper Iodide (</a:t>
            </a:r>
            <a:r>
              <a:rPr lang="en-US" sz="800" dirty="0" err="1">
                <a:latin typeface="Times New Roman" panose="02020603050405020304" pitchFamily="18" charset="0"/>
                <a:cs typeface="Times New Roman" panose="02020603050405020304" pitchFamily="18" charset="0"/>
              </a:rPr>
              <a:t>CuI</a:t>
            </a:r>
            <a:r>
              <a:rPr lang="en-US" sz="800" dirty="0">
                <a:latin typeface="Times New Roman" panose="02020603050405020304" pitchFamily="18" charset="0"/>
                <a:cs typeface="Times New Roman" panose="02020603050405020304" pitchFamily="18" charset="0"/>
              </a:rPr>
              <a:t>) As Hole Transport Layer » </a:t>
            </a:r>
            <a:r>
              <a:rPr lang="en-US" sz="800" dirty="0" err="1">
                <a:latin typeface="Times New Roman" panose="02020603050405020304" pitchFamily="18" charset="0"/>
                <a:cs typeface="Times New Roman" panose="02020603050405020304" pitchFamily="18" charset="0"/>
              </a:rPr>
              <a:t>JoSDC</a:t>
            </a:r>
            <a:r>
              <a:rPr lang="en-US" sz="800" dirty="0">
                <a:latin typeface="Times New Roman" panose="02020603050405020304" pitchFamily="18" charset="0"/>
                <a:cs typeface="Times New Roman" panose="02020603050405020304" pitchFamily="18" charset="0"/>
              </a:rPr>
              <a:t>.” Accessed: Jun. 12, 2026. [Online]. Available: https://journals.stmjournals.com/josdc/article=2024/view=151196/</a:t>
            </a:r>
          </a:p>
          <a:p>
            <a:pPr algn="just"/>
            <a:r>
              <a:rPr lang="en-US" sz="800" dirty="0">
                <a:latin typeface="Times New Roman" panose="02020603050405020304" pitchFamily="18" charset="0"/>
                <a:cs typeface="Times New Roman" panose="02020603050405020304" pitchFamily="18" charset="0"/>
              </a:rPr>
              <a:t>[46] W. Yang et al., “The </a:t>
            </a:r>
            <a:r>
              <a:rPr lang="en-US" sz="800" dirty="0" err="1">
                <a:latin typeface="Times New Roman" panose="02020603050405020304" pitchFamily="18" charset="0"/>
                <a:cs typeface="Times New Roman" panose="02020603050405020304" pitchFamily="18" charset="0"/>
              </a:rPr>
              <a:t>CuI</a:t>
            </a:r>
            <a:r>
              <a:rPr lang="en-US" sz="800" dirty="0">
                <a:latin typeface="Times New Roman" panose="02020603050405020304" pitchFamily="18" charset="0"/>
                <a:cs typeface="Times New Roman" panose="02020603050405020304" pitchFamily="18" charset="0"/>
              </a:rPr>
              <a:t>/</a:t>
            </a:r>
            <a:r>
              <a:rPr lang="en-US" sz="800" dirty="0" err="1">
                <a:latin typeface="Times New Roman" panose="02020603050405020304" pitchFamily="18" charset="0"/>
                <a:cs typeface="Times New Roman" panose="02020603050405020304" pitchFamily="18" charset="0"/>
              </a:rPr>
              <a:t>NiO</a:t>
            </a:r>
            <a:r>
              <a:rPr lang="en-US" sz="800" dirty="0">
                <a:latin typeface="Times New Roman" panose="02020603050405020304" pitchFamily="18" charset="0"/>
                <a:cs typeface="Times New Roman" panose="02020603050405020304" pitchFamily="18" charset="0"/>
              </a:rPr>
              <a:t> gradient hole transport layer for enhanced carrier efficiency in large-area perovskite solar cell,” Appl. Phys. Lett., vol. 128, no. 14, Apr. 2026,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10.1063/5.0326539.</a:t>
            </a:r>
          </a:p>
          <a:p>
            <a:pPr algn="just"/>
            <a:r>
              <a:rPr lang="en-US" sz="800" dirty="0">
                <a:latin typeface="Times New Roman" panose="02020603050405020304" pitchFamily="18" charset="0"/>
                <a:cs typeface="Times New Roman" panose="02020603050405020304" pitchFamily="18" charset="0"/>
              </a:rPr>
              <a:t>[47] R. Corporation, “Fluorine-Doped Tin Oxide Thin Films with High Surface Conductance and Low Transparency for Boosting Performance in Dye-Sensitized Solar Cell Applications,” ACS Applied Energy Materials, Jun. 2023, Accessed: Jun. 12, 2026. [Online]. Available: https://pubs.acs.org/doi/abs/10.1021/acsaem.3c00058</a:t>
            </a:r>
          </a:p>
          <a:p>
            <a:pPr algn="just"/>
            <a:r>
              <a:rPr lang="en-US" sz="800" dirty="0">
                <a:latin typeface="Times New Roman" panose="02020603050405020304" pitchFamily="18" charset="0"/>
                <a:cs typeface="Times New Roman" panose="02020603050405020304" pitchFamily="18" charset="0"/>
              </a:rPr>
              <a:t>[48] ACS, “Influence of the Transparent Conductive Oxide Type on the Performance of Inverted Perovskite Solar Cells,” ACS Applied Energy Materials, Dec. 2023, Accessed: Jun. 12, 2026. [Online]. Available: https://pubs.acs.org/doi/abs/10.1021/acsaem.3c02292</a:t>
            </a:r>
          </a:p>
          <a:p>
            <a:pPr algn="just"/>
            <a:endParaRPr lang="en-US"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870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32</a:t>
            </a:r>
            <a:endParaRPr lang="en-US" sz="8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AF195F5-AFBD-262B-216E-F61A8175B91D}"/>
              </a:ext>
            </a:extLst>
          </p:cNvPr>
          <p:cNvSpPr txBox="1"/>
          <p:nvPr/>
        </p:nvSpPr>
        <p:spPr>
          <a:xfrm>
            <a:off x="618976" y="900329"/>
            <a:ext cx="7870874" cy="3908762"/>
          </a:xfrm>
          <a:prstGeom prst="rect">
            <a:avLst/>
          </a:prstGeom>
          <a:noFill/>
        </p:spPr>
        <p:txBody>
          <a:bodyPr wrap="square" rtlCol="0">
            <a:spAutoFit/>
          </a:bodyPr>
          <a:lstStyle/>
          <a:p>
            <a:pPr algn="just"/>
            <a:r>
              <a:rPr lang="en-US" sz="800" dirty="0">
                <a:latin typeface="Times New Roman" panose="02020603050405020304" pitchFamily="18" charset="0"/>
                <a:cs typeface="Times New Roman" panose="02020603050405020304" pitchFamily="18" charset="0"/>
              </a:rPr>
              <a:t>[49] “(1) (PDF) Study of fluorine-doped tin oxide (FTO) thin films for photovoltaics applications,” ResearchGate. Accessed: Jun. 12, 2026. [Online]. Available: https://www.researchgate.net/publication/317348397_Study_of_fluorine-doped_tin_oxide_FTO_thin_films_for_photovoltaics_applications</a:t>
            </a:r>
          </a:p>
          <a:p>
            <a:pPr algn="just"/>
            <a:r>
              <a:rPr lang="en-US" sz="800" dirty="0">
                <a:latin typeface="Times New Roman" panose="02020603050405020304" pitchFamily="18" charset="0"/>
                <a:cs typeface="Times New Roman" panose="02020603050405020304" pitchFamily="18" charset="0"/>
              </a:rPr>
              <a:t>[50] L. T. C. Tuyen, S.-R. Jian, N. T. Tien, and P. H. Le, “Nanomechanical and Material Properties of Fluorine-Doped Tin Oxide Thin Films Prepared by Ultrasonic Spray Pyrolysis: Effects of F-Doping,” Materials, vol. 12, no. 10, p. 1665, May 2019,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10.3390/ma12101665.</a:t>
            </a:r>
          </a:p>
          <a:p>
            <a:pPr algn="just"/>
            <a:r>
              <a:rPr lang="en-US" sz="800" dirty="0">
                <a:latin typeface="Times New Roman" panose="02020603050405020304" pitchFamily="18" charset="0"/>
                <a:cs typeface="Times New Roman" panose="02020603050405020304" pitchFamily="18" charset="0"/>
              </a:rPr>
              <a:t>[51] W. H et al., “Yttrium oxide engineered substrate enables improved durability for perovskite solar cells,” Nature communications, vol. 16, no. 1, Oct.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10.1038/s41467-025-64548-y.</a:t>
            </a:r>
          </a:p>
          <a:p>
            <a:pPr algn="just"/>
            <a:r>
              <a:rPr lang="en-US" sz="800" dirty="0">
                <a:latin typeface="Times New Roman" panose="02020603050405020304" pitchFamily="18" charset="0"/>
                <a:cs typeface="Times New Roman" panose="02020603050405020304" pitchFamily="18" charset="0"/>
              </a:rPr>
              <a:t>[52] T. </a:t>
            </a:r>
            <a:r>
              <a:rPr lang="en-US" sz="800" dirty="0" err="1">
                <a:latin typeface="Times New Roman" panose="02020603050405020304" pitchFamily="18" charset="0"/>
                <a:cs typeface="Times New Roman" panose="02020603050405020304" pitchFamily="18" charset="0"/>
              </a:rPr>
              <a:t>Minemoto</a:t>
            </a:r>
            <a:r>
              <a:rPr lang="en-US" sz="800" dirty="0">
                <a:latin typeface="Times New Roman" panose="02020603050405020304" pitchFamily="18" charset="0"/>
                <a:cs typeface="Times New Roman" panose="02020603050405020304" pitchFamily="18" charset="0"/>
              </a:rPr>
              <a:t> and M. Murata, “Impact of work function of back contact of perovskite solar cells without hole transport material analyzed by device simulation,” Current Applied Physics, vol. 14, no. 11, pp. 1428–1433, Nov. 2014,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10.1016/j.cap.2014.08.002.</a:t>
            </a:r>
          </a:p>
          <a:p>
            <a:pPr algn="just"/>
            <a:r>
              <a:rPr lang="en-US" sz="800" dirty="0">
                <a:latin typeface="Times New Roman" panose="02020603050405020304" pitchFamily="18" charset="0"/>
                <a:cs typeface="Times New Roman" panose="02020603050405020304" pitchFamily="18" charset="0"/>
              </a:rPr>
              <a:t>[53] E. Paz </a:t>
            </a:r>
            <a:r>
              <a:rPr lang="en-US" sz="800" dirty="0" err="1">
                <a:latin typeface="Times New Roman" panose="02020603050405020304" pitchFamily="18" charset="0"/>
                <a:cs typeface="Times New Roman" panose="02020603050405020304" pitchFamily="18" charset="0"/>
              </a:rPr>
              <a:t>Totolhua</a:t>
            </a:r>
            <a:r>
              <a:rPr lang="en-US" sz="800" dirty="0">
                <a:latin typeface="Times New Roman" panose="02020603050405020304" pitchFamily="18" charset="0"/>
                <a:cs typeface="Times New Roman" panose="02020603050405020304" pitchFamily="18" charset="0"/>
              </a:rPr>
              <a:t> et al., “Enhanced Efficiency of Mixed-Halide Perovskite Solar Cells Through Optimization of the Layer Thicknesses, Defect Density, and Metal Contact Work Function,” Materials, vol. 18, no. 7, p. 1601, Jan.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10.3390/ma18071601.</a:t>
            </a:r>
          </a:p>
          <a:p>
            <a:pPr algn="just"/>
            <a:r>
              <a:rPr lang="en-US" sz="800" dirty="0">
                <a:latin typeface="Times New Roman" panose="02020603050405020304" pitchFamily="18" charset="0"/>
                <a:cs typeface="Times New Roman" panose="02020603050405020304" pitchFamily="18" charset="0"/>
              </a:rPr>
              <a:t>[54] “(1) Investigation of the role of back contact work function for hole transporting layer free perovskite solar cells applications | Request PDF,” ResearchGate. Accessed: Jun. 12, 2026. [Online]. Available: https://www.researchgate.net/publication/358793021_Investigation_of_the_role_of_back_contact_work_function_for_hole_transporting_layer_free_perovskite_solar_cells_applications</a:t>
            </a:r>
          </a:p>
          <a:p>
            <a:pPr algn="just"/>
            <a:r>
              <a:rPr lang="en-US" sz="800" dirty="0">
                <a:latin typeface="Times New Roman" panose="02020603050405020304" pitchFamily="18" charset="0"/>
                <a:cs typeface="Times New Roman" panose="02020603050405020304" pitchFamily="18" charset="0"/>
              </a:rPr>
              <a:t>[55] Waters, “Effect of Metal Electrodes on Aging-Induced Performance Recovery in Perovskite Solar Cells,” ACS Applied Materials &amp; Interfaces, Dec. 2019, Accessed: Jun. 12, 2026. [Online]. Available: https://pubs.acs.org/doi/abs/10.1021/acsami.9b14619</a:t>
            </a:r>
          </a:p>
          <a:p>
            <a:pPr algn="just"/>
            <a:r>
              <a:rPr lang="en-US" sz="800" dirty="0">
                <a:latin typeface="Times New Roman" panose="02020603050405020304" pitchFamily="18" charset="0"/>
                <a:cs typeface="Times New Roman" panose="02020603050405020304" pitchFamily="18" charset="0"/>
              </a:rPr>
              <a:t>[56] H.-J. Park, H. Son, and B.-S. Jeong, “SCAPS-1D Simulation for Device Optimization to Improve Efficiency in Lead-Free CsSnI3 Perovskite Solar Cells,” Inorganics, vol. 12, no. 4, p. 123, Apr.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10.3390/inorganics12040123.</a:t>
            </a:r>
          </a:p>
          <a:p>
            <a:pPr algn="just"/>
            <a:r>
              <a:rPr lang="en-US" sz="800" dirty="0">
                <a:latin typeface="Times New Roman" panose="02020603050405020304" pitchFamily="18" charset="0"/>
                <a:cs typeface="Times New Roman" panose="02020603050405020304" pitchFamily="18" charset="0"/>
              </a:rPr>
              <a:t>[57] P. Afrin, K. Farjana, A. </a:t>
            </a:r>
            <a:r>
              <a:rPr lang="en-US" sz="800" dirty="0" err="1">
                <a:latin typeface="Times New Roman" panose="02020603050405020304" pitchFamily="18" charset="0"/>
                <a:cs typeface="Times New Roman" panose="02020603050405020304" pitchFamily="18" charset="0"/>
              </a:rPr>
              <a:t>Vumije</a:t>
            </a:r>
            <a:r>
              <a:rPr lang="en-US" sz="800" dirty="0">
                <a:latin typeface="Times New Roman" panose="02020603050405020304" pitchFamily="18" charset="0"/>
                <a:cs typeface="Times New Roman" panose="02020603050405020304" pitchFamily="18" charset="0"/>
              </a:rPr>
              <a:t>, and M. N. Uddin, “An investigation on the impact of temperature variation over the performance of </a:t>
            </a:r>
            <a:r>
              <a:rPr lang="en-US" sz="800" dirty="0" err="1">
                <a:latin typeface="Times New Roman" panose="02020603050405020304" pitchFamily="18" charset="0"/>
                <a:cs typeface="Times New Roman" panose="02020603050405020304" pitchFamily="18" charset="0"/>
              </a:rPr>
              <a:t>formamidinium</a:t>
            </a:r>
            <a:r>
              <a:rPr lang="en-US" sz="800" dirty="0">
                <a:latin typeface="Times New Roman" panose="02020603050405020304" pitchFamily="18" charset="0"/>
                <a:cs typeface="Times New Roman" panose="02020603050405020304" pitchFamily="18" charset="0"/>
              </a:rPr>
              <a:t> tin iodide perovskite solar cell using SCAPS simulation,” AIP Advances, vol. 14, no. 7, Jul.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10.1063/5.0209332.</a:t>
            </a:r>
          </a:p>
          <a:p>
            <a:pPr algn="just"/>
            <a:r>
              <a:rPr lang="en-US" sz="800" dirty="0">
                <a:latin typeface="Times New Roman" panose="02020603050405020304" pitchFamily="18" charset="0"/>
                <a:cs typeface="Times New Roman" panose="02020603050405020304" pitchFamily="18" charset="0"/>
              </a:rPr>
              <a:t>[58] “The Physics of Solar Cells.” Accessed: Jun. 08, 2026. [Online]. Available: https://www.worldscientific.com/worldscibooks/10.1142/p276#t=aboutBook</a:t>
            </a:r>
          </a:p>
          <a:p>
            <a:pPr algn="just"/>
            <a:r>
              <a:rPr lang="en-US" sz="800" dirty="0">
                <a:latin typeface="Times New Roman" panose="02020603050405020304" pitchFamily="18" charset="0"/>
                <a:cs typeface="Times New Roman" panose="02020603050405020304" pitchFamily="18" charset="0"/>
              </a:rPr>
              <a:t>[59] S. R. Hosseini et al., “Investigating the effect of non-ideal conditions on the performance of a planar CH3NH3PbI3-based perovskite solar cell through SCAPS-1D simulation,” </a:t>
            </a:r>
            <a:r>
              <a:rPr lang="en-US" sz="800" dirty="0" err="1">
                <a:latin typeface="Times New Roman" panose="02020603050405020304" pitchFamily="18" charset="0"/>
                <a:cs typeface="Times New Roman" panose="02020603050405020304" pitchFamily="18" charset="0"/>
              </a:rPr>
              <a:t>Heliyon</a:t>
            </a:r>
            <a:r>
              <a:rPr lang="en-US" sz="800" dirty="0">
                <a:latin typeface="Times New Roman" panose="02020603050405020304" pitchFamily="18" charset="0"/>
                <a:cs typeface="Times New Roman" panose="02020603050405020304" pitchFamily="18" charset="0"/>
              </a:rPr>
              <a:t>, vol. 8, no. 11, Nov. 2022,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10.1016/j.heliyon.2022.e11471.</a:t>
            </a:r>
          </a:p>
          <a:p>
            <a:pPr algn="just"/>
            <a:r>
              <a:rPr lang="en-US" sz="800" dirty="0">
                <a:latin typeface="Times New Roman" panose="02020603050405020304" pitchFamily="18" charset="0"/>
                <a:cs typeface="Times New Roman" panose="02020603050405020304" pitchFamily="18" charset="0"/>
              </a:rPr>
              <a:t>[60] “Comparative performance analysis of poly (3-hexylthiophene-2, 5-dial) and [6,6]-phenyl-C61 butyric acid methyl ester-based organic solar cells in bulk-heterojunction and bilayer structure using SCAPS,” </a:t>
            </a:r>
            <a:r>
              <a:rPr lang="en-US" sz="800" dirty="0" err="1">
                <a:latin typeface="Times New Roman" panose="02020603050405020304" pitchFamily="18" charset="0"/>
                <a:cs typeface="Times New Roman" panose="02020603050405020304" pitchFamily="18" charset="0"/>
              </a:rPr>
              <a:t>Optik</a:t>
            </a:r>
            <a:r>
              <a:rPr lang="en-US" sz="800" dirty="0">
                <a:latin typeface="Times New Roman" panose="02020603050405020304" pitchFamily="18" charset="0"/>
                <a:cs typeface="Times New Roman" panose="02020603050405020304" pitchFamily="18" charset="0"/>
              </a:rPr>
              <a:t>, vol. 302, p. 171691, May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10.1016/j.ijleo.2024.171691.</a:t>
            </a:r>
          </a:p>
          <a:p>
            <a:pPr algn="just"/>
            <a:r>
              <a:rPr lang="en-US" sz="800" dirty="0">
                <a:latin typeface="Times New Roman" panose="02020603050405020304" pitchFamily="18" charset="0"/>
                <a:cs typeface="Times New Roman" panose="02020603050405020304" pitchFamily="18" charset="0"/>
              </a:rPr>
              <a:t>[61] R. Islam, M. N. Uddin, M. J. </a:t>
            </a:r>
            <a:r>
              <a:rPr lang="en-US" sz="800" dirty="0" err="1">
                <a:latin typeface="Times New Roman" panose="02020603050405020304" pitchFamily="18" charset="0"/>
                <a:cs typeface="Times New Roman" panose="02020603050405020304" pitchFamily="18" charset="0"/>
              </a:rPr>
              <a:t>Hossen</a:t>
            </a:r>
            <a:r>
              <a:rPr lang="en-US" sz="800" dirty="0">
                <a:latin typeface="Times New Roman" panose="02020603050405020304" pitchFamily="18" charset="0"/>
                <a:cs typeface="Times New Roman" panose="02020603050405020304" pitchFamily="18" charset="0"/>
              </a:rPr>
              <a:t>, and A. Begum, “Photovoltaic performance of lead-free MASnI3-based perovskite solar cells with </a:t>
            </a:r>
            <a:r>
              <a:rPr lang="en-US" sz="800" dirty="0" err="1">
                <a:latin typeface="Times New Roman" panose="02020603050405020304" pitchFamily="18" charset="0"/>
                <a:cs typeface="Times New Roman" panose="02020603050405020304" pitchFamily="18" charset="0"/>
              </a:rPr>
              <a:t>kesterite</a:t>
            </a:r>
            <a:r>
              <a:rPr lang="en-US" sz="800" dirty="0">
                <a:latin typeface="Times New Roman" panose="02020603050405020304" pitchFamily="18" charset="0"/>
                <a:cs typeface="Times New Roman" panose="02020603050405020304" pitchFamily="18" charset="0"/>
              </a:rPr>
              <a:t> hole transport materials,” AIP Advances, vol. 16, no. 5, May 2026,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10.1063/5.0315071.</a:t>
            </a:r>
          </a:p>
          <a:p>
            <a:pPr algn="just"/>
            <a:r>
              <a:rPr lang="en-US" sz="800" dirty="0">
                <a:latin typeface="Times New Roman" panose="02020603050405020304" pitchFamily="18" charset="0"/>
                <a:cs typeface="Times New Roman" panose="02020603050405020304" pitchFamily="18" charset="0"/>
              </a:rPr>
              <a:t>[62] J.-Y. Huang, Y.-W. Yang, W.-H. Hsu, E.-W. Chang, M.-H. Chen, and Y.-R. Wu, “Influences of Dielectric Constant and Scan Rate to Hysteresis Effect in Perovskite Solar Cell: Simulation and Experimental Analyses,” arXiv.org. Accessed: Jun. 06, 2026. [Online]. Available: </a:t>
            </a:r>
            <a:r>
              <a:rPr lang="en-US" sz="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https://arxiv.org/abs/2106.12440v2</a:t>
            </a:r>
            <a:endParaRPr lang="en-US" sz="800" dirty="0">
              <a:latin typeface="Times New Roman" panose="02020603050405020304" pitchFamily="18" charset="0"/>
              <a:cs typeface="Times New Roman" panose="02020603050405020304" pitchFamily="18" charset="0"/>
            </a:endParaRPr>
          </a:p>
          <a:p>
            <a:pPr algn="just"/>
            <a:r>
              <a:rPr lang="en-US" sz="800" dirty="0">
                <a:latin typeface="Times New Roman" panose="02020603050405020304" pitchFamily="18" charset="0"/>
                <a:cs typeface="Times New Roman" panose="02020603050405020304" pitchFamily="18" charset="0"/>
              </a:rPr>
              <a:t>[63] K. </a:t>
            </a:r>
            <a:r>
              <a:rPr lang="en-US" sz="800" dirty="0" err="1">
                <a:latin typeface="Times New Roman" panose="02020603050405020304" pitchFamily="18" charset="0"/>
                <a:cs typeface="Times New Roman" panose="02020603050405020304" pitchFamily="18" charset="0"/>
              </a:rPr>
              <a:t>Shivesh</a:t>
            </a:r>
            <a:r>
              <a:rPr lang="en-US" sz="800" dirty="0">
                <a:latin typeface="Times New Roman" panose="02020603050405020304" pitchFamily="18" charset="0"/>
                <a:cs typeface="Times New Roman" panose="02020603050405020304" pitchFamily="18" charset="0"/>
              </a:rPr>
              <a:t>, I. Alam, A. K. Kushwaha, M. Kumar, and S. V. Singh, “Investigating the theoretical performance of Cs$_2$TiBr$_6$-based perovskite solar cell with La-doped BaSnO$_3$ and CuSbS$_2$ as the charge transport layers,” arXiv.org. Accessed: Jun. 07, 2026. [Online]. Available: https://arxiv.org/abs/2111.14381v1</a:t>
            </a:r>
          </a:p>
          <a:p>
            <a:pPr algn="just"/>
            <a:endParaRPr lang="en-US"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7457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 name="Shape 1"/>
          <p:cNvSpPr/>
          <p:nvPr/>
        </p:nvSpPr>
        <p:spPr>
          <a:xfrm>
            <a:off x="0" y="778669"/>
            <a:ext cx="9144000" cy="0"/>
          </a:xfrm>
          <a:prstGeom prst="line">
            <a:avLst/>
          </a:prstGeom>
          <a:noFill/>
          <a:ln w="14288">
            <a:solidFill>
              <a:srgbClr val="2F6B1A"/>
            </a:solidFill>
            <a:prstDash val="solid"/>
          </a:ln>
        </p:spPr>
      </p:sp>
      <p:sp>
        <p:nvSpPr>
          <p:cNvPr id="4" name="Text 2"/>
          <p:cNvSpPr/>
          <p:nvPr/>
        </p:nvSpPr>
        <p:spPr>
          <a:xfrm>
            <a:off x="285750" y="254273"/>
            <a:ext cx="8572500" cy="283897"/>
          </a:xfrm>
          <a:prstGeom prst="rect">
            <a:avLst/>
          </a:prstGeom>
          <a:noFill/>
          <a:ln/>
        </p:spPr>
        <p:txBody>
          <a:bodyPr wrap="none" lIns="0" tIns="0" rIns="0" bIns="0" rtlCol="0" anchor="t"/>
          <a:lstStyle/>
          <a:p>
            <a:pPr marL="0" indent="0" algn="ctr">
              <a:lnSpc>
                <a:spcPts val="2070"/>
              </a:lnSpc>
              <a:buNone/>
            </a:pPr>
            <a:r>
              <a:rPr lang="en-US" sz="1800" b="1" kern="0" spc="17" dirty="0">
                <a:solidFill>
                  <a:srgbClr val="000000"/>
                </a:solidFill>
                <a:latin typeface="Times New Roman" panose="02020603050405020304" pitchFamily="18" charset="0"/>
                <a:ea typeface="Tinos" pitchFamily="34" charset="-122"/>
                <a:cs typeface="Times New Roman" panose="02020603050405020304" pitchFamily="18" charset="0"/>
              </a:rPr>
              <a:t>References</a:t>
            </a:r>
            <a:endParaRPr lang="en-US" sz="1800" dirty="0">
              <a:latin typeface="Times New Roman" panose="02020603050405020304" pitchFamily="18" charset="0"/>
              <a:cs typeface="Times New Roman" panose="02020603050405020304" pitchFamily="18" charset="0"/>
            </a:endParaRPr>
          </a:p>
        </p:txBody>
      </p:sp>
      <p:sp>
        <p:nvSpPr>
          <p:cNvPr id="37" name="Text 3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38" name="Shape 36"/>
          <p:cNvSpPr/>
          <p:nvPr/>
        </p:nvSpPr>
        <p:spPr>
          <a:xfrm>
            <a:off x="0" y="4822031"/>
            <a:ext cx="9144000" cy="0"/>
          </a:xfrm>
          <a:prstGeom prst="line">
            <a:avLst/>
          </a:prstGeom>
          <a:noFill/>
          <a:ln w="14288">
            <a:solidFill>
              <a:srgbClr val="C4D2B1"/>
            </a:solidFill>
            <a:prstDash val="solid"/>
          </a:ln>
        </p:spPr>
      </p:sp>
      <p:sp>
        <p:nvSpPr>
          <p:cNvPr id="39" name="Text 37"/>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mes New Roman" panose="02020603050405020304" pitchFamily="18" charset="0"/>
                <a:ea typeface="Tinos" pitchFamily="34" charset="-122"/>
                <a:cs typeface="Times New Roman" panose="02020603050405020304" pitchFamily="18" charset="0"/>
              </a:rPr>
              <a:t>LEADING UNIVERSITY</a:t>
            </a:r>
            <a:endParaRPr lang="en-US" sz="800" dirty="0">
              <a:latin typeface="Times New Roman" panose="02020603050405020304" pitchFamily="18" charset="0"/>
              <a:cs typeface="Times New Roman" panose="02020603050405020304" pitchFamily="18" charset="0"/>
            </a:endParaRPr>
          </a:p>
        </p:txBody>
      </p:sp>
      <p:sp>
        <p:nvSpPr>
          <p:cNvPr id="40" name="Text 38"/>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mes New Roman" panose="02020603050405020304" pitchFamily="18" charset="0"/>
                <a:ea typeface="Tinos" pitchFamily="34" charset="-122"/>
                <a:cs typeface="Times New Roman" panose="02020603050405020304" pitchFamily="18" charset="0"/>
              </a:rPr>
              <a:t>DEPARTMENT OF ELECTRICAL AND ELECTRONIC ENGINEERING</a:t>
            </a:r>
            <a:endParaRPr lang="en-US" sz="800" dirty="0">
              <a:latin typeface="Times New Roman" panose="02020603050405020304" pitchFamily="18" charset="0"/>
              <a:cs typeface="Times New Roman" panose="02020603050405020304" pitchFamily="18" charset="0"/>
            </a:endParaRPr>
          </a:p>
        </p:txBody>
      </p:sp>
      <p:sp>
        <p:nvSpPr>
          <p:cNvPr id="41" name="Text 39"/>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Times New Roman" panose="02020603050405020304" pitchFamily="18" charset="0"/>
                <a:ea typeface="Liberation Sans Narrow" pitchFamily="34" charset="-122"/>
                <a:cs typeface="Times New Roman" panose="02020603050405020304" pitchFamily="18" charset="0"/>
              </a:rPr>
              <a:t>Page | 33</a:t>
            </a:r>
            <a:endParaRPr lang="en-US" sz="8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AF195F5-AFBD-262B-216E-F61A8175B91D}"/>
              </a:ext>
            </a:extLst>
          </p:cNvPr>
          <p:cNvSpPr txBox="1"/>
          <p:nvPr/>
        </p:nvSpPr>
        <p:spPr>
          <a:xfrm>
            <a:off x="618976" y="900329"/>
            <a:ext cx="7870874" cy="2554545"/>
          </a:xfrm>
          <a:prstGeom prst="rect">
            <a:avLst/>
          </a:prstGeom>
          <a:noFill/>
        </p:spPr>
        <p:txBody>
          <a:bodyPr wrap="square" rtlCol="0">
            <a:spAutoFit/>
          </a:bodyPr>
          <a:lstStyle/>
          <a:p>
            <a:pPr algn="just"/>
            <a:r>
              <a:rPr lang="en-US" sz="800" dirty="0">
                <a:latin typeface="Times New Roman" panose="02020603050405020304" pitchFamily="18" charset="0"/>
                <a:cs typeface="Times New Roman" panose="02020603050405020304" pitchFamily="18" charset="0"/>
              </a:rPr>
              <a:t>[64] J. Shi, H. Zhang, X. Xu, D. Li, Y. Luo, and Q. Meng, “Interplays between charge and electric field in perovskite solar cells: charge transport, recombination and hysteresis,” arXiv.org. Accessed: Jun. 07, 2026. [Online]. Available: https://arxiv.org/abs/1604.02819v1</a:t>
            </a:r>
          </a:p>
          <a:p>
            <a:pPr algn="just"/>
            <a:r>
              <a:rPr lang="en-US" sz="800" dirty="0">
                <a:latin typeface="Times New Roman" panose="02020603050405020304" pitchFamily="18" charset="0"/>
                <a:cs typeface="Times New Roman" panose="02020603050405020304" pitchFamily="18" charset="0"/>
              </a:rPr>
              <a:t>[65] “Physics of Semiconductor Devices,” Wiley Online Library. Accessed: Jun. 07, 2026. [Online]. Available: https://onlinelibrary.wiley.com/doi/book/10.1002/0470068329</a:t>
            </a:r>
          </a:p>
          <a:p>
            <a:pPr algn="just"/>
            <a:r>
              <a:rPr lang="en-US" sz="800" dirty="0">
                <a:latin typeface="Times New Roman" panose="02020603050405020304" pitchFamily="18" charset="0"/>
                <a:cs typeface="Times New Roman" panose="02020603050405020304" pitchFamily="18" charset="0"/>
              </a:rPr>
              <a:t>[66] “Physics of Solar Cells,” Wiley Online Library. Accessed: Jun. 07, 2026. [Online]. Available: https://onlinelibrary.wiley.com/doi/book/10.1002/9783527618545</a:t>
            </a:r>
          </a:p>
          <a:p>
            <a:pPr algn="just"/>
            <a:r>
              <a:rPr lang="en-US" sz="800" dirty="0">
                <a:latin typeface="Times New Roman" panose="02020603050405020304" pitchFamily="18" charset="0"/>
                <a:cs typeface="Times New Roman" panose="02020603050405020304" pitchFamily="18" charset="0"/>
              </a:rPr>
              <a:t>[67] M. A. Green, “Intrinsic concentration, effective densities of states, and effective mass in silicon,” J. Appl. Phys., vol. 67, no. 6, pp. 2944–2954, Mar. 1990,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10.1063/1.345414.</a:t>
            </a:r>
          </a:p>
          <a:p>
            <a:pPr algn="just"/>
            <a:r>
              <a:rPr lang="en-US" sz="800" dirty="0">
                <a:latin typeface="Times New Roman" panose="02020603050405020304" pitchFamily="18" charset="0"/>
                <a:cs typeface="Times New Roman" panose="02020603050405020304" pitchFamily="18" charset="0"/>
              </a:rPr>
              <a:t>[68] M. K. Hossain, M. H. K. Rubel, G. F. I. Toki, I. Alam, M. F. Rahman, and H. </a:t>
            </a:r>
            <a:r>
              <a:rPr lang="en-US" sz="800" dirty="0" err="1">
                <a:latin typeface="Times New Roman" panose="02020603050405020304" pitchFamily="18" charset="0"/>
                <a:cs typeface="Times New Roman" panose="02020603050405020304" pitchFamily="18" charset="0"/>
              </a:rPr>
              <a:t>Bencherif</a:t>
            </a:r>
            <a:r>
              <a:rPr lang="en-US" sz="800" dirty="0">
                <a:latin typeface="Times New Roman" panose="02020603050405020304" pitchFamily="18" charset="0"/>
                <a:cs typeface="Times New Roman" panose="02020603050405020304" pitchFamily="18" charset="0"/>
              </a:rPr>
              <a:t>, “Effect of various electron and hole transport layers on the performance of CsPbI3-based perovskite solar cells: A numerical investigation in DFT, SCAPS-1D, and </a:t>
            </a:r>
            <a:r>
              <a:rPr lang="en-US" sz="800" dirty="0" err="1">
                <a:latin typeface="Times New Roman" panose="02020603050405020304" pitchFamily="18" charset="0"/>
                <a:cs typeface="Times New Roman" panose="02020603050405020304" pitchFamily="18" charset="0"/>
              </a:rPr>
              <a:t>wxAMPS</a:t>
            </a:r>
            <a:r>
              <a:rPr lang="en-US" sz="800" dirty="0">
                <a:latin typeface="Times New Roman" panose="02020603050405020304" pitchFamily="18" charset="0"/>
                <a:cs typeface="Times New Roman" panose="02020603050405020304" pitchFamily="18" charset="0"/>
              </a:rPr>
              <a:t> frameworks,” arXiv.org. Accessed: Jun. 07, 2026. [Online]. Available: https://arxiv.org/abs/2211.02968v1</a:t>
            </a:r>
          </a:p>
          <a:p>
            <a:pPr algn="just"/>
            <a:r>
              <a:rPr lang="en-US" sz="800" dirty="0">
                <a:latin typeface="Times New Roman" panose="02020603050405020304" pitchFamily="18" charset="0"/>
                <a:cs typeface="Times New Roman" panose="02020603050405020304" pitchFamily="18" charset="0"/>
              </a:rPr>
              <a:t>[69] A. </a:t>
            </a:r>
            <a:r>
              <a:rPr lang="en-US" sz="800" dirty="0" err="1">
                <a:latin typeface="Times New Roman" panose="02020603050405020304" pitchFamily="18" charset="0"/>
                <a:cs typeface="Times New Roman" panose="02020603050405020304" pitchFamily="18" charset="0"/>
              </a:rPr>
              <a:t>Nakane</a:t>
            </a:r>
            <a:r>
              <a:rPr lang="en-US" sz="800" dirty="0">
                <a:latin typeface="Times New Roman" panose="02020603050405020304" pitchFamily="18" charset="0"/>
                <a:cs typeface="Times New Roman" panose="02020603050405020304" pitchFamily="18" charset="0"/>
              </a:rPr>
              <a:t> et al., “Quantitative determination of optical and recombination losses in thin-film photovoltaic devices based on external quantum efficiency analysis,” arXiv.org. Accessed: Jun. 08, 2026. [Online]. Available: https://arxiv.org/abs/1604.04491v2</a:t>
            </a:r>
          </a:p>
          <a:p>
            <a:pPr algn="just"/>
            <a:r>
              <a:rPr lang="en-US" sz="800" dirty="0">
                <a:latin typeface="Times New Roman" panose="02020603050405020304" pitchFamily="18" charset="0"/>
                <a:cs typeface="Times New Roman" panose="02020603050405020304" pitchFamily="18" charset="0"/>
              </a:rPr>
              <a:t>[70] O. J. Sandberg and A. Armin, “On the effect of surface recombination in thin film solar cells, light emitting diodes and photodetectors,” arXiv.org. Accessed: Jun. 08, 2026. [Online]. Available: https://arxiv.org/abs/1905.07291v1</a:t>
            </a:r>
          </a:p>
          <a:p>
            <a:pPr algn="just"/>
            <a:r>
              <a:rPr lang="en-US" sz="800" dirty="0">
                <a:latin typeface="Times New Roman" panose="02020603050405020304" pitchFamily="18" charset="0"/>
                <a:cs typeface="Times New Roman" panose="02020603050405020304" pitchFamily="18" charset="0"/>
              </a:rPr>
              <a:t>[71] Z. Iqbal et al., “Interface Modification for Energy Levels Alignment and Charge Extraction in CsPbI$_3$ Perovskite Solar Cells,” arXiv.org. Accessed: Jun. 09, 2026. [Online]. Available: https://arxiv.org/abs/2307.13174v1</a:t>
            </a:r>
          </a:p>
          <a:p>
            <a:pPr algn="just"/>
            <a:r>
              <a:rPr lang="en-US" sz="800" dirty="0">
                <a:latin typeface="Times New Roman" panose="02020603050405020304" pitchFamily="18" charset="0"/>
                <a:cs typeface="Times New Roman" panose="02020603050405020304" pitchFamily="18" charset="0"/>
              </a:rPr>
              <a:t>[72] L. </a:t>
            </a:r>
            <a:r>
              <a:rPr lang="en-US" sz="800" dirty="0" err="1">
                <a:latin typeface="Times New Roman" panose="02020603050405020304" pitchFamily="18" charset="0"/>
                <a:cs typeface="Times New Roman" panose="02020603050405020304" pitchFamily="18" charset="0"/>
              </a:rPr>
              <a:t>Loumachi</a:t>
            </a:r>
            <a:r>
              <a:rPr lang="en-US" sz="800" dirty="0">
                <a:latin typeface="Times New Roman" panose="02020603050405020304" pitchFamily="18" charset="0"/>
                <a:cs typeface="Times New Roman" panose="02020603050405020304" pitchFamily="18" charset="0"/>
              </a:rPr>
              <a:t> et al., “Strengthen the Power Conversion Efficiency of Solar Cell Based RbGeI3: Numerical Approach,” East Eur. J. Phys., no. 3, pp. 416–424, Sep. 2024,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10.26565/2312-4334-2024-3-50.</a:t>
            </a:r>
          </a:p>
          <a:p>
            <a:pPr algn="just"/>
            <a:r>
              <a:rPr lang="en-US" sz="800" dirty="0">
                <a:latin typeface="Times New Roman" panose="02020603050405020304" pitchFamily="18" charset="0"/>
                <a:cs typeface="Times New Roman" panose="02020603050405020304" pitchFamily="18" charset="0"/>
              </a:rPr>
              <a:t>[73] M. Raj, A. Aggarwal, A. Kushwaha, and N. Goel, “Moisture-resistant sustainable solar cell with RbGeI3 absorber layer,” J Mater Sci, vol. 60, no. 22, pp. 9176–9196, Jun. 2025,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10.1007/s10853-025-11002-5.</a:t>
            </a:r>
          </a:p>
          <a:p>
            <a:pPr algn="just"/>
            <a:r>
              <a:rPr lang="en-US" sz="800" dirty="0">
                <a:latin typeface="Times New Roman" panose="02020603050405020304" pitchFamily="18" charset="0"/>
                <a:cs typeface="Times New Roman" panose="02020603050405020304" pitchFamily="18" charset="0"/>
              </a:rPr>
              <a:t>[74] A. C. </a:t>
            </a:r>
            <a:r>
              <a:rPr lang="en-US" sz="800" dirty="0" err="1">
                <a:latin typeface="Times New Roman" panose="02020603050405020304" pitchFamily="18" charset="0"/>
                <a:cs typeface="Times New Roman" panose="02020603050405020304" pitchFamily="18" charset="0"/>
              </a:rPr>
              <a:t>Piñón</a:t>
            </a:r>
            <a:r>
              <a:rPr lang="en-US" sz="800" dirty="0">
                <a:latin typeface="Times New Roman" panose="02020603050405020304" pitchFamily="18" charset="0"/>
                <a:cs typeface="Times New Roman" panose="02020603050405020304" pitchFamily="18" charset="0"/>
              </a:rPr>
              <a:t> Reyes et al., “Study of a Lead-Free Perovskite Solar Cell Using CZTS as HTL to Achieve a 20% PCE by SCAPS-1D Simulation,” Micromachines, vol. 12, no. 12, p. 1508, Dec. 2021, </a:t>
            </a:r>
            <a:r>
              <a:rPr lang="en-US" sz="800" dirty="0" err="1">
                <a:latin typeface="Times New Roman" panose="02020603050405020304" pitchFamily="18" charset="0"/>
                <a:cs typeface="Times New Roman" panose="02020603050405020304" pitchFamily="18" charset="0"/>
              </a:rPr>
              <a:t>doi</a:t>
            </a:r>
            <a:r>
              <a:rPr lang="en-US" sz="800" dirty="0">
                <a:latin typeface="Times New Roman" panose="02020603050405020304" pitchFamily="18" charset="0"/>
                <a:cs typeface="Times New Roman" panose="02020603050405020304" pitchFamily="18" charset="0"/>
              </a:rPr>
              <a:t>: 10.3390/mi12121508.</a:t>
            </a:r>
          </a:p>
        </p:txBody>
      </p:sp>
    </p:spTree>
    <p:extLst>
      <p:ext uri="{BB962C8B-B14F-4D97-AF65-F5344CB8AC3E}">
        <p14:creationId xmlns:p14="http://schemas.microsoft.com/office/powerpoint/2010/main" val="509695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DDDDDD"/>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9144000" cy="785813"/>
          </a:xfrm>
          <a:prstGeom prst="rect">
            <a:avLst/>
          </a:prstGeom>
          <a:solidFill>
            <a:srgbClr val="BCCCB8"/>
          </a:solidFill>
          <a:ln/>
        </p:spPr>
        <p:txBody>
          <a:bodyPr wrap="square" rtlCol="0" anchor="ctr"/>
          <a:lstStyle/>
          <a:p>
            <a:pPr marL="0" indent="0">
              <a:buNone/>
            </a:pPr>
            <a:endParaRPr lang="en-US" dirty="0"/>
          </a:p>
        </p:txBody>
      </p:sp>
      <p:sp>
        <p:nvSpPr>
          <p:cNvPr id="4" name="Shape 2"/>
          <p:cNvSpPr/>
          <p:nvPr/>
        </p:nvSpPr>
        <p:spPr>
          <a:xfrm>
            <a:off x="0" y="778669"/>
            <a:ext cx="9144000" cy="0"/>
          </a:xfrm>
          <a:prstGeom prst="line">
            <a:avLst/>
          </a:prstGeom>
          <a:noFill/>
          <a:ln w="14288">
            <a:solidFill>
              <a:srgbClr val="2F6B1A"/>
            </a:solidFill>
            <a:prstDash val="solid"/>
          </a:ln>
        </p:spPr>
      </p:sp>
      <p:sp>
        <p:nvSpPr>
          <p:cNvPr id="5" name="Text 3"/>
          <p:cNvSpPr/>
          <p:nvPr/>
        </p:nvSpPr>
        <p:spPr>
          <a:xfrm>
            <a:off x="3224399" y="2107406"/>
            <a:ext cx="3449717" cy="925830"/>
          </a:xfrm>
          <a:prstGeom prst="rect">
            <a:avLst/>
          </a:prstGeom>
          <a:noFill/>
          <a:ln/>
        </p:spPr>
        <p:txBody>
          <a:bodyPr wrap="none" lIns="0" tIns="0" rIns="0" bIns="0" rtlCol="0" anchor="t"/>
          <a:lstStyle/>
          <a:p>
            <a:pPr marL="0" indent="0" algn="l">
              <a:lnSpc>
                <a:spcPts val="6750"/>
              </a:lnSpc>
              <a:buNone/>
            </a:pPr>
            <a:r>
              <a:rPr lang="en-US" sz="4500" b="1" dirty="0">
                <a:solidFill>
                  <a:srgbClr val="000000"/>
                </a:solidFill>
                <a:latin typeface="Tinos" pitchFamily="34" charset="0"/>
                <a:ea typeface="Tinos" pitchFamily="34" charset="-122"/>
                <a:cs typeface="Tinos" pitchFamily="34" charset="-120"/>
              </a:rPr>
              <a:t>Thank You</a:t>
            </a:r>
            <a:endParaRPr lang="en-US" sz="4500" dirty="0"/>
          </a:p>
        </p:txBody>
      </p:sp>
      <p:sp>
        <p:nvSpPr>
          <p:cNvPr id="6" name="Text 4"/>
          <p:cNvSpPr/>
          <p:nvPr/>
        </p:nvSpPr>
        <p:spPr>
          <a:xfrm>
            <a:off x="3224399" y="3107531"/>
            <a:ext cx="3063474" cy="416624"/>
          </a:xfrm>
          <a:prstGeom prst="rect">
            <a:avLst/>
          </a:prstGeom>
          <a:noFill/>
          <a:ln/>
        </p:spPr>
        <p:txBody>
          <a:bodyPr wrap="none" lIns="0" tIns="0" rIns="0" bIns="0" rtlCol="0" anchor="t"/>
          <a:lstStyle/>
          <a:p>
            <a:pPr marL="0" indent="0" algn="l">
              <a:lnSpc>
                <a:spcPts val="3038"/>
              </a:lnSpc>
              <a:buNone/>
            </a:pPr>
            <a:r>
              <a:rPr lang="en-US" sz="2025" i="1" dirty="0">
                <a:solidFill>
                  <a:srgbClr val="000000"/>
                </a:solidFill>
                <a:latin typeface="Tinos" pitchFamily="34" charset="0"/>
                <a:ea typeface="Tinos" pitchFamily="34" charset="-122"/>
                <a:cs typeface="Tinos" pitchFamily="34" charset="-120"/>
              </a:rPr>
              <a:t>Questions and Answers</a:t>
            </a:r>
            <a:endParaRPr lang="en-US" sz="2025" dirty="0"/>
          </a:p>
        </p:txBody>
      </p:sp>
      <p:sp>
        <p:nvSpPr>
          <p:cNvPr id="7" name="Text 5"/>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p>
        </p:txBody>
      </p:sp>
      <p:sp>
        <p:nvSpPr>
          <p:cNvPr id="8" name="Shape 6"/>
          <p:cNvSpPr/>
          <p:nvPr/>
        </p:nvSpPr>
        <p:spPr>
          <a:xfrm>
            <a:off x="0" y="4822031"/>
            <a:ext cx="9144000" cy="0"/>
          </a:xfrm>
          <a:prstGeom prst="line">
            <a:avLst/>
          </a:prstGeom>
          <a:noFill/>
          <a:ln w="14288">
            <a:solidFill>
              <a:srgbClr val="C4D2B1"/>
            </a:solidFill>
            <a:prstDash val="solid"/>
          </a:ln>
        </p:spPr>
      </p:sp>
      <p:sp>
        <p:nvSpPr>
          <p:cNvPr id="10" name="Text 35">
            <a:extLst>
              <a:ext uri="{FF2B5EF4-FFF2-40B4-BE49-F238E27FC236}">
                <a16:creationId xmlns:a16="http://schemas.microsoft.com/office/drawing/2014/main" id="{DC4D26EA-8446-9E43-9B38-5836957EF157}"/>
              </a:ext>
            </a:extLst>
          </p:cNvPr>
          <p:cNvSpPr/>
          <p:nvPr/>
        </p:nvSpPr>
        <p:spPr>
          <a:xfrm>
            <a:off x="0" y="4814888"/>
            <a:ext cx="9144000" cy="328613"/>
          </a:xfrm>
          <a:prstGeom prst="rect">
            <a:avLst/>
          </a:prstGeom>
          <a:solidFill>
            <a:srgbClr val="DFEDCC"/>
          </a:solidFill>
          <a:ln/>
        </p:spPr>
        <p:txBody>
          <a:bodyPr wrap="square" rtlCol="0" anchor="ctr"/>
          <a:lstStyle/>
          <a:p>
            <a:pPr marL="0" indent="0">
              <a:buNone/>
            </a:pPr>
            <a:endParaRPr lang="en-US" dirty="0"/>
          </a:p>
        </p:txBody>
      </p:sp>
      <p:sp>
        <p:nvSpPr>
          <p:cNvPr id="11" name="Text 37">
            <a:extLst>
              <a:ext uri="{FF2B5EF4-FFF2-40B4-BE49-F238E27FC236}">
                <a16:creationId xmlns:a16="http://schemas.microsoft.com/office/drawing/2014/main" id="{AE61AEEE-2C08-F561-9F35-58005BFD1BF6}"/>
              </a:ext>
            </a:extLst>
          </p:cNvPr>
          <p:cNvSpPr/>
          <p:nvPr/>
        </p:nvSpPr>
        <p:spPr>
          <a:xfrm>
            <a:off x="0" y="4916686"/>
            <a:ext cx="2736168" cy="164592"/>
          </a:xfrm>
          <a:prstGeom prst="rect">
            <a:avLst/>
          </a:prstGeom>
          <a:noFill/>
          <a:ln/>
        </p:spPr>
        <p:txBody>
          <a:bodyPr wrap="none" lIns="200025" tIns="0" rIns="0" bIns="0" rtlCol="0" anchor="t"/>
          <a:lstStyle/>
          <a:p>
            <a:pPr marL="0" indent="0" algn="l">
              <a:lnSpc>
                <a:spcPts val="1097"/>
              </a:lnSpc>
              <a:buNone/>
            </a:pPr>
            <a:r>
              <a:rPr lang="en-US" sz="800" b="1" kern="0" spc="23" dirty="0">
                <a:solidFill>
                  <a:srgbClr val="000000"/>
                </a:solidFill>
                <a:latin typeface="Tinos" pitchFamily="34" charset="0"/>
                <a:ea typeface="Tinos" pitchFamily="34" charset="-122"/>
                <a:cs typeface="Tinos" pitchFamily="34" charset="-120"/>
              </a:rPr>
              <a:t>LEADING UNIVERSITY</a:t>
            </a:r>
            <a:endParaRPr lang="en-US" sz="800" dirty="0"/>
          </a:p>
        </p:txBody>
      </p:sp>
      <p:sp>
        <p:nvSpPr>
          <p:cNvPr id="12" name="Text 38">
            <a:extLst>
              <a:ext uri="{FF2B5EF4-FFF2-40B4-BE49-F238E27FC236}">
                <a16:creationId xmlns:a16="http://schemas.microsoft.com/office/drawing/2014/main" id="{AC97CFD7-5F2C-A370-6AD2-8BECA29B0650}"/>
              </a:ext>
            </a:extLst>
          </p:cNvPr>
          <p:cNvSpPr/>
          <p:nvPr/>
        </p:nvSpPr>
        <p:spPr>
          <a:xfrm>
            <a:off x="2736168" y="4916686"/>
            <a:ext cx="3776253" cy="164592"/>
          </a:xfrm>
          <a:prstGeom prst="rect">
            <a:avLst/>
          </a:prstGeom>
          <a:noFill/>
          <a:ln/>
        </p:spPr>
        <p:txBody>
          <a:bodyPr wrap="square" lIns="0" tIns="0" rIns="0" bIns="0" rtlCol="0" anchor="t"/>
          <a:lstStyle/>
          <a:p>
            <a:pPr marL="0" indent="0" algn="ctr">
              <a:lnSpc>
                <a:spcPts val="1097"/>
              </a:lnSpc>
              <a:buNone/>
            </a:pPr>
            <a:r>
              <a:rPr lang="en-US" sz="800" kern="0" spc="17" dirty="0">
                <a:solidFill>
                  <a:srgbClr val="000000"/>
                </a:solidFill>
                <a:latin typeface="Tinos" pitchFamily="34" charset="0"/>
                <a:ea typeface="Tinos" pitchFamily="34" charset="-122"/>
                <a:cs typeface="Tinos" pitchFamily="34" charset="-120"/>
              </a:rPr>
              <a:t>DEPARTMENT OF ELECTRICAL AND ELECTRONIC ENGINEERING</a:t>
            </a:r>
            <a:endParaRPr lang="en-US" sz="800" dirty="0"/>
          </a:p>
        </p:txBody>
      </p:sp>
      <p:sp>
        <p:nvSpPr>
          <p:cNvPr id="13" name="Text 39">
            <a:extLst>
              <a:ext uri="{FF2B5EF4-FFF2-40B4-BE49-F238E27FC236}">
                <a16:creationId xmlns:a16="http://schemas.microsoft.com/office/drawing/2014/main" id="{3474A6C1-D246-641D-3DE4-590861E1DB59}"/>
              </a:ext>
            </a:extLst>
          </p:cNvPr>
          <p:cNvSpPr/>
          <p:nvPr/>
        </p:nvSpPr>
        <p:spPr>
          <a:xfrm>
            <a:off x="6512421" y="4916686"/>
            <a:ext cx="2631467" cy="164592"/>
          </a:xfrm>
          <a:prstGeom prst="rect">
            <a:avLst/>
          </a:prstGeom>
          <a:noFill/>
          <a:ln/>
        </p:spPr>
        <p:txBody>
          <a:bodyPr wrap="none" lIns="0" tIns="0" rIns="200025" bIns="0" rtlCol="0" anchor="t"/>
          <a:lstStyle/>
          <a:p>
            <a:pPr marL="0" indent="0" algn="r">
              <a:lnSpc>
                <a:spcPts val="1097"/>
              </a:lnSpc>
              <a:buNone/>
            </a:pPr>
            <a:r>
              <a:rPr lang="en-US" sz="800" dirty="0">
                <a:solidFill>
                  <a:srgbClr val="000000"/>
                </a:solidFill>
                <a:latin typeface="Liberation Sans Narrow" pitchFamily="34" charset="0"/>
                <a:ea typeface="Liberation Sans Narrow" pitchFamily="34" charset="-122"/>
                <a:cs typeface="Liberation Sans Narrow" pitchFamily="34" charset="-120"/>
              </a:rPr>
              <a:t>Page | 34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7982</TotalTime>
  <Words>8370</Words>
  <Application>Microsoft Office PowerPoint</Application>
  <PresentationFormat>On-screen Show (16:9)</PresentationFormat>
  <Paragraphs>850</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Liberation Sans Narrow</vt:lpstr>
      <vt:lpstr>Times New Roman</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Abdul Malek Fahim</cp:lastModifiedBy>
  <cp:revision>19</cp:revision>
  <dcterms:created xsi:type="dcterms:W3CDTF">2026-06-20T20:11:35Z</dcterms:created>
  <dcterms:modified xsi:type="dcterms:W3CDTF">2026-06-27T14:50:56Z</dcterms:modified>
</cp:coreProperties>
</file>